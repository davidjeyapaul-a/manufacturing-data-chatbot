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line: this is not a new data platform. It is a question-answering layer bolted onto the database we already populate for Power BI. The whole talk hangs on one constraint — no external AI calls are allowed in the client's IT environment — and I'll show how that constraint produced every design decision in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to sell here. One: the audience already trusts the database, because Power BI reads it — we are not asking them to trust a new data source. Two: the SQL is never hidden. If someone doubts an answer they can read the statement and the parameters that produced it. That is the whole trust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risk question a manager asks first is 'what does this break?' The answer is nothing: we read the same tables Power BI reads, through a role that can only SELECT. The extractor is not touched. This is additive, and it is reversible.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linger on. It is not a preference, it is a hard requirement from the client's IT policy. It rules out the obvious approach — call a hosted model — and everything that looks unusual in the design later is the price of honouring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Templates first is a performance decision AND a correctness decision: eleven questions we know the plant asks get an answer that is byte-identical every time. The model only sees what the templates could not match. And the third card is the cultural point — a system that guesses plausibly is worse than one that says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it top to bottom. Readiness first, so we never answer half-warm. Templates next — a hit takes the green bypass on the left and never wakes the model. A miss falls through to the model, which is the slow, untrusted path. Both meet at the red box: validation. Then the vendor translation, then execution as a SELECT-only role with a statement timeout. Point at the right-hand column: five ways a request stops without an answer, and each one is reported honestly rather than papered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three claims I would want a reviewer to attack. The first is structural — it is true because of where the call sits, not because of discipline. The second is defence in depth: even a guard bug cannot turn into a write. The third is a product decision as much as an engineering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this slide is that the ordering is enforced by health checks, not by sleep statements. Each dependency waits on a real signal: pg_isready, ollama list, exit 0 from the one-shot containers. The app is last and refuses traffic until its own probe succeeds — which is why the very first question of the day is never the slow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'is eleven seconds acceptable?' — the honest answer is that it is acceptable for the long tail, and the long tail is small by construction. The eleven templates cover the questions the plant asks daily. If the model route turns out to be used more than expected, that is a signal to write another template, not to buy a bigger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left to right: HTTP knows nothing, the pipeline decides everything, safety is a layer both routes pass through, and the vendor boundary is the only place that knows which database we are talking to. The dashed rail at the bottom is the one thing that is not a clean left-to-right dependency, and it is deliberate — template SQL and guard checks both need dialect-correct syntax.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the manager cares about, because it is the one that answers 'what will the migration cost?'. The honest caveat: a one-module change is not a zero-effort change — the eleven templates still have to be re-verified against SQL Server, and the timeout mechanism differs. But nothing above db/ needs to be reopened.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three guarantees — they are the compressed version of the whole deck. Then the asks: sign-off on the SQL Server port, a channel for collecting the questions people actually ask so we can turn them into templates, and a decision on the host spec. Offer to walk anyone through the code afterwards; the diagrams are in the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2F35"/>
        </a:solidFill>
      </p:bgPr>
    </p:bg>
    <p:spTree>
      <p:nvGrpSpPr>
        <p:cNvPr id="1" name=""/>
        <p:cNvGrpSpPr/>
        <p:nvPr/>
      </p:nvGrpSpPr>
      <p:grpSpPr>
        <a:xfrm>
          <a:off x="0" y="0"/>
          <a:ext cx="0" cy="0"/>
          <a:chOff x="0" y="0"/>
          <a:chExt cx="0" cy="0"/>
        </a:xfrm>
      </p:grpSpPr>
      <p:sp>
        <p:nvSpPr>
          <p:cNvPr id="2" name="Shape 0"/>
          <p:cNvSpPr/>
          <p:nvPr/>
        </p:nvSpPr>
        <p:spPr>
          <a:xfrm>
            <a:off x="8732520" y="2880360"/>
            <a:ext cx="5120640" cy="5120640"/>
          </a:xfrm>
          <a:prstGeom prst="ellipse">
            <a:avLst/>
          </a:prstGeom>
          <a:ln w="19050">
            <a:solidFill>
              <a:srgbClr val="0B4750"/>
            </a:solidFill>
            <a:prstDash val="solid"/>
          </a:ln>
        </p:spPr>
      </p:sp>
      <p:sp>
        <p:nvSpPr>
          <p:cNvPr id="3" name="Shape 1"/>
          <p:cNvSpPr/>
          <p:nvPr/>
        </p:nvSpPr>
        <p:spPr>
          <a:xfrm>
            <a:off x="9829800" y="3977640"/>
            <a:ext cx="2926080" cy="2926080"/>
          </a:xfrm>
          <a:prstGeom prst="ellipse">
            <a:avLst/>
          </a:prstGeom>
          <a:ln w="19050">
            <a:solidFill>
              <a:srgbClr val="0E5A63"/>
            </a:solidFill>
            <a:prstDash val="solid"/>
          </a:ln>
        </p:spPr>
      </p:sp>
      <p:sp>
        <p:nvSpPr>
          <p:cNvPr id="4" name="Shape 2"/>
          <p:cNvSpPr/>
          <p:nvPr/>
        </p:nvSpPr>
        <p:spPr>
          <a:xfrm>
            <a:off x="10744200" y="4892040"/>
            <a:ext cx="1097280" cy="1097280"/>
          </a:xfrm>
          <a:prstGeom prst="ellipse">
            <a:avLst/>
          </a:prstGeom>
          <a:solidFill>
            <a:srgbClr val="0B4750"/>
          </a:solidFill>
          <a:ln w="12700">
            <a:solidFill>
              <a:srgbClr val="0B4750"/>
            </a:solidFill>
            <a:prstDash val="solid"/>
          </a:ln>
        </p:spPr>
      </p:sp>
      <p:sp>
        <p:nvSpPr>
          <p:cNvPr id="5" name="Text 3"/>
          <p:cNvSpPr txBox="1"/>
          <p:nvPr/>
        </p:nvSpPr>
        <p:spPr>
          <a:xfrm>
            <a:off x="685800" y="1051560"/>
            <a:ext cx="7315200" cy="256032"/>
          </a:xfrm>
          <a:prstGeom prst="rect">
            <a:avLst/>
          </a:prstGeom>
          <a:noFill/>
          <a:ln/>
        </p:spPr>
        <p:txBody>
          <a:bodyPr wrap="square" lIns="0" tIns="0" rIns="0" bIns="0" rtlCol="0" anchor="ctr"/>
          <a:lstStyle/>
          <a:p>
            <a:pPr indent="0" marL="0">
              <a:buNone/>
            </a:pPr>
            <a:r>
              <a:rPr lang="en-US" sz="1100" b="1" spc="250" kern="0" dirty="0">
                <a:solidFill>
                  <a:srgbClr val="02C39A"/>
                </a:solidFill>
                <a:latin typeface="Calibri" pitchFamily="34" charset="0"/>
                <a:ea typeface="Calibri" pitchFamily="34" charset="-122"/>
                <a:cs typeface="Calibri" pitchFamily="34" charset="-120"/>
              </a:rPr>
              <a:t>ARCHITECTURE  ·  CODE FLOW  ·  AUGUST 2026</a:t>
            </a:r>
            <a:endParaRPr lang="en-US" sz="1100" dirty="0"/>
          </a:p>
        </p:txBody>
      </p:sp>
      <p:sp>
        <p:nvSpPr>
          <p:cNvPr id="6" name="Text 4"/>
          <p:cNvSpPr txBox="1"/>
          <p:nvPr/>
        </p:nvSpPr>
        <p:spPr>
          <a:xfrm>
            <a:off x="658368" y="1481328"/>
            <a:ext cx="7498080" cy="1783080"/>
          </a:xfrm>
          <a:prstGeom prst="rect">
            <a:avLst/>
          </a:prstGeom>
          <a:noFill/>
          <a:ln/>
        </p:spPr>
        <p:txBody>
          <a:bodyPr wrap="square" lIns="0" tIns="0" rIns="0" bIns="0" rtlCol="0" anchor="t"/>
          <a:lstStyle/>
          <a:p>
            <a:pPr indent="0" marL="0">
              <a:lnSpc>
                <a:spcPct val="100000"/>
              </a:lnSpc>
              <a:buNone/>
            </a:pPr>
            <a:r>
              <a:rPr lang="en-US" sz="4600" b="1" dirty="0">
                <a:solidFill>
                  <a:srgbClr val="FFFFFF"/>
                </a:solidFill>
                <a:latin typeface="Cambria" pitchFamily="34" charset="0"/>
                <a:ea typeface="Cambria" pitchFamily="34" charset="-122"/>
                <a:cs typeface="Cambria" pitchFamily="34" charset="-120"/>
              </a:rPr>
              <a:t>Ask the plant</a:t>
            </a:r>
            <a:endParaRPr lang="en-US" sz="4600" dirty="0"/>
          </a:p>
          <a:p>
            <a:pPr indent="0" marL="0">
              <a:lnSpc>
                <a:spcPct val="100000"/>
              </a:lnSpc>
              <a:buNone/>
            </a:pPr>
            <a:r>
              <a:rPr lang="en-US" sz="4600" b="1" dirty="0">
                <a:solidFill>
                  <a:srgbClr val="FFFFFF"/>
                </a:solidFill>
                <a:latin typeface="Cambria" pitchFamily="34" charset="0"/>
                <a:ea typeface="Cambria" pitchFamily="34" charset="-122"/>
                <a:cs typeface="Cambria" pitchFamily="34" charset="-120"/>
              </a:rPr>
              <a:t>a question.</a:t>
            </a:r>
            <a:endParaRPr lang="en-US" sz="4600" dirty="0"/>
          </a:p>
        </p:txBody>
      </p:sp>
      <p:sp>
        <p:nvSpPr>
          <p:cNvPr id="7" name="Text 5"/>
          <p:cNvSpPr txBox="1"/>
          <p:nvPr/>
        </p:nvSpPr>
        <p:spPr>
          <a:xfrm>
            <a:off x="685800" y="3401568"/>
            <a:ext cx="6949440" cy="658368"/>
          </a:xfrm>
          <a:prstGeom prst="rect">
            <a:avLst/>
          </a:prstGeom>
          <a:noFill/>
          <a:ln/>
        </p:spPr>
        <p:txBody>
          <a:bodyPr wrap="square" lIns="0" tIns="0" rIns="0" bIns="0" rtlCol="0" anchor="ctr"/>
          <a:lstStyle/>
          <a:p>
            <a:pPr indent="0" marL="0">
              <a:buNone/>
            </a:pPr>
            <a:r>
              <a:rPr lang="en-US" sz="1600" dirty="0">
                <a:solidFill>
                  <a:srgbClr val="DCEEEA"/>
                </a:solidFill>
                <a:latin typeface="Calibri" pitchFamily="34" charset="0"/>
                <a:ea typeface="Calibri" pitchFamily="34" charset="-122"/>
                <a:cs typeface="Calibri" pitchFamily="34" charset="-120"/>
              </a:rPr>
              <a:t>A conversational layer over the production database — running entirely offline, with the SQL it ran always on show.</a:t>
            </a:r>
            <a:endParaRPr lang="en-US" sz="1600" dirty="0"/>
          </a:p>
        </p:txBody>
      </p:sp>
      <p:sp>
        <p:nvSpPr>
          <p:cNvPr id="8" name="Shape 6"/>
          <p:cNvSpPr/>
          <p:nvPr/>
        </p:nvSpPr>
        <p:spPr>
          <a:xfrm>
            <a:off x="685800" y="4315968"/>
            <a:ext cx="7315200" cy="868680"/>
          </a:xfrm>
          <a:prstGeom prst="roundRect">
            <a:avLst>
              <a:gd name="adj" fmla="val 9474"/>
            </a:avLst>
          </a:prstGeom>
          <a:solidFill>
            <a:srgbClr val="0A3C43"/>
          </a:solidFill>
          <a:ln w="12700">
            <a:solidFill>
              <a:srgbClr val="13606A"/>
            </a:solidFill>
            <a:prstDash val="solid"/>
          </a:ln>
          <a:effectLst>
            <a:outerShdw sx="100000" sy="100000" kx="0" ky="0" algn="bl" rotWithShape="0" blurRad="127000" dist="25400" dir="5400000">
              <a:srgbClr val="0E2E2C">
                <a:alpha val="8000"/>
              </a:srgbClr>
            </a:outerShdw>
          </a:effectLst>
        </p:spPr>
      </p:sp>
      <p:sp>
        <p:nvSpPr>
          <p:cNvPr id="9" name="Text 7"/>
          <p:cNvSpPr txBox="1"/>
          <p:nvPr/>
        </p:nvSpPr>
        <p:spPr>
          <a:xfrm>
            <a:off x="960120" y="4315968"/>
            <a:ext cx="6766560" cy="868680"/>
          </a:xfrm>
          <a:prstGeom prst="rect">
            <a:avLst/>
          </a:prstGeom>
          <a:noFill/>
          <a:ln/>
        </p:spPr>
        <p:txBody>
          <a:bodyPr wrap="square" lIns="0" tIns="0" rIns="0" bIns="0" rtlCol="0" anchor="ctr"/>
          <a:lstStyle/>
          <a:p>
            <a:pPr indent="0" marL="0">
              <a:buNone/>
            </a:pPr>
            <a:r>
              <a:rPr lang="en-US" sz="2000" dirty="0">
                <a:solidFill>
                  <a:srgbClr val="02C39A"/>
                </a:solidFill>
                <a:latin typeface="Cambria" pitchFamily="34" charset="0"/>
                <a:ea typeface="Cambria" pitchFamily="34" charset="-122"/>
                <a:cs typeface="Cambria" pitchFamily="34" charset="-120"/>
              </a:rPr>
              <a:t>“</a:t>
            </a:r>
            <a:pPr indent="0" marL="0">
              <a:buNone/>
            </a:pPr>
            <a:r>
              <a:rPr lang="en-US" sz="1350" dirty="0">
                <a:solidFill>
                  <a:srgbClr val="FFFFFF"/>
                </a:solidFill>
                <a:latin typeface="Courier New" pitchFamily="34" charset="0"/>
                <a:ea typeface="Courier New" pitchFamily="34" charset="-122"/>
                <a:cs typeface="Courier New" pitchFamily="34" charset="-120"/>
              </a:rPr>
              <a:t>how many good vs bad parts did Line A make last week?</a:t>
            </a:r>
            <a:pPr indent="0" marL="0">
              <a:buNone/>
            </a:pPr>
            <a:r>
              <a:rPr lang="en-US" sz="2000" dirty="0">
                <a:solidFill>
                  <a:srgbClr val="02C39A"/>
                </a:solidFill>
                <a:latin typeface="Cambria" pitchFamily="34" charset="0"/>
                <a:ea typeface="Cambria" pitchFamily="34" charset="-122"/>
                <a:cs typeface="Cambria" pitchFamily="34" charset="-120"/>
              </a:rPr>
              <a:t>”</a:t>
            </a:r>
            <a:endParaRPr lang="en-US" sz="2000" dirty="0"/>
          </a:p>
        </p:txBody>
      </p:sp>
      <p:sp>
        <p:nvSpPr>
          <p:cNvPr id="10" name="Text 8"/>
          <p:cNvSpPr txBox="1"/>
          <p:nvPr/>
        </p:nvSpPr>
        <p:spPr>
          <a:xfrm>
            <a:off x="685800" y="5623560"/>
            <a:ext cx="8412480" cy="274320"/>
          </a:xfrm>
          <a:prstGeom prst="rect">
            <a:avLst/>
          </a:prstGeom>
          <a:noFill/>
          <a:ln/>
        </p:spPr>
        <p:txBody>
          <a:bodyPr wrap="square" lIns="0" tIns="0" rIns="0" bIns="0" rtlCol="0" anchor="ctr"/>
          <a:lstStyle/>
          <a:p>
            <a:pPr indent="0" marL="0">
              <a:buNone/>
            </a:pPr>
            <a:r>
              <a:rPr lang="en-US" sz="1150" dirty="0">
                <a:solidFill>
                  <a:srgbClr val="7FA9A8"/>
                </a:solidFill>
                <a:latin typeface="Calibri" pitchFamily="34" charset="0"/>
                <a:ea typeface="Calibri" pitchFamily="34" charset="-122"/>
                <a:cs typeface="Calibri" pitchFamily="34" charset="-120"/>
              </a:rPr>
              <a:t>POC on PostgreSQL   ·   target environment: SQL Server, no external AI calls   ·   for team + management review</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10896"/>
            <a:ext cx="10058400" cy="219456"/>
          </a:xfrm>
          <a:prstGeom prst="rect">
            <a:avLst/>
          </a:prstGeom>
          <a:noFill/>
          <a:ln/>
        </p:spPr>
        <p:txBody>
          <a:bodyPr wrap="square" lIns="0" tIns="0" rIns="0" bIns="0" rtlCol="0" anchor="ctr"/>
          <a:lstStyle/>
          <a:p>
            <a:pPr indent="0" marL="0">
              <a:buNone/>
            </a:pPr>
            <a:r>
              <a:rPr lang="en-US" sz="1050" b="1" spc="200" kern="0" dirty="0">
                <a:solidFill>
                  <a:srgbClr val="028090"/>
                </a:solidFill>
                <a:latin typeface="Calibri" pitchFamily="34" charset="0"/>
                <a:ea typeface="Calibri" pitchFamily="34" charset="-122"/>
                <a:cs typeface="Calibri" pitchFamily="34" charset="-120"/>
              </a:rPr>
              <a:t>THE SHORT VERSION</a:t>
            </a:r>
            <a:endParaRPr lang="en-US" sz="1050" dirty="0"/>
          </a:p>
        </p:txBody>
      </p:sp>
      <p:sp>
        <p:nvSpPr>
          <p:cNvPr id="3" name="Text 1"/>
          <p:cNvSpPr txBox="1"/>
          <p:nvPr/>
        </p:nvSpPr>
        <p:spPr>
          <a:xfrm>
            <a:off x="548640" y="566928"/>
            <a:ext cx="11064240" cy="566928"/>
          </a:xfrm>
          <a:prstGeom prst="rect">
            <a:avLst/>
          </a:prstGeom>
          <a:noFill/>
          <a:ln/>
        </p:spPr>
        <p:txBody>
          <a:bodyPr wrap="square" lIns="0" tIns="0" rIns="0" bIns="0" rtlCol="0" anchor="t"/>
          <a:lstStyle/>
          <a:p>
            <a:pPr indent="0" marL="0">
              <a:buNone/>
            </a:pPr>
            <a:r>
              <a:rPr lang="en-US" sz="3000" b="1" dirty="0">
                <a:solidFill>
                  <a:srgbClr val="0E2E2C"/>
                </a:solidFill>
                <a:latin typeface="Cambria" pitchFamily="34" charset="0"/>
                <a:ea typeface="Cambria" pitchFamily="34" charset="-122"/>
                <a:cs typeface="Cambria" pitchFamily="34" charset="-120"/>
              </a:rPr>
              <a:t>What this is</a:t>
            </a:r>
            <a:endParaRPr lang="en-US" sz="3000" dirty="0"/>
          </a:p>
        </p:txBody>
      </p:sp>
      <p:sp>
        <p:nvSpPr>
          <p:cNvPr id="4" name="Text 2"/>
          <p:cNvSpPr txBox="1"/>
          <p:nvPr/>
        </p:nvSpPr>
        <p:spPr>
          <a:xfrm>
            <a:off x="548640" y="1481328"/>
            <a:ext cx="5212080" cy="914400"/>
          </a:xfrm>
          <a:prstGeom prst="rect">
            <a:avLst/>
          </a:prstGeom>
          <a:noFill/>
          <a:ln/>
        </p:spPr>
        <p:txBody>
          <a:bodyPr wrap="square" lIns="0" tIns="0" rIns="0" bIns="0" rtlCol="0" anchor="t"/>
          <a:lstStyle/>
          <a:p>
            <a:pPr indent="0" marL="0">
              <a:buNone/>
            </a:pPr>
            <a:r>
              <a:rPr lang="en-US" sz="1550" dirty="0">
                <a:solidFill>
                  <a:srgbClr val="0E2E2C"/>
                </a:solidFill>
                <a:latin typeface="Calibri" pitchFamily="34" charset="0"/>
                <a:ea typeface="Calibri" pitchFamily="34" charset="-122"/>
                <a:cs typeface="Calibri" pitchFamily="34" charset="-120"/>
              </a:rPr>
              <a:t>A chatbot that answers questions about production in plain English — and always shows the SQL it ran.</a:t>
            </a:r>
            <a:endParaRPr lang="en-US" sz="1550" dirty="0"/>
          </a:p>
        </p:txBody>
      </p:sp>
      <p:sp>
        <p:nvSpPr>
          <p:cNvPr id="5" name="Text 3"/>
          <p:cNvSpPr/>
          <p:nvPr/>
        </p:nvSpPr>
        <p:spPr>
          <a:xfrm>
            <a:off x="566928" y="2542032"/>
            <a:ext cx="365760" cy="365760"/>
          </a:xfrm>
          <a:prstGeom prst="ellipse">
            <a:avLst/>
          </a:prstGeom>
          <a:solidFill>
            <a:srgbClr val="028090"/>
          </a:solidFill>
          <a:ln>
            <a:solidFill>
              <a:srgbClr val="028090"/>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Text 4"/>
          <p:cNvSpPr txBox="1"/>
          <p:nvPr/>
        </p:nvSpPr>
        <p:spPr>
          <a:xfrm>
            <a:off x="1097280" y="2505456"/>
            <a:ext cx="4663440" cy="274320"/>
          </a:xfrm>
          <a:prstGeom prst="rect">
            <a:avLst/>
          </a:prstGeom>
          <a:noFill/>
          <a:ln/>
        </p:spPr>
        <p:txBody>
          <a:bodyPr wrap="square" lIns="0" tIns="0" rIns="0" bIns="0" rtlCol="0" anchor="ctr"/>
          <a:lstStyle/>
          <a:p>
            <a:pPr indent="0" marL="0">
              <a:buNone/>
            </a:pPr>
            <a:r>
              <a:rPr lang="en-US" sz="1350" b="1" dirty="0">
                <a:solidFill>
                  <a:srgbClr val="0E2E2C"/>
                </a:solidFill>
                <a:latin typeface="Calibri" pitchFamily="34" charset="0"/>
                <a:ea typeface="Calibri" pitchFamily="34" charset="-122"/>
                <a:cs typeface="Calibri" pitchFamily="34" charset="-120"/>
              </a:rPr>
              <a:t>The question goes in as ordinary English</a:t>
            </a:r>
            <a:endParaRPr lang="en-US" sz="1350" dirty="0"/>
          </a:p>
        </p:txBody>
      </p:sp>
      <p:sp>
        <p:nvSpPr>
          <p:cNvPr id="7" name="Text 5"/>
          <p:cNvSpPr txBox="1"/>
          <p:nvPr/>
        </p:nvSpPr>
        <p:spPr>
          <a:xfrm>
            <a:off x="1097280" y="2761488"/>
            <a:ext cx="4663440" cy="384048"/>
          </a:xfrm>
          <a:prstGeom prst="rect">
            <a:avLst/>
          </a:prstGeom>
          <a:noFill/>
          <a:ln/>
        </p:spPr>
        <p:txBody>
          <a:bodyPr wrap="square" lIns="0" tIns="0" rIns="0" bIns="0" rtlCol="0" anchor="ctr"/>
          <a:lstStyle/>
          <a:p>
            <a:pPr indent="0" marL="0">
              <a:buNone/>
            </a:pPr>
            <a:r>
              <a:rPr lang="en-US" sz="1150" dirty="0">
                <a:solidFill>
                  <a:srgbClr val="4B6B68"/>
                </a:solidFill>
                <a:latin typeface="Calibri" pitchFamily="34" charset="0"/>
                <a:ea typeface="Calibri" pitchFamily="34" charset="-122"/>
                <a:cs typeface="Calibri" pitchFamily="34" charset="-120"/>
              </a:rPr>
              <a:t>No query language, no report builder, no ticket to the data team.</a:t>
            </a:r>
            <a:endParaRPr lang="en-US" sz="1150" dirty="0"/>
          </a:p>
        </p:txBody>
      </p:sp>
      <p:sp>
        <p:nvSpPr>
          <p:cNvPr id="8" name="Text 6"/>
          <p:cNvSpPr/>
          <p:nvPr/>
        </p:nvSpPr>
        <p:spPr>
          <a:xfrm>
            <a:off x="566928" y="3383280"/>
            <a:ext cx="365760" cy="365760"/>
          </a:xfrm>
          <a:prstGeom prst="ellipse">
            <a:avLst/>
          </a:prstGeom>
          <a:solidFill>
            <a:srgbClr val="028090"/>
          </a:solidFill>
          <a:ln>
            <a:solidFill>
              <a:srgbClr val="028090"/>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9" name="Text 7"/>
          <p:cNvSpPr txBox="1"/>
          <p:nvPr/>
        </p:nvSpPr>
        <p:spPr>
          <a:xfrm>
            <a:off x="1097280" y="3346704"/>
            <a:ext cx="4663440" cy="274320"/>
          </a:xfrm>
          <a:prstGeom prst="rect">
            <a:avLst/>
          </a:prstGeom>
          <a:noFill/>
          <a:ln/>
        </p:spPr>
        <p:txBody>
          <a:bodyPr wrap="square" lIns="0" tIns="0" rIns="0" bIns="0" rtlCol="0" anchor="ctr"/>
          <a:lstStyle/>
          <a:p>
            <a:pPr indent="0" marL="0">
              <a:buNone/>
            </a:pPr>
            <a:r>
              <a:rPr lang="en-US" sz="1350" b="1" dirty="0">
                <a:solidFill>
                  <a:srgbClr val="0E2E2C"/>
                </a:solidFill>
                <a:latin typeface="Calibri" pitchFamily="34" charset="0"/>
                <a:ea typeface="Calibri" pitchFamily="34" charset="-122"/>
                <a:cs typeface="Calibri" pitchFamily="34" charset="-120"/>
              </a:rPr>
              <a:t>The exact SQL and its parameters come back</a:t>
            </a:r>
            <a:endParaRPr lang="en-US" sz="1350" dirty="0"/>
          </a:p>
        </p:txBody>
      </p:sp>
      <p:sp>
        <p:nvSpPr>
          <p:cNvPr id="10" name="Text 8"/>
          <p:cNvSpPr txBox="1"/>
          <p:nvPr/>
        </p:nvSpPr>
        <p:spPr>
          <a:xfrm>
            <a:off x="1097280" y="3602736"/>
            <a:ext cx="4663440" cy="384048"/>
          </a:xfrm>
          <a:prstGeom prst="rect">
            <a:avLst/>
          </a:prstGeom>
          <a:noFill/>
          <a:ln/>
        </p:spPr>
        <p:txBody>
          <a:bodyPr wrap="square" lIns="0" tIns="0" rIns="0" bIns="0" rtlCol="0" anchor="ctr"/>
          <a:lstStyle/>
          <a:p>
            <a:pPr indent="0" marL="0">
              <a:buNone/>
            </a:pPr>
            <a:r>
              <a:rPr lang="en-US" sz="1150" dirty="0">
                <a:solidFill>
                  <a:srgbClr val="4B6B68"/>
                </a:solidFill>
                <a:latin typeface="Calibri" pitchFamily="34" charset="0"/>
                <a:ea typeface="Calibri" pitchFamily="34" charset="-122"/>
                <a:cs typeface="Calibri" pitchFamily="34" charset="-120"/>
              </a:rPr>
              <a:t>Every answer is auditable by anyone who reads SQL.</a:t>
            </a:r>
            <a:endParaRPr lang="en-US" sz="1150" dirty="0"/>
          </a:p>
        </p:txBody>
      </p:sp>
      <p:sp>
        <p:nvSpPr>
          <p:cNvPr id="11" name="Text 9"/>
          <p:cNvSpPr/>
          <p:nvPr/>
        </p:nvSpPr>
        <p:spPr>
          <a:xfrm>
            <a:off x="566928" y="4224528"/>
            <a:ext cx="365760" cy="365760"/>
          </a:xfrm>
          <a:prstGeom prst="ellipse">
            <a:avLst/>
          </a:prstGeom>
          <a:solidFill>
            <a:srgbClr val="00A896"/>
          </a:solidFill>
          <a:ln>
            <a:solidFill>
              <a:srgbClr val="00A896"/>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2" name="Text 10"/>
          <p:cNvSpPr txBox="1"/>
          <p:nvPr/>
        </p:nvSpPr>
        <p:spPr>
          <a:xfrm>
            <a:off x="1097280" y="4187952"/>
            <a:ext cx="4663440" cy="274320"/>
          </a:xfrm>
          <a:prstGeom prst="rect">
            <a:avLst/>
          </a:prstGeom>
          <a:noFill/>
          <a:ln/>
        </p:spPr>
        <p:txBody>
          <a:bodyPr wrap="square" lIns="0" tIns="0" rIns="0" bIns="0" rtlCol="0" anchor="ctr"/>
          <a:lstStyle/>
          <a:p>
            <a:pPr indent="0" marL="0">
              <a:buNone/>
            </a:pPr>
            <a:r>
              <a:rPr lang="en-US" sz="1350" b="1" dirty="0">
                <a:solidFill>
                  <a:srgbClr val="0E2E2C"/>
                </a:solidFill>
                <a:latin typeface="Calibri" pitchFamily="34" charset="0"/>
                <a:ea typeface="Calibri" pitchFamily="34" charset="-122"/>
                <a:cs typeface="Calibri" pitchFamily="34" charset="-120"/>
              </a:rPr>
              <a:t>The summary is written from the real rows</a:t>
            </a:r>
            <a:endParaRPr lang="en-US" sz="1350" dirty="0"/>
          </a:p>
        </p:txBody>
      </p:sp>
      <p:sp>
        <p:nvSpPr>
          <p:cNvPr id="13" name="Text 11"/>
          <p:cNvSpPr txBox="1"/>
          <p:nvPr/>
        </p:nvSpPr>
        <p:spPr>
          <a:xfrm>
            <a:off x="1097280" y="4443984"/>
            <a:ext cx="4663440" cy="384048"/>
          </a:xfrm>
          <a:prstGeom prst="rect">
            <a:avLst/>
          </a:prstGeom>
          <a:noFill/>
          <a:ln/>
        </p:spPr>
        <p:txBody>
          <a:bodyPr wrap="square" lIns="0" tIns="0" rIns="0" bIns="0" rtlCol="0" anchor="ctr"/>
          <a:lstStyle/>
          <a:p>
            <a:pPr indent="0" marL="0">
              <a:buNone/>
            </a:pPr>
            <a:r>
              <a:rPr lang="en-US" sz="1150" dirty="0">
                <a:solidFill>
                  <a:srgbClr val="4B6B68"/>
                </a:solidFill>
                <a:latin typeface="Calibri" pitchFamily="34" charset="0"/>
                <a:ea typeface="Calibri" pitchFamily="34" charset="-122"/>
                <a:cs typeface="Calibri" pitchFamily="34" charset="-120"/>
              </a:rPr>
              <a:t>Nothing is invented between the database and the reply.</a:t>
            </a:r>
            <a:endParaRPr lang="en-US" sz="1150" dirty="0"/>
          </a:p>
        </p:txBody>
      </p:sp>
      <p:sp>
        <p:nvSpPr>
          <p:cNvPr id="14" name="Text 12"/>
          <p:cNvSpPr txBox="1"/>
          <p:nvPr/>
        </p:nvSpPr>
        <p:spPr>
          <a:xfrm>
            <a:off x="548640" y="5230368"/>
            <a:ext cx="5212080" cy="914400"/>
          </a:xfrm>
          <a:prstGeom prst="rect">
            <a:avLst/>
          </a:prstGeom>
          <a:noFill/>
          <a:ln/>
        </p:spPr>
        <p:txBody>
          <a:bodyPr wrap="square" lIns="0" tIns="0" rIns="0" bIns="0" rtlCol="0" anchor="ctr"/>
          <a:lstStyle/>
          <a:p>
            <a:pPr indent="0" marL="0">
              <a:buNone/>
            </a:pPr>
            <a:r>
              <a:rPr lang="en-US" sz="1200" dirty="0">
                <a:solidFill>
                  <a:srgbClr val="4B6B68"/>
                </a:solidFill>
                <a:latin typeface="Calibri" pitchFamily="34" charset="0"/>
                <a:ea typeface="Calibri" pitchFamily="34" charset="-122"/>
                <a:cs typeface="Calibri" pitchFamily="34" charset="-120"/>
              </a:rPr>
              <a:t>The database is the point. A Python extractor already parses machine logs from a three-line plant into the database Power BI reads. This adds a conversational layer over that same data — and changes nothing underneath it.</a:t>
            </a:r>
            <a:endParaRPr lang="en-US" sz="1200" dirty="0"/>
          </a:p>
        </p:txBody>
      </p:sp>
      <p:sp>
        <p:nvSpPr>
          <p:cNvPr id="15" name="Shape 13"/>
          <p:cNvSpPr/>
          <p:nvPr/>
        </p:nvSpPr>
        <p:spPr>
          <a:xfrm>
            <a:off x="6355080" y="1417320"/>
            <a:ext cx="5303520" cy="4526280"/>
          </a:xfrm>
          <a:prstGeom prst="roundRect">
            <a:avLst>
              <a:gd name="adj" fmla="val 2424"/>
            </a:avLst>
          </a:prstGeom>
          <a:solidFill>
            <a:srgbClr val="FFFFFF"/>
          </a:solidFill>
          <a:ln w="12700">
            <a:solidFill>
              <a:srgbClr val="C2DED9"/>
            </a:solidFill>
            <a:prstDash val="solid"/>
          </a:ln>
          <a:effectLst>
            <a:outerShdw sx="100000" sy="100000" kx="0" ky="0" algn="bl" rotWithShape="0" blurRad="127000" dist="25400" dir="5400000">
              <a:srgbClr val="0E2E2C">
                <a:alpha val="8000"/>
              </a:srgbClr>
            </a:outerShdw>
          </a:effectLst>
        </p:spPr>
      </p:sp>
      <p:sp>
        <p:nvSpPr>
          <p:cNvPr id="16" name="Text 14"/>
          <p:cNvSpPr/>
          <p:nvPr/>
        </p:nvSpPr>
        <p:spPr>
          <a:xfrm>
            <a:off x="6629400" y="1737360"/>
            <a:ext cx="310896" cy="310896"/>
          </a:xfrm>
          <a:prstGeom prst="ellipse">
            <a:avLst/>
          </a:prstGeom>
          <a:solidFill>
            <a:srgbClr val="028090"/>
          </a:solidFill>
          <a:ln>
            <a:solidFill>
              <a:srgbClr val="028090"/>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a:t>
            </a:r>
            <a:endParaRPr lang="en-US" sz="1100" dirty="0"/>
          </a:p>
        </p:txBody>
      </p:sp>
      <p:sp>
        <p:nvSpPr>
          <p:cNvPr id="17" name="Text 15"/>
          <p:cNvSpPr txBox="1"/>
          <p:nvPr/>
        </p:nvSpPr>
        <p:spPr>
          <a:xfrm>
            <a:off x="7059168" y="1691640"/>
            <a:ext cx="4343400" cy="457200"/>
          </a:xfrm>
          <a:prstGeom prst="rect">
            <a:avLst/>
          </a:prstGeom>
          <a:noFill/>
          <a:ln/>
        </p:spPr>
        <p:txBody>
          <a:bodyPr wrap="square" lIns="0" tIns="0" rIns="0" bIns="0" rtlCol="0" anchor="ctr"/>
          <a:lstStyle/>
          <a:p>
            <a:pPr indent="0" marL="0">
              <a:buNone/>
            </a:pPr>
            <a:r>
              <a:rPr lang="en-US" sz="1300" b="1" dirty="0">
                <a:solidFill>
                  <a:srgbClr val="0E2E2C"/>
                </a:solidFill>
                <a:latin typeface="Calibri" pitchFamily="34" charset="0"/>
                <a:ea typeface="Calibri" pitchFamily="34" charset="-122"/>
                <a:cs typeface="Calibri" pitchFamily="34" charset="-120"/>
              </a:rPr>
              <a:t>how many good vs bad parts did Line A make last week?</a:t>
            </a:r>
            <a:endParaRPr lang="en-US" sz="1300" dirty="0"/>
          </a:p>
        </p:txBody>
      </p:sp>
      <p:sp>
        <p:nvSpPr>
          <p:cNvPr id="18" name="Text 16"/>
          <p:cNvSpPr txBox="1"/>
          <p:nvPr/>
        </p:nvSpPr>
        <p:spPr>
          <a:xfrm>
            <a:off x="6629400" y="2249424"/>
            <a:ext cx="4754880" cy="219456"/>
          </a:xfrm>
          <a:prstGeom prst="rect">
            <a:avLst/>
          </a:prstGeom>
          <a:noFill/>
          <a:ln/>
        </p:spPr>
        <p:txBody>
          <a:bodyPr wrap="square" lIns="0" tIns="0" rIns="0" bIns="0" rtlCol="0" anchor="ctr"/>
          <a:lstStyle/>
          <a:p>
            <a:pPr indent="0" marL="0">
              <a:buNone/>
            </a:pPr>
            <a:r>
              <a:rPr lang="en-US" sz="900" b="1" spc="150" kern="0" dirty="0">
                <a:solidFill>
                  <a:srgbClr val="028090"/>
                </a:solidFill>
                <a:latin typeface="Calibri" pitchFamily="34" charset="0"/>
                <a:ea typeface="Calibri" pitchFamily="34" charset="-122"/>
                <a:cs typeface="Calibri" pitchFamily="34" charset="-120"/>
              </a:rPr>
              <a:t>MATCHED TEMPLATE  ·  NO MODEL CALL</a:t>
            </a:r>
            <a:endParaRPr lang="en-US" sz="900" dirty="0"/>
          </a:p>
        </p:txBody>
      </p:sp>
      <p:sp>
        <p:nvSpPr>
          <p:cNvPr id="19" name="Shape 17"/>
          <p:cNvSpPr/>
          <p:nvPr/>
        </p:nvSpPr>
        <p:spPr>
          <a:xfrm>
            <a:off x="6629400" y="2523744"/>
            <a:ext cx="4800600" cy="960120"/>
          </a:xfrm>
          <a:prstGeom prst="roundRect">
            <a:avLst>
              <a:gd name="adj" fmla="val 7619"/>
            </a:avLst>
          </a:prstGeom>
          <a:solidFill>
            <a:srgbClr val="062F35"/>
          </a:solidFill>
          <a:ln w="12700">
            <a:solidFill>
              <a:srgbClr val="062F35"/>
            </a:solidFill>
            <a:prstDash val="solid"/>
          </a:ln>
          <a:effectLst>
            <a:outerShdw sx="100000" sy="100000" kx="0" ky="0" algn="bl" rotWithShape="0" blurRad="101600" dist="50800" dir="5400000">
              <a:srgbClr val="FFFFFF">
                <a:alpha val="75000"/>
              </a:srgbClr>
            </a:outerShdw>
          </a:effectLst>
        </p:spPr>
      </p:sp>
      <p:sp>
        <p:nvSpPr>
          <p:cNvPr id="20" name="Text 18"/>
          <p:cNvSpPr txBox="1"/>
          <p:nvPr/>
        </p:nvSpPr>
        <p:spPr>
          <a:xfrm>
            <a:off x="6812280" y="2606040"/>
            <a:ext cx="4480560" cy="804672"/>
          </a:xfrm>
          <a:prstGeom prst="rect">
            <a:avLst/>
          </a:prstGeom>
          <a:noFill/>
          <a:ln/>
        </p:spPr>
        <p:txBody>
          <a:bodyPr wrap="square" lIns="0" tIns="0" rIns="0" bIns="0" rtlCol="0" anchor="t"/>
          <a:lstStyle/>
          <a:p>
            <a:pPr indent="0" marL="0">
              <a:lnSpc>
                <a:spcPct val="115000"/>
              </a:lnSpc>
              <a:buNone/>
            </a:pPr>
            <a:r>
              <a:rPr lang="en-US" sz="1050" dirty="0">
                <a:solidFill>
                  <a:srgbClr val="02C39A"/>
                </a:solidFill>
                <a:latin typeface="Courier New" pitchFamily="34" charset="0"/>
                <a:ea typeface="Courier New" pitchFamily="34" charset="-122"/>
                <a:cs typeface="Courier New" pitchFamily="34" charset="-120"/>
              </a:rPr>
              <a:t>SELECT</a:t>
            </a:r>
            <a:pPr indent="0" marL="0">
              <a:lnSpc>
                <a:spcPct val="115000"/>
              </a:lnSpc>
              <a:buNone/>
            </a:pPr>
            <a:r>
              <a:rPr lang="en-US" sz="1050" dirty="0">
                <a:solidFill>
                  <a:srgbClr val="DCEEEA"/>
                </a:solidFill>
                <a:latin typeface="Courier New" pitchFamily="34" charset="0"/>
                <a:ea typeface="Courier New" pitchFamily="34" charset="-122"/>
                <a:cs typeface="Courier New" pitchFamily="34" charset="-120"/>
              </a:rPr>
              <a:t> status, COUNT(*) AS parts
</a:t>
            </a:r>
            <a:pPr indent="0" marL="0">
              <a:lnSpc>
                <a:spcPct val="115000"/>
              </a:lnSpc>
              <a:buNone/>
            </a:pPr>
            <a:r>
              <a:rPr lang="en-US" sz="1050" dirty="0">
                <a:solidFill>
                  <a:srgbClr val="02C39A"/>
                </a:solidFill>
                <a:latin typeface="Courier New" pitchFamily="34" charset="0"/>
                <a:ea typeface="Courier New" pitchFamily="34" charset="-122"/>
                <a:cs typeface="Courier New" pitchFamily="34" charset="-120"/>
              </a:rPr>
              <a:t>FROM</a:t>
            </a:r>
            <a:pPr indent="0" marL="0">
              <a:lnSpc>
                <a:spcPct val="115000"/>
              </a:lnSpc>
              <a:buNone/>
            </a:pPr>
            <a:r>
              <a:rPr lang="en-US" sz="1050" dirty="0">
                <a:solidFill>
                  <a:srgbClr val="DCEEEA"/>
                </a:solidFill>
                <a:latin typeface="Courier New" pitchFamily="34" charset="0"/>
                <a:ea typeface="Courier New" pitchFamily="34" charset="-122"/>
                <a:cs typeface="Courier New" pitchFamily="34" charset="-120"/>
              </a:rPr>
              <a:t> part_events
</a:t>
            </a:r>
            <a:pPr indent="0" marL="0">
              <a:lnSpc>
                <a:spcPct val="115000"/>
              </a:lnSpc>
              <a:buNone/>
            </a:pPr>
            <a:r>
              <a:rPr lang="en-US" sz="1050" dirty="0">
                <a:solidFill>
                  <a:srgbClr val="02C39A"/>
                </a:solidFill>
                <a:latin typeface="Courier New" pitchFamily="34" charset="0"/>
                <a:ea typeface="Courier New" pitchFamily="34" charset="-122"/>
                <a:cs typeface="Courier New" pitchFamily="34" charset="-120"/>
              </a:rPr>
              <a:t>WHERE</a:t>
            </a:r>
            <a:pPr indent="0" marL="0">
              <a:lnSpc>
                <a:spcPct val="115000"/>
              </a:lnSpc>
              <a:buNone/>
            </a:pPr>
            <a:r>
              <a:rPr lang="en-US" sz="1050" dirty="0">
                <a:solidFill>
                  <a:srgbClr val="DCEEEA"/>
                </a:solidFill>
                <a:latin typeface="Courier New" pitchFamily="34" charset="0"/>
                <a:ea typeface="Courier New" pitchFamily="34" charset="-122"/>
                <a:cs typeface="Courier New" pitchFamily="34" charset="-120"/>
              </a:rPr>
              <a:t> line_name = %s </a:t>
            </a:r>
            <a:pPr indent="0" marL="0">
              <a:lnSpc>
                <a:spcPct val="115000"/>
              </a:lnSpc>
              <a:buNone/>
            </a:pPr>
            <a:r>
              <a:rPr lang="en-US" sz="1050" dirty="0">
                <a:solidFill>
                  <a:srgbClr val="02C39A"/>
                </a:solidFill>
                <a:latin typeface="Courier New" pitchFamily="34" charset="0"/>
                <a:ea typeface="Courier New" pitchFamily="34" charset="-122"/>
                <a:cs typeface="Courier New" pitchFamily="34" charset="-120"/>
              </a:rPr>
              <a:t>AND</a:t>
            </a:r>
            <a:pPr indent="0" marL="0">
              <a:lnSpc>
                <a:spcPct val="115000"/>
              </a:lnSpc>
              <a:buNone/>
            </a:pPr>
            <a:r>
              <a:rPr lang="en-US" sz="1050" dirty="0">
                <a:solidFill>
                  <a:srgbClr val="DCEEEA"/>
                </a:solidFill>
                <a:latin typeface="Courier New" pitchFamily="34" charset="0"/>
                <a:ea typeface="Courier New" pitchFamily="34" charset="-122"/>
                <a:cs typeface="Courier New" pitchFamily="34" charset="-120"/>
              </a:rPr>
              <a:t> ts &gt;= %s </a:t>
            </a:r>
            <a:pPr indent="0" marL="0">
              <a:lnSpc>
                <a:spcPct val="115000"/>
              </a:lnSpc>
              <a:buNone/>
            </a:pPr>
            <a:r>
              <a:rPr lang="en-US" sz="1050" dirty="0">
                <a:solidFill>
                  <a:srgbClr val="02C39A"/>
                </a:solidFill>
                <a:latin typeface="Courier New" pitchFamily="34" charset="0"/>
                <a:ea typeface="Courier New" pitchFamily="34" charset="-122"/>
                <a:cs typeface="Courier New" pitchFamily="34" charset="-120"/>
              </a:rPr>
              <a:t>AND</a:t>
            </a:r>
            <a:pPr indent="0" marL="0">
              <a:lnSpc>
                <a:spcPct val="115000"/>
              </a:lnSpc>
              <a:buNone/>
            </a:pPr>
            <a:r>
              <a:rPr lang="en-US" sz="1050" dirty="0">
                <a:solidFill>
                  <a:srgbClr val="DCEEEA"/>
                </a:solidFill>
                <a:latin typeface="Courier New" pitchFamily="34" charset="0"/>
                <a:ea typeface="Courier New" pitchFamily="34" charset="-122"/>
                <a:cs typeface="Courier New" pitchFamily="34" charset="-120"/>
              </a:rPr>
              <a:t> ts &lt; %s
</a:t>
            </a:r>
            <a:pPr indent="0" marL="0">
              <a:lnSpc>
                <a:spcPct val="115000"/>
              </a:lnSpc>
              <a:buNone/>
            </a:pPr>
            <a:r>
              <a:rPr lang="en-US" sz="1050" dirty="0">
                <a:solidFill>
                  <a:srgbClr val="02C39A"/>
                </a:solidFill>
                <a:latin typeface="Courier New" pitchFamily="34" charset="0"/>
                <a:ea typeface="Courier New" pitchFamily="34" charset="-122"/>
                <a:cs typeface="Courier New" pitchFamily="34" charset="-120"/>
              </a:rPr>
              <a:t>GROUP BY</a:t>
            </a:r>
            <a:pPr indent="0" marL="0">
              <a:lnSpc>
                <a:spcPct val="115000"/>
              </a:lnSpc>
              <a:buNone/>
            </a:pPr>
            <a:r>
              <a:rPr lang="en-US" sz="1050" dirty="0">
                <a:solidFill>
                  <a:srgbClr val="DCEEEA"/>
                </a:solidFill>
                <a:latin typeface="Courier New" pitchFamily="34" charset="0"/>
                <a:ea typeface="Courier New" pitchFamily="34" charset="-122"/>
                <a:cs typeface="Courier New" pitchFamily="34" charset="-120"/>
              </a:rPr>
              <a:t> status;</a:t>
            </a:r>
            <a:endParaRPr lang="en-US" sz="1050" dirty="0"/>
          </a:p>
        </p:txBody>
      </p:sp>
      <p:sp>
        <p:nvSpPr>
          <p:cNvPr id="21" name="Text 19"/>
          <p:cNvSpPr txBox="1"/>
          <p:nvPr/>
        </p:nvSpPr>
        <p:spPr>
          <a:xfrm>
            <a:off x="6629400" y="3584448"/>
            <a:ext cx="4754880" cy="256032"/>
          </a:xfrm>
          <a:prstGeom prst="rect">
            <a:avLst/>
          </a:prstGeom>
          <a:noFill/>
          <a:ln/>
        </p:spPr>
        <p:txBody>
          <a:bodyPr wrap="square" lIns="0" tIns="0" rIns="0" bIns="0" rtlCol="0" anchor="ctr"/>
          <a:lstStyle/>
          <a:p>
            <a:pPr indent="0" marL="0">
              <a:buNone/>
            </a:pPr>
            <a:r>
              <a:rPr lang="en-US" sz="1000" b="1" dirty="0">
                <a:solidFill>
                  <a:srgbClr val="4B6B68"/>
                </a:solidFill>
                <a:latin typeface="Calibri" pitchFamily="34" charset="0"/>
                <a:ea typeface="Calibri" pitchFamily="34" charset="-122"/>
                <a:cs typeface="Calibri" pitchFamily="34" charset="-120"/>
              </a:rPr>
              <a:t>params  </a:t>
            </a:r>
            <a:pPr indent="0" marL="0">
              <a:buNone/>
            </a:pPr>
            <a:r>
              <a:rPr lang="en-US" sz="1000" dirty="0">
                <a:solidFill>
                  <a:srgbClr val="0E2E2C"/>
                </a:solidFill>
                <a:latin typeface="Courier New" pitchFamily="34" charset="0"/>
                <a:ea typeface="Courier New" pitchFamily="34" charset="-122"/>
                <a:cs typeface="Courier New" pitchFamily="34" charset="-120"/>
              </a:rPr>
              <a:t>['Line A', '2026-08-17', '2026-08-24']</a:t>
            </a:r>
            <a:endParaRPr lang="en-US" sz="1000" dirty="0"/>
          </a:p>
        </p:txBody>
      </p:sp>
      <p:sp>
        <p:nvSpPr>
          <p:cNvPr id="22" name="Text 20"/>
          <p:cNvSpPr/>
          <p:nvPr/>
        </p:nvSpPr>
        <p:spPr>
          <a:xfrm>
            <a:off x="6629400" y="3968496"/>
            <a:ext cx="310896" cy="310896"/>
          </a:xfrm>
          <a:prstGeom prst="ellipse">
            <a:avLst/>
          </a:prstGeom>
          <a:solidFill>
            <a:srgbClr val="00A896"/>
          </a:solidFill>
          <a:ln>
            <a:solidFill>
              <a:srgbClr val="00A896"/>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23" name="Text 21"/>
          <p:cNvSpPr txBox="1"/>
          <p:nvPr/>
        </p:nvSpPr>
        <p:spPr>
          <a:xfrm>
            <a:off x="7059168" y="3922776"/>
            <a:ext cx="4343400" cy="566928"/>
          </a:xfrm>
          <a:prstGeom prst="rect">
            <a:avLst/>
          </a:prstGeom>
          <a:noFill/>
          <a:ln/>
        </p:spPr>
        <p:txBody>
          <a:bodyPr wrap="square" lIns="0" tIns="0" rIns="0" bIns="0" rtlCol="0" anchor="ctr"/>
          <a:lstStyle/>
          <a:p>
            <a:pPr indent="0" marL="0">
              <a:buNone/>
            </a:pPr>
            <a:r>
              <a:rPr lang="en-US" sz="1300" b="1" dirty="0">
                <a:solidFill>
                  <a:srgbClr val="0E2E2C"/>
                </a:solidFill>
                <a:latin typeface="Calibri" pitchFamily="34" charset="0"/>
                <a:ea typeface="Calibri" pitchFamily="34" charset="-122"/>
                <a:cs typeface="Calibri" pitchFamily="34" charset="-120"/>
              </a:rPr>
              <a:t>Line A produced 12,480 good parts and 613 bad parts last week — a 4.7% reject rate.</a:t>
            </a:r>
            <a:endParaRPr lang="en-US" sz="1300" dirty="0"/>
          </a:p>
        </p:txBody>
      </p:sp>
      <p:sp>
        <p:nvSpPr>
          <p:cNvPr id="24" name="Text 22"/>
          <p:cNvSpPr/>
          <p:nvPr/>
        </p:nvSpPr>
        <p:spPr>
          <a:xfrm>
            <a:off x="6629400" y="4700016"/>
            <a:ext cx="1220724" cy="310896"/>
          </a:xfrm>
          <a:prstGeom prst="roundRect">
            <a:avLst>
              <a:gd name="adj" fmla="val 47059"/>
            </a:avLst>
          </a:prstGeom>
          <a:solidFill>
            <a:srgbClr val="DCEEEA"/>
          </a:solidFill>
          <a:ln w="12700">
            <a:solidFill>
              <a:srgbClr val="C2DED9"/>
            </a:solidFill>
          </a:ln>
        </p:spPr>
        <p:txBody>
          <a:bodyPr wrap="square" lIns="0" tIns="0" rIns="0" bIns="0" rtlCol="0" anchor="ctr"/>
          <a:lstStyle/>
          <a:p>
            <a:pPr algn="ctr" indent="0" marL="0">
              <a:buNone/>
            </a:pPr>
            <a:r>
              <a:rPr lang="en-US" sz="1000" b="1" dirty="0">
                <a:solidFill>
                  <a:srgbClr val="028090"/>
                </a:solidFill>
                <a:latin typeface="Calibri" pitchFamily="34" charset="0"/>
                <a:ea typeface="Calibri" pitchFamily="34" charset="-122"/>
                <a:cs typeface="Calibri" pitchFamily="34" charset="-120"/>
              </a:rPr>
              <a:t>template path</a:t>
            </a:r>
            <a:endParaRPr lang="en-US" sz="1000" dirty="0"/>
          </a:p>
        </p:txBody>
      </p:sp>
      <p:sp>
        <p:nvSpPr>
          <p:cNvPr id="25" name="Text 23"/>
          <p:cNvSpPr/>
          <p:nvPr/>
        </p:nvSpPr>
        <p:spPr>
          <a:xfrm>
            <a:off x="7996428" y="4700016"/>
            <a:ext cx="672084" cy="310896"/>
          </a:xfrm>
          <a:prstGeom prst="roundRect">
            <a:avLst>
              <a:gd name="adj" fmla="val 47059"/>
            </a:avLst>
          </a:prstGeom>
          <a:solidFill>
            <a:srgbClr val="DCEEEA"/>
          </a:solidFill>
          <a:ln w="12700">
            <a:solidFill>
              <a:srgbClr val="C2DED9"/>
            </a:solidFill>
          </a:ln>
        </p:spPr>
        <p:txBody>
          <a:bodyPr wrap="square" lIns="0" tIns="0" rIns="0" bIns="0" rtlCol="0" anchor="ctr"/>
          <a:lstStyle/>
          <a:p>
            <a:pPr algn="ctr" indent="0" marL="0">
              <a:buNone/>
            </a:pPr>
            <a:r>
              <a:rPr lang="en-US" sz="1000" b="1" dirty="0">
                <a:solidFill>
                  <a:srgbClr val="028090"/>
                </a:solidFill>
                <a:latin typeface="Calibri" pitchFamily="34" charset="0"/>
                <a:ea typeface="Calibri" pitchFamily="34" charset="-122"/>
                <a:cs typeface="Calibri" pitchFamily="34" charset="-120"/>
              </a:rPr>
              <a:t>15 ms</a:t>
            </a:r>
            <a:endParaRPr lang="en-US" sz="1000" dirty="0"/>
          </a:p>
        </p:txBody>
      </p:sp>
      <p:sp>
        <p:nvSpPr>
          <p:cNvPr id="26" name="Text 24"/>
          <p:cNvSpPr/>
          <p:nvPr/>
        </p:nvSpPr>
        <p:spPr>
          <a:xfrm>
            <a:off x="8814816" y="4700016"/>
            <a:ext cx="740664" cy="310896"/>
          </a:xfrm>
          <a:prstGeom prst="roundRect">
            <a:avLst>
              <a:gd name="adj" fmla="val 47059"/>
            </a:avLst>
          </a:prstGeom>
          <a:solidFill>
            <a:srgbClr val="DCEEEA"/>
          </a:solidFill>
          <a:ln w="12700">
            <a:solidFill>
              <a:srgbClr val="C2DED9"/>
            </a:solidFill>
          </a:ln>
        </p:spPr>
        <p:txBody>
          <a:bodyPr wrap="square" lIns="0" tIns="0" rIns="0" bIns="0" rtlCol="0" anchor="ctr"/>
          <a:lstStyle/>
          <a:p>
            <a:pPr algn="ctr" indent="0" marL="0">
              <a:buNone/>
            </a:pPr>
            <a:r>
              <a:rPr lang="en-US" sz="1000" b="1" dirty="0">
                <a:solidFill>
                  <a:srgbClr val="028090"/>
                </a:solidFill>
                <a:latin typeface="Calibri" pitchFamily="34" charset="0"/>
                <a:ea typeface="Calibri" pitchFamily="34" charset="-122"/>
                <a:cs typeface="Calibri" pitchFamily="34" charset="-120"/>
              </a:rPr>
              <a:t>2 rows</a:t>
            </a:r>
            <a:endParaRPr lang="en-US" sz="1000" dirty="0"/>
          </a:p>
        </p:txBody>
      </p:sp>
      <p:sp>
        <p:nvSpPr>
          <p:cNvPr id="27" name="Text 25"/>
          <p:cNvSpPr/>
          <p:nvPr/>
        </p:nvSpPr>
        <p:spPr>
          <a:xfrm>
            <a:off x="9701784" y="4700016"/>
            <a:ext cx="946404" cy="310896"/>
          </a:xfrm>
          <a:prstGeom prst="roundRect">
            <a:avLst>
              <a:gd name="adj" fmla="val 47059"/>
            </a:avLst>
          </a:prstGeom>
          <a:solidFill>
            <a:srgbClr val="DCEEEA"/>
          </a:solidFill>
          <a:ln w="12700">
            <a:solidFill>
              <a:srgbClr val="C2DED9"/>
            </a:solidFill>
          </a:ln>
        </p:spPr>
        <p:txBody>
          <a:bodyPr wrap="square" lIns="0" tIns="0" rIns="0" bIns="0" rtlCol="0" anchor="ctr"/>
          <a:lstStyle/>
          <a:p>
            <a:pPr algn="ctr" indent="0" marL="0">
              <a:buNone/>
            </a:pPr>
            <a:r>
              <a:rPr lang="en-US" sz="1000" b="1" dirty="0">
                <a:solidFill>
                  <a:srgbClr val="028090"/>
                </a:solidFill>
                <a:latin typeface="Calibri" pitchFamily="34" charset="0"/>
                <a:ea typeface="Calibri" pitchFamily="34" charset="-122"/>
                <a:cs typeface="Calibri" pitchFamily="34" charset="-120"/>
              </a:rPr>
              <a:t>read-only</a:t>
            </a:r>
            <a:endParaRPr lang="en-US" sz="1000" dirty="0"/>
          </a:p>
        </p:txBody>
      </p:sp>
      <p:sp>
        <p:nvSpPr>
          <p:cNvPr id="28" name="Text 26"/>
          <p:cNvSpPr txBox="1"/>
          <p:nvPr/>
        </p:nvSpPr>
        <p:spPr>
          <a:xfrm>
            <a:off x="6629400" y="5212080"/>
            <a:ext cx="4754880" cy="548640"/>
          </a:xfrm>
          <a:prstGeom prst="rect">
            <a:avLst/>
          </a:prstGeom>
          <a:noFill/>
          <a:ln/>
        </p:spPr>
        <p:txBody>
          <a:bodyPr wrap="square" lIns="0" tIns="0" rIns="0" bIns="0" rtlCol="0" anchor="t"/>
          <a:lstStyle/>
          <a:p>
            <a:pPr indent="0" marL="0">
              <a:buNone/>
            </a:pPr>
            <a:r>
              <a:rPr lang="en-US" sz="1050" i="1" dirty="0">
                <a:solidFill>
                  <a:srgbClr val="4B6B68"/>
                </a:solidFill>
                <a:latin typeface="Calibri" pitchFamily="34" charset="0"/>
                <a:ea typeface="Calibri" pitchFamily="34" charset="-122"/>
                <a:cs typeface="Calibri" pitchFamily="34" charset="-120"/>
              </a:rPr>
              <a:t>Every reply carries its own evidence: the statement, the bound parameters, the row count and the timings.</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10896"/>
            <a:ext cx="10058400" cy="219456"/>
          </a:xfrm>
          <a:prstGeom prst="rect">
            <a:avLst/>
          </a:prstGeom>
          <a:noFill/>
          <a:ln/>
        </p:spPr>
        <p:txBody>
          <a:bodyPr wrap="square" lIns="0" tIns="0" rIns="0" bIns="0" rtlCol="0" anchor="ctr"/>
          <a:lstStyle/>
          <a:p>
            <a:pPr indent="0" marL="0">
              <a:buNone/>
            </a:pPr>
            <a:r>
              <a:rPr lang="en-US" sz="1050" b="1" spc="200" kern="0" dirty="0">
                <a:solidFill>
                  <a:srgbClr val="028090"/>
                </a:solidFill>
                <a:latin typeface="Calibri" pitchFamily="34" charset="0"/>
                <a:ea typeface="Calibri" pitchFamily="34" charset="-122"/>
                <a:cs typeface="Calibri" pitchFamily="34" charset="-120"/>
              </a:rPr>
              <a:t>WHERE IT SITS</a:t>
            </a:r>
            <a:endParaRPr lang="en-US" sz="1050" dirty="0"/>
          </a:p>
        </p:txBody>
      </p:sp>
      <p:sp>
        <p:nvSpPr>
          <p:cNvPr id="3" name="Text 1"/>
          <p:cNvSpPr txBox="1"/>
          <p:nvPr/>
        </p:nvSpPr>
        <p:spPr>
          <a:xfrm>
            <a:off x="548640" y="566928"/>
            <a:ext cx="11064240" cy="566928"/>
          </a:xfrm>
          <a:prstGeom prst="rect">
            <a:avLst/>
          </a:prstGeom>
          <a:noFill/>
          <a:ln/>
        </p:spPr>
        <p:txBody>
          <a:bodyPr wrap="square" lIns="0" tIns="0" rIns="0" bIns="0" rtlCol="0" anchor="t"/>
          <a:lstStyle/>
          <a:p>
            <a:pPr indent="0" marL="0">
              <a:buNone/>
            </a:pPr>
            <a:r>
              <a:rPr lang="en-US" sz="3000" b="1" dirty="0">
                <a:solidFill>
                  <a:srgbClr val="0E2E2C"/>
                </a:solidFill>
                <a:latin typeface="Cambria" pitchFamily="34" charset="0"/>
                <a:ea typeface="Cambria" pitchFamily="34" charset="-122"/>
                <a:cs typeface="Cambria" pitchFamily="34" charset="-120"/>
              </a:rPr>
              <a:t>A layer on top — nothing underneath changes</a:t>
            </a:r>
            <a:endParaRPr lang="en-US" sz="3000" dirty="0"/>
          </a:p>
        </p:txBody>
      </p:sp>
      <p:sp>
        <p:nvSpPr>
          <p:cNvPr id="4" name="Text 2"/>
          <p:cNvSpPr txBox="1"/>
          <p:nvPr/>
        </p:nvSpPr>
        <p:spPr>
          <a:xfrm>
            <a:off x="548640" y="2020824"/>
            <a:ext cx="7772400" cy="219456"/>
          </a:xfrm>
          <a:prstGeom prst="rect">
            <a:avLst/>
          </a:prstGeom>
          <a:noFill/>
          <a:ln/>
        </p:spPr>
        <p:txBody>
          <a:bodyPr wrap="square" lIns="0" tIns="0" rIns="0" bIns="0" rtlCol="0" anchor="ctr"/>
          <a:lstStyle/>
          <a:p>
            <a:pPr indent="0" marL="0">
              <a:buNone/>
            </a:pPr>
            <a:r>
              <a:rPr lang="en-US" sz="950" b="1" spc="180" kern="0" dirty="0">
                <a:solidFill>
                  <a:srgbClr val="4B6B68"/>
                </a:solidFill>
                <a:latin typeface="Calibri" pitchFamily="34" charset="0"/>
                <a:ea typeface="Calibri" pitchFamily="34" charset="-122"/>
                <a:cs typeface="Calibri" pitchFamily="34" charset="-120"/>
              </a:rPr>
              <a:t>ALREADY IN PRODUCTION</a:t>
            </a:r>
            <a:endParaRPr lang="en-US" sz="950" dirty="0"/>
          </a:p>
        </p:txBody>
      </p:sp>
      <p:sp>
        <p:nvSpPr>
          <p:cNvPr id="5" name="Shape 3"/>
          <p:cNvSpPr/>
          <p:nvPr/>
        </p:nvSpPr>
        <p:spPr>
          <a:xfrm>
            <a:off x="548640" y="2331720"/>
            <a:ext cx="2240280" cy="960120"/>
          </a:xfrm>
          <a:prstGeom prst="roundRect">
            <a:avLst>
              <a:gd name="adj" fmla="val 8571"/>
            </a:avLst>
          </a:prstGeom>
          <a:solidFill>
            <a:srgbClr val="F3F5F5"/>
          </a:solidFill>
          <a:ln w="12700">
            <a:solidFill>
              <a:srgbClr val="DCE3E2"/>
            </a:solidFill>
            <a:prstDash val="solid"/>
          </a:ln>
          <a:effectLst>
            <a:outerShdw sx="100000" sy="100000" kx="0" ky="0" algn="bl" rotWithShape="0" blurRad="127000" dist="25400" dir="5400000">
              <a:srgbClr val="0E2E2C">
                <a:alpha val="8000"/>
              </a:srgbClr>
            </a:outerShdw>
          </a:effectLst>
        </p:spPr>
      </p:sp>
      <p:sp>
        <p:nvSpPr>
          <p:cNvPr id="6" name="Text 4"/>
          <p:cNvSpPr txBox="1"/>
          <p:nvPr/>
        </p:nvSpPr>
        <p:spPr>
          <a:xfrm>
            <a:off x="713232" y="2496312"/>
            <a:ext cx="1911096" cy="292608"/>
          </a:xfrm>
          <a:prstGeom prst="rect">
            <a:avLst/>
          </a:prstGeom>
          <a:noFill/>
          <a:ln/>
        </p:spPr>
        <p:txBody>
          <a:bodyPr wrap="square" lIns="0" tIns="0" rIns="0" bIns="0" rtlCol="0" anchor="ctr"/>
          <a:lstStyle/>
          <a:p>
            <a:pPr indent="0" marL="0">
              <a:buNone/>
            </a:pPr>
            <a:r>
              <a:rPr lang="en-US" sz="1450" b="1" dirty="0">
                <a:solidFill>
                  <a:srgbClr val="0E2E2C"/>
                </a:solidFill>
                <a:latin typeface="Calibri" pitchFamily="34" charset="0"/>
                <a:ea typeface="Calibri" pitchFamily="34" charset="-122"/>
                <a:cs typeface="Calibri" pitchFamily="34" charset="-120"/>
              </a:rPr>
              <a:t>Machine logs</a:t>
            </a:r>
            <a:endParaRPr lang="en-US" sz="1450" dirty="0"/>
          </a:p>
        </p:txBody>
      </p:sp>
      <p:sp>
        <p:nvSpPr>
          <p:cNvPr id="7" name="Text 5"/>
          <p:cNvSpPr txBox="1"/>
          <p:nvPr/>
        </p:nvSpPr>
        <p:spPr>
          <a:xfrm>
            <a:off x="713232" y="2807208"/>
            <a:ext cx="1911096" cy="310896"/>
          </a:xfrm>
          <a:prstGeom prst="rect">
            <a:avLst/>
          </a:prstGeom>
          <a:noFill/>
          <a:ln/>
        </p:spPr>
        <p:txBody>
          <a:bodyPr wrap="square" lIns="0" tIns="0" rIns="0" bIns="0" rtlCol="0" anchor="ctr"/>
          <a:lstStyle/>
          <a:p>
            <a:pPr indent="0" marL="0">
              <a:buNone/>
            </a:pPr>
            <a:r>
              <a:rPr lang="en-US" sz="1050" dirty="0">
                <a:solidFill>
                  <a:srgbClr val="4B6B68"/>
                </a:solidFill>
                <a:latin typeface="Calibri" pitchFamily="34" charset="0"/>
                <a:ea typeface="Calibri" pitchFamily="34" charset="-122"/>
                <a:cs typeface="Calibri" pitchFamily="34" charset="-120"/>
              </a:rPr>
              <a:t>three production lines</a:t>
            </a:r>
            <a:endParaRPr lang="en-US" sz="1050" dirty="0"/>
          </a:p>
        </p:txBody>
      </p:sp>
      <p:sp>
        <p:nvSpPr>
          <p:cNvPr id="8" name="Shape 6"/>
          <p:cNvSpPr/>
          <p:nvPr/>
        </p:nvSpPr>
        <p:spPr>
          <a:xfrm>
            <a:off x="3154680" y="2331720"/>
            <a:ext cx="2514600" cy="960120"/>
          </a:xfrm>
          <a:prstGeom prst="roundRect">
            <a:avLst>
              <a:gd name="adj" fmla="val 8571"/>
            </a:avLst>
          </a:prstGeom>
          <a:solidFill>
            <a:srgbClr val="F3F5F5"/>
          </a:solidFill>
          <a:ln w="12700">
            <a:solidFill>
              <a:srgbClr val="DCE3E2"/>
            </a:solidFill>
            <a:prstDash val="solid"/>
          </a:ln>
          <a:effectLst>
            <a:outerShdw sx="100000" sy="100000" kx="0" ky="0" algn="bl" rotWithShape="0" blurRad="127000" dist="25400" dir="5400000">
              <a:srgbClr val="0E2E2C">
                <a:alpha val="8000"/>
              </a:srgbClr>
            </a:outerShdw>
          </a:effectLst>
        </p:spPr>
      </p:sp>
      <p:sp>
        <p:nvSpPr>
          <p:cNvPr id="9" name="Text 7"/>
          <p:cNvSpPr txBox="1"/>
          <p:nvPr/>
        </p:nvSpPr>
        <p:spPr>
          <a:xfrm>
            <a:off x="3319272" y="2496312"/>
            <a:ext cx="2185416" cy="292608"/>
          </a:xfrm>
          <a:prstGeom prst="rect">
            <a:avLst/>
          </a:prstGeom>
          <a:noFill/>
          <a:ln/>
        </p:spPr>
        <p:txBody>
          <a:bodyPr wrap="square" lIns="0" tIns="0" rIns="0" bIns="0" rtlCol="0" anchor="ctr"/>
          <a:lstStyle/>
          <a:p>
            <a:pPr indent="0" marL="0">
              <a:buNone/>
            </a:pPr>
            <a:r>
              <a:rPr lang="en-US" sz="1450" b="1" dirty="0">
                <a:solidFill>
                  <a:srgbClr val="0E2E2C"/>
                </a:solidFill>
                <a:latin typeface="Calibri" pitchFamily="34" charset="0"/>
                <a:ea typeface="Calibri" pitchFamily="34" charset="-122"/>
                <a:cs typeface="Calibri" pitchFamily="34" charset="-120"/>
              </a:rPr>
              <a:t>Python extractor</a:t>
            </a:r>
            <a:endParaRPr lang="en-US" sz="1450" dirty="0"/>
          </a:p>
        </p:txBody>
      </p:sp>
      <p:sp>
        <p:nvSpPr>
          <p:cNvPr id="10" name="Text 8"/>
          <p:cNvSpPr txBox="1"/>
          <p:nvPr/>
        </p:nvSpPr>
        <p:spPr>
          <a:xfrm>
            <a:off x="3319272" y="2807208"/>
            <a:ext cx="2185416" cy="310896"/>
          </a:xfrm>
          <a:prstGeom prst="rect">
            <a:avLst/>
          </a:prstGeom>
          <a:noFill/>
          <a:ln/>
        </p:spPr>
        <p:txBody>
          <a:bodyPr wrap="square" lIns="0" tIns="0" rIns="0" bIns="0" rtlCol="0" anchor="ctr"/>
          <a:lstStyle/>
          <a:p>
            <a:pPr indent="0" marL="0">
              <a:buNone/>
            </a:pPr>
            <a:r>
              <a:rPr lang="en-US" sz="1050" dirty="0">
                <a:solidFill>
                  <a:srgbClr val="4B6B68"/>
                </a:solidFill>
                <a:latin typeface="Calibri" pitchFamily="34" charset="0"/>
                <a:ea typeface="Calibri" pitchFamily="34" charset="-122"/>
                <a:cs typeface="Calibri" pitchFamily="34" charset="-120"/>
              </a:rPr>
              <a:t>parses and loads — unchanged</a:t>
            </a:r>
            <a:endParaRPr lang="en-US" sz="1050" dirty="0"/>
          </a:p>
        </p:txBody>
      </p:sp>
      <p:sp>
        <p:nvSpPr>
          <p:cNvPr id="11" name="Shape 9"/>
          <p:cNvSpPr/>
          <p:nvPr/>
        </p:nvSpPr>
        <p:spPr>
          <a:xfrm>
            <a:off x="6035040" y="2331720"/>
            <a:ext cx="2240280" cy="960120"/>
          </a:xfrm>
          <a:prstGeom prst="roundRect">
            <a:avLst>
              <a:gd name="adj" fmla="val 8571"/>
            </a:avLst>
          </a:prstGeom>
          <a:solidFill>
            <a:srgbClr val="F3F5F5"/>
          </a:solidFill>
          <a:ln w="12700">
            <a:solidFill>
              <a:srgbClr val="DCE3E2"/>
            </a:solidFill>
            <a:prstDash val="solid"/>
          </a:ln>
          <a:effectLst>
            <a:outerShdw sx="100000" sy="100000" kx="0" ky="0" algn="bl" rotWithShape="0" blurRad="127000" dist="25400" dir="5400000">
              <a:srgbClr val="0E2E2C">
                <a:alpha val="8000"/>
              </a:srgbClr>
            </a:outerShdw>
          </a:effectLst>
        </p:spPr>
      </p:sp>
      <p:sp>
        <p:nvSpPr>
          <p:cNvPr id="12" name="Text 10"/>
          <p:cNvSpPr txBox="1"/>
          <p:nvPr/>
        </p:nvSpPr>
        <p:spPr>
          <a:xfrm>
            <a:off x="6199632" y="2496312"/>
            <a:ext cx="1911096" cy="292608"/>
          </a:xfrm>
          <a:prstGeom prst="rect">
            <a:avLst/>
          </a:prstGeom>
          <a:noFill/>
          <a:ln/>
        </p:spPr>
        <p:txBody>
          <a:bodyPr wrap="square" lIns="0" tIns="0" rIns="0" bIns="0" rtlCol="0" anchor="ctr"/>
          <a:lstStyle/>
          <a:p>
            <a:pPr indent="0" marL="0">
              <a:buNone/>
            </a:pPr>
            <a:r>
              <a:rPr lang="en-US" sz="1450" b="1" dirty="0">
                <a:solidFill>
                  <a:srgbClr val="0E2E2C"/>
                </a:solidFill>
                <a:latin typeface="Calibri" pitchFamily="34" charset="0"/>
                <a:ea typeface="Calibri" pitchFamily="34" charset="-122"/>
                <a:cs typeface="Calibri" pitchFamily="34" charset="-120"/>
              </a:rPr>
              <a:t>Database</a:t>
            </a:r>
            <a:endParaRPr lang="en-US" sz="1450" dirty="0"/>
          </a:p>
        </p:txBody>
      </p:sp>
      <p:sp>
        <p:nvSpPr>
          <p:cNvPr id="13" name="Text 11"/>
          <p:cNvSpPr txBox="1"/>
          <p:nvPr/>
        </p:nvSpPr>
        <p:spPr>
          <a:xfrm>
            <a:off x="6199632" y="2807208"/>
            <a:ext cx="1911096" cy="310896"/>
          </a:xfrm>
          <a:prstGeom prst="rect">
            <a:avLst/>
          </a:prstGeom>
          <a:noFill/>
          <a:ln/>
        </p:spPr>
        <p:txBody>
          <a:bodyPr wrap="square" lIns="0" tIns="0" rIns="0" bIns="0" rtlCol="0" anchor="ctr"/>
          <a:lstStyle/>
          <a:p>
            <a:pPr indent="0" marL="0">
              <a:buNone/>
            </a:pPr>
            <a:r>
              <a:rPr lang="en-US" sz="1050" dirty="0">
                <a:solidFill>
                  <a:srgbClr val="4B6B68"/>
                </a:solidFill>
                <a:latin typeface="Calibri" pitchFamily="34" charset="0"/>
                <a:ea typeface="Calibri" pitchFamily="34" charset="-122"/>
                <a:cs typeface="Calibri" pitchFamily="34" charset="-120"/>
              </a:rPr>
              <a:t>the single source of truth</a:t>
            </a:r>
            <a:endParaRPr lang="en-US" sz="1050" dirty="0"/>
          </a:p>
        </p:txBody>
      </p:sp>
      <p:sp>
        <p:nvSpPr>
          <p:cNvPr id="14" name="Shape 12"/>
          <p:cNvSpPr/>
          <p:nvPr/>
        </p:nvSpPr>
        <p:spPr>
          <a:xfrm>
            <a:off x="2825496" y="2811780"/>
            <a:ext cx="292608" cy="0"/>
          </a:xfrm>
          <a:prstGeom prst="line">
            <a:avLst/>
          </a:prstGeom>
          <a:noFill/>
          <a:ln w="22225">
            <a:solidFill>
              <a:srgbClr val="028090"/>
            </a:solidFill>
            <a:prstDash val="solid"/>
            <a:tailEnd type="triangle"/>
          </a:ln>
        </p:spPr>
      </p:sp>
      <p:sp>
        <p:nvSpPr>
          <p:cNvPr id="15" name="Shape 13"/>
          <p:cNvSpPr/>
          <p:nvPr/>
        </p:nvSpPr>
        <p:spPr>
          <a:xfrm>
            <a:off x="5705856" y="2811780"/>
            <a:ext cx="292608" cy="0"/>
          </a:xfrm>
          <a:prstGeom prst="line">
            <a:avLst/>
          </a:prstGeom>
          <a:noFill/>
          <a:ln w="22225">
            <a:solidFill>
              <a:srgbClr val="028090"/>
            </a:solidFill>
            <a:prstDash val="solid"/>
            <a:tailEnd type="triangle"/>
          </a:ln>
        </p:spPr>
      </p:sp>
      <p:sp>
        <p:nvSpPr>
          <p:cNvPr id="16" name="Shape 14"/>
          <p:cNvSpPr/>
          <p:nvPr/>
        </p:nvSpPr>
        <p:spPr>
          <a:xfrm>
            <a:off x="8311896" y="2811780"/>
            <a:ext cx="393192" cy="0"/>
          </a:xfrm>
          <a:prstGeom prst="line">
            <a:avLst/>
          </a:prstGeom>
          <a:noFill/>
          <a:ln w="22225">
            <a:solidFill>
              <a:srgbClr val="028090"/>
            </a:solidFill>
            <a:prstDash val="solid"/>
          </a:ln>
        </p:spPr>
      </p:sp>
      <p:sp>
        <p:nvSpPr>
          <p:cNvPr id="17" name="Shape 15"/>
          <p:cNvSpPr/>
          <p:nvPr/>
        </p:nvSpPr>
        <p:spPr>
          <a:xfrm>
            <a:off x="8705088" y="2103120"/>
            <a:ext cx="0" cy="713232"/>
          </a:xfrm>
          <a:prstGeom prst="line">
            <a:avLst/>
          </a:prstGeom>
          <a:noFill/>
          <a:ln w="22225">
            <a:solidFill>
              <a:srgbClr val="028090"/>
            </a:solidFill>
            <a:prstDash val="solid"/>
          </a:ln>
        </p:spPr>
      </p:sp>
      <p:sp>
        <p:nvSpPr>
          <p:cNvPr id="18" name="Shape 16"/>
          <p:cNvSpPr/>
          <p:nvPr/>
        </p:nvSpPr>
        <p:spPr>
          <a:xfrm>
            <a:off x="8705088" y="2811780"/>
            <a:ext cx="0" cy="1307592"/>
          </a:xfrm>
          <a:prstGeom prst="line">
            <a:avLst/>
          </a:prstGeom>
          <a:noFill/>
          <a:ln w="22225">
            <a:solidFill>
              <a:srgbClr val="028090"/>
            </a:solidFill>
            <a:prstDash val="solid"/>
          </a:ln>
        </p:spPr>
      </p:sp>
      <p:sp>
        <p:nvSpPr>
          <p:cNvPr id="19" name="Shape 17"/>
          <p:cNvSpPr/>
          <p:nvPr/>
        </p:nvSpPr>
        <p:spPr>
          <a:xfrm>
            <a:off x="8705088" y="2103120"/>
            <a:ext cx="566928" cy="0"/>
          </a:xfrm>
          <a:prstGeom prst="line">
            <a:avLst/>
          </a:prstGeom>
          <a:noFill/>
          <a:ln w="22225">
            <a:solidFill>
              <a:srgbClr val="028090"/>
            </a:solidFill>
            <a:prstDash val="solid"/>
            <a:tailEnd type="triangle"/>
          </a:ln>
        </p:spPr>
      </p:sp>
      <p:sp>
        <p:nvSpPr>
          <p:cNvPr id="20" name="Shape 18"/>
          <p:cNvSpPr/>
          <p:nvPr/>
        </p:nvSpPr>
        <p:spPr>
          <a:xfrm>
            <a:off x="8705088" y="4114800"/>
            <a:ext cx="566928" cy="0"/>
          </a:xfrm>
          <a:prstGeom prst="line">
            <a:avLst/>
          </a:prstGeom>
          <a:noFill/>
          <a:ln w="22225">
            <a:solidFill>
              <a:srgbClr val="028090"/>
            </a:solidFill>
            <a:prstDash val="solid"/>
            <a:tailEnd type="triangle"/>
          </a:ln>
        </p:spPr>
      </p:sp>
      <p:sp>
        <p:nvSpPr>
          <p:cNvPr id="21" name="Shape 19"/>
          <p:cNvSpPr/>
          <p:nvPr/>
        </p:nvSpPr>
        <p:spPr>
          <a:xfrm>
            <a:off x="9308592" y="1700784"/>
            <a:ext cx="2377440" cy="804672"/>
          </a:xfrm>
          <a:prstGeom prst="roundRect">
            <a:avLst>
              <a:gd name="adj" fmla="val 10227"/>
            </a:avLst>
          </a:prstGeom>
          <a:solidFill>
            <a:srgbClr val="F3F5F5"/>
          </a:solidFill>
          <a:ln w="12700">
            <a:solidFill>
              <a:srgbClr val="DCE3E2"/>
            </a:solidFill>
            <a:prstDash val="solid"/>
          </a:ln>
          <a:effectLst>
            <a:outerShdw sx="100000" sy="100000" kx="0" ky="0" algn="bl" rotWithShape="0" blurRad="127000" dist="25400" dir="5400000">
              <a:srgbClr val="0E2E2C">
                <a:alpha val="8000"/>
              </a:srgbClr>
            </a:outerShdw>
          </a:effectLst>
        </p:spPr>
      </p:sp>
      <p:sp>
        <p:nvSpPr>
          <p:cNvPr id="22" name="Text 20"/>
          <p:cNvSpPr txBox="1"/>
          <p:nvPr/>
        </p:nvSpPr>
        <p:spPr>
          <a:xfrm>
            <a:off x="9473184" y="1819656"/>
            <a:ext cx="2048256" cy="274320"/>
          </a:xfrm>
          <a:prstGeom prst="rect">
            <a:avLst/>
          </a:prstGeom>
          <a:noFill/>
          <a:ln/>
        </p:spPr>
        <p:txBody>
          <a:bodyPr wrap="square" lIns="0" tIns="0" rIns="0" bIns="0" rtlCol="0" anchor="ctr"/>
          <a:lstStyle/>
          <a:p>
            <a:pPr indent="0" marL="0">
              <a:buNone/>
            </a:pPr>
            <a:r>
              <a:rPr lang="en-US" sz="1400" b="1" dirty="0">
                <a:solidFill>
                  <a:srgbClr val="0E2E2C"/>
                </a:solidFill>
                <a:latin typeface="Calibri" pitchFamily="34" charset="0"/>
                <a:ea typeface="Calibri" pitchFamily="34" charset="-122"/>
                <a:cs typeface="Calibri" pitchFamily="34" charset="-120"/>
              </a:rPr>
              <a:t>Power BI</a:t>
            </a:r>
            <a:endParaRPr lang="en-US" sz="1400" dirty="0"/>
          </a:p>
        </p:txBody>
      </p:sp>
      <p:sp>
        <p:nvSpPr>
          <p:cNvPr id="23" name="Text 21"/>
          <p:cNvSpPr txBox="1"/>
          <p:nvPr/>
        </p:nvSpPr>
        <p:spPr>
          <a:xfrm>
            <a:off x="9473184" y="2103120"/>
            <a:ext cx="2048256" cy="256032"/>
          </a:xfrm>
          <a:prstGeom prst="rect">
            <a:avLst/>
          </a:prstGeom>
          <a:noFill/>
          <a:ln/>
        </p:spPr>
        <p:txBody>
          <a:bodyPr wrap="square" lIns="0" tIns="0" rIns="0" bIns="0" rtlCol="0" anchor="ctr"/>
          <a:lstStyle/>
          <a:p>
            <a:pPr indent="0" marL="0">
              <a:buNone/>
            </a:pPr>
            <a:r>
              <a:rPr lang="en-US" sz="1050" dirty="0">
                <a:solidFill>
                  <a:srgbClr val="4B6B68"/>
                </a:solidFill>
                <a:latin typeface="Calibri" pitchFamily="34" charset="0"/>
                <a:ea typeface="Calibri" pitchFamily="34" charset="-122"/>
                <a:cs typeface="Calibri" pitchFamily="34" charset="-120"/>
              </a:rPr>
              <a:t>existing dashboards</a:t>
            </a:r>
            <a:endParaRPr lang="en-US" sz="1050" dirty="0"/>
          </a:p>
        </p:txBody>
      </p:sp>
      <p:sp>
        <p:nvSpPr>
          <p:cNvPr id="24" name="Shape 22"/>
          <p:cNvSpPr/>
          <p:nvPr/>
        </p:nvSpPr>
        <p:spPr>
          <a:xfrm>
            <a:off x="9308592" y="3575304"/>
            <a:ext cx="2377440" cy="1078992"/>
          </a:xfrm>
          <a:prstGeom prst="roundRect">
            <a:avLst>
              <a:gd name="adj" fmla="val 7627"/>
            </a:avLst>
          </a:prstGeom>
          <a:solidFill>
            <a:srgbClr val="028090"/>
          </a:solidFill>
          <a:ln w="12700">
            <a:solidFill>
              <a:srgbClr val="028090"/>
            </a:solidFill>
            <a:prstDash val="solid"/>
          </a:ln>
          <a:effectLst>
            <a:outerShdw sx="100000" sy="100000" kx="0" ky="0" algn="bl" rotWithShape="0" blurRad="127000" dist="25400" dir="5400000">
              <a:srgbClr val="0E2E2C">
                <a:alpha val="8000"/>
              </a:srgbClr>
            </a:outerShdw>
          </a:effectLst>
        </p:spPr>
      </p:sp>
      <p:sp>
        <p:nvSpPr>
          <p:cNvPr id="25" name="Text 23"/>
          <p:cNvSpPr txBox="1"/>
          <p:nvPr/>
        </p:nvSpPr>
        <p:spPr>
          <a:xfrm>
            <a:off x="9473184" y="3721608"/>
            <a:ext cx="2048256"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This chatbot</a:t>
            </a:r>
            <a:endParaRPr lang="en-US" sz="1400" dirty="0"/>
          </a:p>
        </p:txBody>
      </p:sp>
      <p:sp>
        <p:nvSpPr>
          <p:cNvPr id="26" name="Text 24"/>
          <p:cNvSpPr txBox="1"/>
          <p:nvPr/>
        </p:nvSpPr>
        <p:spPr>
          <a:xfrm>
            <a:off x="9473184" y="4005072"/>
            <a:ext cx="2048256" cy="512064"/>
          </a:xfrm>
          <a:prstGeom prst="rect">
            <a:avLst/>
          </a:prstGeom>
          <a:noFill/>
          <a:ln/>
        </p:spPr>
        <p:txBody>
          <a:bodyPr wrap="square" lIns="0" tIns="0" rIns="0" bIns="0" rtlCol="0" anchor="ctr"/>
          <a:lstStyle/>
          <a:p>
            <a:pPr indent="0" marL="0">
              <a:buNone/>
            </a:pPr>
            <a:r>
              <a:rPr lang="en-US" sz="1050" dirty="0">
                <a:solidFill>
                  <a:srgbClr val="CFEBE6"/>
                </a:solidFill>
                <a:latin typeface="Calibri" pitchFamily="34" charset="0"/>
                <a:ea typeface="Calibri" pitchFamily="34" charset="-122"/>
                <a:cs typeface="Calibri" pitchFamily="34" charset="-120"/>
              </a:rPr>
              <a:t>a read-only conversation over the same tables</a:t>
            </a:r>
            <a:endParaRPr lang="en-US" sz="1050" dirty="0"/>
          </a:p>
        </p:txBody>
      </p:sp>
      <p:sp>
        <p:nvSpPr>
          <p:cNvPr id="27" name="Text 25"/>
          <p:cNvSpPr/>
          <p:nvPr/>
        </p:nvSpPr>
        <p:spPr>
          <a:xfrm>
            <a:off x="9308592" y="3172968"/>
            <a:ext cx="786384" cy="274320"/>
          </a:xfrm>
          <a:prstGeom prst="roundRect">
            <a:avLst>
              <a:gd name="adj" fmla="val 50000"/>
            </a:avLst>
          </a:prstGeom>
          <a:solidFill>
            <a:srgbClr val="02C39A"/>
          </a:solidFill>
          <a:ln>
            <a:solidFill>
              <a:srgbClr val="02C39A"/>
            </a:solidFill>
          </a:ln>
        </p:spPr>
        <p:txBody>
          <a:bodyPr wrap="square" lIns="0" tIns="0" rIns="0" bIns="0" rtlCol="0" anchor="ctr"/>
          <a:lstStyle/>
          <a:p>
            <a:pPr algn="ctr" indent="0" marL="0">
              <a:buNone/>
            </a:pPr>
            <a:r>
              <a:rPr lang="en-US" sz="950" b="1" spc="120" kern="0" dirty="0">
                <a:solidFill>
                  <a:srgbClr val="05343A"/>
                </a:solidFill>
                <a:latin typeface="Calibri" pitchFamily="34" charset="0"/>
                <a:ea typeface="Calibri" pitchFamily="34" charset="-122"/>
                <a:cs typeface="Calibri" pitchFamily="34" charset="-120"/>
              </a:rPr>
              <a:t>NEW</a:t>
            </a:r>
            <a:endParaRPr lang="en-US" sz="950" dirty="0"/>
          </a:p>
        </p:txBody>
      </p:sp>
      <p:sp>
        <p:nvSpPr>
          <p:cNvPr id="28" name="Shape 26"/>
          <p:cNvSpPr/>
          <p:nvPr/>
        </p:nvSpPr>
        <p:spPr>
          <a:xfrm>
            <a:off x="548640" y="5138928"/>
            <a:ext cx="11137392" cy="1207008"/>
          </a:xfrm>
          <a:prstGeom prst="roundRect">
            <a:avLst>
              <a:gd name="adj" fmla="val 7576"/>
            </a:avLst>
          </a:prstGeom>
          <a:solidFill>
            <a:srgbClr val="EDF6F4"/>
          </a:solidFill>
          <a:ln w="12700">
            <a:solidFill>
              <a:srgbClr val="C2DED9"/>
            </a:solidFill>
            <a:prstDash val="solid"/>
          </a:ln>
          <a:effectLst>
            <a:outerShdw sx="100000" sy="100000" kx="0" ky="0" algn="bl" rotWithShape="0" blurRad="127000" dist="25400" dir="5400000">
              <a:srgbClr val="0E2E2C">
                <a:alpha val="8000"/>
              </a:srgbClr>
            </a:outerShdw>
          </a:effectLst>
        </p:spPr>
      </p:sp>
      <p:sp>
        <p:nvSpPr>
          <p:cNvPr id="29" name="Text 27"/>
          <p:cNvSpPr/>
          <p:nvPr/>
        </p:nvSpPr>
        <p:spPr>
          <a:xfrm>
            <a:off x="841248" y="5431536"/>
            <a:ext cx="420624" cy="420624"/>
          </a:xfrm>
          <a:prstGeom prst="ellipse">
            <a:avLst/>
          </a:prstGeom>
          <a:solidFill>
            <a:srgbClr val="00A896"/>
          </a:solidFill>
          <a:ln>
            <a:solidFill>
              <a:srgbClr val="00A89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30" name="Text 28"/>
          <p:cNvSpPr txBox="1"/>
          <p:nvPr/>
        </p:nvSpPr>
        <p:spPr>
          <a:xfrm>
            <a:off x="1444752" y="5321808"/>
            <a:ext cx="9966960" cy="868680"/>
          </a:xfrm>
          <a:prstGeom prst="rect">
            <a:avLst/>
          </a:prstGeom>
          <a:noFill/>
          <a:ln/>
        </p:spPr>
        <p:txBody>
          <a:bodyPr wrap="square" lIns="0" tIns="0" rIns="0" bIns="0" rtlCol="0" anchor="ctr"/>
          <a:lstStyle/>
          <a:p>
            <a:pPr indent="0" marL="0">
              <a:buNone/>
            </a:pPr>
            <a:r>
              <a:rPr lang="en-US" sz="1300" b="1" dirty="0">
                <a:solidFill>
                  <a:srgbClr val="0E2E2C"/>
                </a:solidFill>
                <a:latin typeface="Calibri" pitchFamily="34" charset="0"/>
                <a:ea typeface="Calibri" pitchFamily="34" charset="-122"/>
                <a:cs typeface="Calibri" pitchFamily="34" charset="-120"/>
              </a:rPr>
              <a:t>No migration, no schema change, no second copy of the data.  </a:t>
            </a:r>
            <a:pPr indent="0" marL="0">
              <a:buNone/>
            </a:pPr>
            <a:r>
              <a:rPr lang="en-US" sz="1300" dirty="0">
                <a:solidFill>
                  <a:srgbClr val="4B6B68"/>
                </a:solidFill>
                <a:latin typeface="Calibri" pitchFamily="34" charset="0"/>
                <a:ea typeface="Calibri" pitchFamily="34" charset="-122"/>
                <a:cs typeface="Calibri" pitchFamily="34" charset="-120"/>
              </a:rPr>
              <a:t>The extractor, the tables and the Power BI reports are untouched. If the chatbot were switched off tomorrow, nothing else in the plant would notice.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62F35"/>
        </a:solidFill>
      </p:bgPr>
    </p:bg>
    <p:spTree>
      <p:nvGrpSpPr>
        <p:cNvPr id="1" name=""/>
        <p:cNvGrpSpPr/>
        <p:nvPr/>
      </p:nvGrpSpPr>
      <p:grpSpPr>
        <a:xfrm>
          <a:off x="0" y="0"/>
          <a:ext cx="0" cy="0"/>
          <a:chOff x="0" y="0"/>
          <a:chExt cx="0" cy="0"/>
        </a:xfrm>
      </p:grpSpPr>
      <p:sp>
        <p:nvSpPr>
          <p:cNvPr id="2" name="Shape 0"/>
          <p:cNvSpPr/>
          <p:nvPr/>
        </p:nvSpPr>
        <p:spPr>
          <a:xfrm>
            <a:off x="8732520" y="2880360"/>
            <a:ext cx="5120640" cy="5120640"/>
          </a:xfrm>
          <a:prstGeom prst="ellipse">
            <a:avLst/>
          </a:prstGeom>
          <a:ln w="19050">
            <a:solidFill>
              <a:srgbClr val="0B4750"/>
            </a:solidFill>
            <a:prstDash val="solid"/>
          </a:ln>
        </p:spPr>
      </p:sp>
      <p:sp>
        <p:nvSpPr>
          <p:cNvPr id="3" name="Shape 1"/>
          <p:cNvSpPr/>
          <p:nvPr/>
        </p:nvSpPr>
        <p:spPr>
          <a:xfrm>
            <a:off x="9829800" y="3977640"/>
            <a:ext cx="2926080" cy="2926080"/>
          </a:xfrm>
          <a:prstGeom prst="ellipse">
            <a:avLst/>
          </a:prstGeom>
          <a:ln w="19050">
            <a:solidFill>
              <a:srgbClr val="0E5A63"/>
            </a:solidFill>
            <a:prstDash val="solid"/>
          </a:ln>
        </p:spPr>
      </p:sp>
      <p:sp>
        <p:nvSpPr>
          <p:cNvPr id="4" name="Shape 2"/>
          <p:cNvSpPr/>
          <p:nvPr/>
        </p:nvSpPr>
        <p:spPr>
          <a:xfrm>
            <a:off x="10744200" y="4892040"/>
            <a:ext cx="1097280" cy="1097280"/>
          </a:xfrm>
          <a:prstGeom prst="ellipse">
            <a:avLst/>
          </a:prstGeom>
          <a:solidFill>
            <a:srgbClr val="0B4750"/>
          </a:solidFill>
          <a:ln w="12700">
            <a:solidFill>
              <a:srgbClr val="0B4750"/>
            </a:solidFill>
            <a:prstDash val="solid"/>
          </a:ln>
        </p:spPr>
      </p:sp>
      <p:sp>
        <p:nvSpPr>
          <p:cNvPr id="5" name="Text 3"/>
          <p:cNvSpPr txBox="1"/>
          <p:nvPr/>
        </p:nvSpPr>
        <p:spPr>
          <a:xfrm>
            <a:off x="685800" y="1051560"/>
            <a:ext cx="7315200" cy="256032"/>
          </a:xfrm>
          <a:prstGeom prst="rect">
            <a:avLst/>
          </a:prstGeom>
          <a:noFill/>
          <a:ln/>
        </p:spPr>
        <p:txBody>
          <a:bodyPr wrap="square" lIns="0" tIns="0" rIns="0" bIns="0" rtlCol="0" anchor="ctr"/>
          <a:lstStyle/>
          <a:p>
            <a:pPr indent="0" marL="0">
              <a:buNone/>
            </a:pPr>
            <a:r>
              <a:rPr lang="en-US" sz="1100" b="1" spc="250" kern="0" dirty="0">
                <a:solidFill>
                  <a:srgbClr val="02C39A"/>
                </a:solidFill>
                <a:latin typeface="Calibri" pitchFamily="34" charset="0"/>
                <a:ea typeface="Calibri" pitchFamily="34" charset="-122"/>
                <a:cs typeface="Calibri" pitchFamily="34" charset="-120"/>
              </a:rPr>
              <a:t>THE ONE CONSTRAINT</a:t>
            </a:r>
            <a:endParaRPr lang="en-US" sz="1100" dirty="0"/>
          </a:p>
        </p:txBody>
      </p:sp>
      <p:sp>
        <p:nvSpPr>
          <p:cNvPr id="6" name="Text 4"/>
          <p:cNvSpPr txBox="1"/>
          <p:nvPr/>
        </p:nvSpPr>
        <p:spPr>
          <a:xfrm>
            <a:off x="658368" y="1481328"/>
            <a:ext cx="8595360" cy="1554480"/>
          </a:xfrm>
          <a:prstGeom prst="rect">
            <a:avLst/>
          </a:prstGeom>
          <a:noFill/>
          <a:ln/>
        </p:spPr>
        <p:txBody>
          <a:bodyPr wrap="square" lIns="0" tIns="0" rIns="0" bIns="0" rtlCol="0" anchor="t"/>
          <a:lstStyle/>
          <a:p>
            <a:pPr indent="0" marL="0">
              <a:lnSpc>
                <a:spcPct val="105000"/>
              </a:lnSpc>
              <a:buNone/>
            </a:pPr>
            <a:r>
              <a:rPr lang="en-US" sz="3800" b="1" dirty="0">
                <a:solidFill>
                  <a:srgbClr val="FFFFFF"/>
                </a:solidFill>
                <a:latin typeface="Cambria" pitchFamily="34" charset="0"/>
                <a:ea typeface="Cambria" pitchFamily="34" charset="-122"/>
                <a:cs typeface="Cambria" pitchFamily="34" charset="-120"/>
              </a:rPr>
              <a:t>The target IT environment</a:t>
            </a:r>
            <a:endParaRPr lang="en-US" sz="3800" dirty="0"/>
          </a:p>
          <a:p>
            <a:pPr indent="0" marL="0">
              <a:lnSpc>
                <a:spcPct val="105000"/>
              </a:lnSpc>
              <a:buNone/>
            </a:pPr>
            <a:r>
              <a:rPr lang="en-US" sz="3800" b="1" dirty="0">
                <a:solidFill>
                  <a:srgbClr val="FFFFFF"/>
                </a:solidFill>
                <a:latin typeface="Cambria" pitchFamily="34" charset="0"/>
                <a:ea typeface="Cambria" pitchFamily="34" charset="-122"/>
                <a:cs typeface="Cambria" pitchFamily="34" charset="-120"/>
              </a:rPr>
              <a:t>forbids external AI calls.</a:t>
            </a:r>
            <a:endParaRPr lang="en-US" sz="3800" dirty="0"/>
          </a:p>
        </p:txBody>
      </p:sp>
      <p:sp>
        <p:nvSpPr>
          <p:cNvPr id="7" name="Text 5"/>
          <p:cNvSpPr txBox="1"/>
          <p:nvPr/>
        </p:nvSpPr>
        <p:spPr>
          <a:xfrm>
            <a:off x="685800" y="3200400"/>
            <a:ext cx="7680960" cy="621792"/>
          </a:xfrm>
          <a:prstGeom prst="rect">
            <a:avLst/>
          </a:prstGeom>
          <a:noFill/>
          <a:ln/>
        </p:spPr>
        <p:txBody>
          <a:bodyPr wrap="square" lIns="0" tIns="0" rIns="0" bIns="0" rtlCol="0" anchor="ctr"/>
          <a:lstStyle/>
          <a:p>
            <a:pPr indent="0" marL="0">
              <a:buNone/>
            </a:pPr>
            <a:r>
              <a:rPr lang="en-US" sz="1500" dirty="0">
                <a:solidFill>
                  <a:srgbClr val="DCEEEA"/>
                </a:solidFill>
                <a:latin typeface="Calibri" pitchFamily="34" charset="0"/>
                <a:ea typeface="Calibri" pitchFamily="34" charset="-122"/>
                <a:cs typeface="Calibri" pitchFamily="34" charset="-120"/>
              </a:rPr>
              <a:t>So the model is an open-weight one, served on the same host. Once it has been pulled, the whole stack runs with the network disabled.</a:t>
            </a:r>
            <a:endParaRPr lang="en-US" sz="1500" dirty="0"/>
          </a:p>
        </p:txBody>
      </p:sp>
      <p:sp>
        <p:nvSpPr>
          <p:cNvPr id="8" name="Shape 6"/>
          <p:cNvSpPr/>
          <p:nvPr/>
        </p:nvSpPr>
        <p:spPr>
          <a:xfrm>
            <a:off x="685800" y="4041648"/>
            <a:ext cx="3529584" cy="1170432"/>
          </a:xfrm>
          <a:prstGeom prst="roundRect">
            <a:avLst>
              <a:gd name="adj" fmla="val 7031"/>
            </a:avLst>
          </a:prstGeom>
          <a:solidFill>
            <a:srgbClr val="0A3C43"/>
          </a:solidFill>
          <a:ln w="12700">
            <a:solidFill>
              <a:srgbClr val="13606A"/>
            </a:solidFill>
            <a:prstDash val="solid"/>
          </a:ln>
          <a:effectLst>
            <a:outerShdw sx="100000" sy="100000" kx="0" ky="0" algn="bl" rotWithShape="0" blurRad="101600" dist="50800" dir="5400000">
              <a:srgbClr val="FFFFFF">
                <a:alpha val="75000"/>
              </a:srgbClr>
            </a:outerShdw>
          </a:effectLst>
        </p:spPr>
      </p:sp>
      <p:sp>
        <p:nvSpPr>
          <p:cNvPr id="9" name="Text 7"/>
          <p:cNvSpPr txBox="1"/>
          <p:nvPr/>
        </p:nvSpPr>
        <p:spPr>
          <a:xfrm>
            <a:off x="905256" y="4224528"/>
            <a:ext cx="3108960" cy="329184"/>
          </a:xfrm>
          <a:prstGeom prst="rect">
            <a:avLst/>
          </a:prstGeom>
          <a:noFill/>
          <a:ln/>
        </p:spPr>
        <p:txBody>
          <a:bodyPr wrap="square" lIns="0" tIns="0" rIns="0" bIns="0" rtlCol="0" anchor="ctr"/>
          <a:lstStyle/>
          <a:p>
            <a:pPr indent="0" marL="0">
              <a:buNone/>
            </a:pPr>
            <a:r>
              <a:rPr lang="en-US" sz="1400" b="1" dirty="0">
                <a:solidFill>
                  <a:srgbClr val="02C39A"/>
                </a:solidFill>
                <a:latin typeface="Courier New" pitchFamily="34" charset="0"/>
                <a:ea typeface="Courier New" pitchFamily="34" charset="-122"/>
                <a:cs typeface="Courier New" pitchFamily="34" charset="-120"/>
              </a:rPr>
              <a:t>qwen2.5-coder:7b</a:t>
            </a:r>
            <a:endParaRPr lang="en-US" sz="1400" dirty="0"/>
          </a:p>
        </p:txBody>
      </p:sp>
      <p:sp>
        <p:nvSpPr>
          <p:cNvPr id="10" name="Text 8"/>
          <p:cNvSpPr txBox="1"/>
          <p:nvPr/>
        </p:nvSpPr>
        <p:spPr>
          <a:xfrm>
            <a:off x="905256" y="4572000"/>
            <a:ext cx="3108960" cy="512064"/>
          </a:xfrm>
          <a:prstGeom prst="rect">
            <a:avLst/>
          </a:prstGeom>
          <a:noFill/>
          <a:ln/>
        </p:spPr>
        <p:txBody>
          <a:bodyPr wrap="square" lIns="0" tIns="0" rIns="0" bIns="0" rtlCol="0" anchor="ctr"/>
          <a:lstStyle/>
          <a:p>
            <a:pPr indent="0" marL="0">
              <a:buNone/>
            </a:pPr>
            <a:r>
              <a:rPr lang="en-US" sz="1150" dirty="0">
                <a:solidFill>
                  <a:srgbClr val="A9CFCB"/>
                </a:solidFill>
                <a:latin typeface="Calibri" pitchFamily="34" charset="0"/>
                <a:ea typeface="Calibri" pitchFamily="34" charset="-122"/>
                <a:cs typeface="Calibri" pitchFamily="34" charset="-120"/>
              </a:rPr>
              <a:t>open weights, 7 billion parameters</a:t>
            </a:r>
            <a:endParaRPr lang="en-US" sz="1150" dirty="0"/>
          </a:p>
        </p:txBody>
      </p:sp>
      <p:sp>
        <p:nvSpPr>
          <p:cNvPr id="11" name="Shape 9"/>
          <p:cNvSpPr/>
          <p:nvPr/>
        </p:nvSpPr>
        <p:spPr>
          <a:xfrm>
            <a:off x="4489704" y="4041648"/>
            <a:ext cx="3529584" cy="1170432"/>
          </a:xfrm>
          <a:prstGeom prst="roundRect">
            <a:avLst>
              <a:gd name="adj" fmla="val 7031"/>
            </a:avLst>
          </a:prstGeom>
          <a:solidFill>
            <a:srgbClr val="0A3C43"/>
          </a:solidFill>
          <a:ln w="12700">
            <a:solidFill>
              <a:srgbClr val="13606A"/>
            </a:solidFill>
            <a:prstDash val="solid"/>
          </a:ln>
          <a:effectLst>
            <a:outerShdw sx="100000" sy="100000" kx="0" ky="0" algn="bl" rotWithShape="0" blurRad="101600" dist="50800" dir="5400000">
              <a:srgbClr val="FFFFFF">
                <a:alpha val="75000"/>
              </a:srgbClr>
            </a:outerShdw>
          </a:effectLst>
        </p:spPr>
      </p:sp>
      <p:sp>
        <p:nvSpPr>
          <p:cNvPr id="12" name="Text 10"/>
          <p:cNvSpPr txBox="1"/>
          <p:nvPr/>
        </p:nvSpPr>
        <p:spPr>
          <a:xfrm>
            <a:off x="4709160" y="4224528"/>
            <a:ext cx="3108960" cy="329184"/>
          </a:xfrm>
          <a:prstGeom prst="rect">
            <a:avLst/>
          </a:prstGeom>
          <a:noFill/>
          <a:ln/>
        </p:spPr>
        <p:txBody>
          <a:bodyPr wrap="square" lIns="0" tIns="0" rIns="0" bIns="0" rtlCol="0" anchor="ctr"/>
          <a:lstStyle/>
          <a:p>
            <a:pPr indent="0" marL="0">
              <a:buNone/>
            </a:pPr>
            <a:r>
              <a:rPr lang="en-US" sz="1450" b="1" dirty="0">
                <a:solidFill>
                  <a:srgbClr val="02C39A"/>
                </a:solidFill>
                <a:latin typeface="Calibri" pitchFamily="34" charset="0"/>
                <a:ea typeface="Calibri" pitchFamily="34" charset="-122"/>
                <a:cs typeface="Calibri" pitchFamily="34" charset="-120"/>
              </a:rPr>
              <a:t>Ollama, in a container</a:t>
            </a:r>
            <a:endParaRPr lang="en-US" sz="1450" dirty="0"/>
          </a:p>
        </p:txBody>
      </p:sp>
      <p:sp>
        <p:nvSpPr>
          <p:cNvPr id="13" name="Text 11"/>
          <p:cNvSpPr txBox="1"/>
          <p:nvPr/>
        </p:nvSpPr>
        <p:spPr>
          <a:xfrm>
            <a:off x="4709160" y="4572000"/>
            <a:ext cx="3108960" cy="512064"/>
          </a:xfrm>
          <a:prstGeom prst="rect">
            <a:avLst/>
          </a:prstGeom>
          <a:noFill/>
          <a:ln/>
        </p:spPr>
        <p:txBody>
          <a:bodyPr wrap="square" lIns="0" tIns="0" rIns="0" bIns="0" rtlCol="0" anchor="ctr"/>
          <a:lstStyle/>
          <a:p>
            <a:pPr indent="0" marL="0">
              <a:buNone/>
            </a:pPr>
            <a:r>
              <a:rPr lang="en-US" sz="1150" dirty="0">
                <a:solidFill>
                  <a:srgbClr val="A9CFCB"/>
                </a:solidFill>
                <a:latin typeface="Calibri" pitchFamily="34" charset="0"/>
                <a:ea typeface="Calibri" pitchFamily="34" charset="-122"/>
                <a:cs typeface="Calibri" pitchFamily="34" charset="-120"/>
              </a:rPr>
              <a:t>same host as the app — nothing leaves it</a:t>
            </a:r>
            <a:endParaRPr lang="en-US" sz="1150" dirty="0"/>
          </a:p>
        </p:txBody>
      </p:sp>
      <p:sp>
        <p:nvSpPr>
          <p:cNvPr id="14" name="Shape 12"/>
          <p:cNvSpPr/>
          <p:nvPr/>
        </p:nvSpPr>
        <p:spPr>
          <a:xfrm>
            <a:off x="8293608" y="4041648"/>
            <a:ext cx="3529584" cy="1170432"/>
          </a:xfrm>
          <a:prstGeom prst="roundRect">
            <a:avLst>
              <a:gd name="adj" fmla="val 7031"/>
            </a:avLst>
          </a:prstGeom>
          <a:solidFill>
            <a:srgbClr val="0A3C43"/>
          </a:solidFill>
          <a:ln w="12700">
            <a:solidFill>
              <a:srgbClr val="13606A"/>
            </a:solidFill>
            <a:prstDash val="solid"/>
          </a:ln>
          <a:effectLst>
            <a:outerShdw sx="100000" sy="100000" kx="0" ky="0" algn="bl" rotWithShape="0" blurRad="101600" dist="50800" dir="5400000">
              <a:srgbClr val="FFFFFF">
                <a:alpha val="75000"/>
              </a:srgbClr>
            </a:outerShdw>
          </a:effectLst>
        </p:spPr>
      </p:sp>
      <p:sp>
        <p:nvSpPr>
          <p:cNvPr id="15" name="Text 13"/>
          <p:cNvSpPr txBox="1"/>
          <p:nvPr/>
        </p:nvSpPr>
        <p:spPr>
          <a:xfrm>
            <a:off x="8513064" y="4224528"/>
            <a:ext cx="3108960" cy="329184"/>
          </a:xfrm>
          <a:prstGeom prst="rect">
            <a:avLst/>
          </a:prstGeom>
          <a:noFill/>
          <a:ln/>
        </p:spPr>
        <p:txBody>
          <a:bodyPr wrap="square" lIns="0" tIns="0" rIns="0" bIns="0" rtlCol="0" anchor="ctr"/>
          <a:lstStyle/>
          <a:p>
            <a:pPr indent="0" marL="0">
              <a:buNone/>
            </a:pPr>
            <a:r>
              <a:rPr lang="en-US" sz="1450" b="1" dirty="0">
                <a:solidFill>
                  <a:srgbClr val="02C39A"/>
                </a:solidFill>
                <a:latin typeface="Calibri" pitchFamily="34" charset="0"/>
                <a:ea typeface="Calibri" pitchFamily="34" charset="-122"/>
                <a:cs typeface="Calibri" pitchFamily="34" charset="-120"/>
              </a:rPr>
              <a:t>Network off after the pull</a:t>
            </a:r>
            <a:endParaRPr lang="en-US" sz="1450" dirty="0"/>
          </a:p>
        </p:txBody>
      </p:sp>
      <p:sp>
        <p:nvSpPr>
          <p:cNvPr id="16" name="Text 14"/>
          <p:cNvSpPr txBox="1"/>
          <p:nvPr/>
        </p:nvSpPr>
        <p:spPr>
          <a:xfrm>
            <a:off x="8513064" y="4572000"/>
            <a:ext cx="3108960" cy="512064"/>
          </a:xfrm>
          <a:prstGeom prst="rect">
            <a:avLst/>
          </a:prstGeom>
          <a:noFill/>
          <a:ln/>
        </p:spPr>
        <p:txBody>
          <a:bodyPr wrap="square" lIns="0" tIns="0" rIns="0" bIns="0" rtlCol="0" anchor="ctr"/>
          <a:lstStyle/>
          <a:p>
            <a:pPr indent="0" marL="0">
              <a:buNone/>
            </a:pPr>
            <a:r>
              <a:rPr lang="en-US" sz="1150" dirty="0">
                <a:solidFill>
                  <a:srgbClr val="A9CFCB"/>
                </a:solidFill>
                <a:latin typeface="Calibri" pitchFamily="34" charset="0"/>
                <a:ea typeface="Calibri" pitchFamily="34" charset="-122"/>
                <a:cs typeface="Calibri" pitchFamily="34" charset="-120"/>
              </a:rPr>
              <a:t>the stack is fully self-contained</a:t>
            </a:r>
            <a:endParaRPr lang="en-US" sz="1150" dirty="0"/>
          </a:p>
        </p:txBody>
      </p:sp>
      <p:sp>
        <p:nvSpPr>
          <p:cNvPr id="17" name="Text 15"/>
          <p:cNvSpPr txBox="1"/>
          <p:nvPr/>
        </p:nvSpPr>
        <p:spPr>
          <a:xfrm>
            <a:off x="685800" y="5577840"/>
            <a:ext cx="7772400" cy="310896"/>
          </a:xfrm>
          <a:prstGeom prst="rect">
            <a:avLst/>
          </a:prstGeom>
          <a:noFill/>
          <a:ln/>
        </p:spPr>
        <p:txBody>
          <a:bodyPr wrap="square" lIns="0" tIns="0" rIns="0" bIns="0" rtlCol="0" anchor="ctr"/>
          <a:lstStyle/>
          <a:p>
            <a:pPr indent="0" marL="0">
              <a:buNone/>
            </a:pPr>
            <a:r>
              <a:rPr lang="en-US" sz="1250" i="1" dirty="0">
                <a:solidFill>
                  <a:srgbClr val="7FA9A8"/>
                </a:solidFill>
                <a:latin typeface="Calibri" pitchFamily="34" charset="0"/>
                <a:ea typeface="Calibri" pitchFamily="34" charset="-122"/>
                <a:cs typeface="Calibri" pitchFamily="34" charset="-120"/>
              </a:rPr>
              <a:t>Every diagram that follows is a consequence of this sentence.</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10896"/>
            <a:ext cx="10058400" cy="219456"/>
          </a:xfrm>
          <a:prstGeom prst="rect">
            <a:avLst/>
          </a:prstGeom>
          <a:noFill/>
          <a:ln/>
        </p:spPr>
        <p:txBody>
          <a:bodyPr wrap="square" lIns="0" tIns="0" rIns="0" bIns="0" rtlCol="0" anchor="ctr"/>
          <a:lstStyle/>
          <a:p>
            <a:pPr indent="0" marL="0">
              <a:buNone/>
            </a:pPr>
            <a:r>
              <a:rPr lang="en-US" sz="1050" b="1" spc="200" kern="0" dirty="0">
                <a:solidFill>
                  <a:srgbClr val="028090"/>
                </a:solidFill>
                <a:latin typeface="Calibri" pitchFamily="34" charset="0"/>
                <a:ea typeface="Calibri" pitchFamily="34" charset="-122"/>
                <a:cs typeface="Calibri" pitchFamily="34" charset="-120"/>
              </a:rPr>
              <a:t>WHAT THAT FORCES</a:t>
            </a:r>
            <a:endParaRPr lang="en-US" sz="1050" dirty="0"/>
          </a:p>
        </p:txBody>
      </p:sp>
      <p:sp>
        <p:nvSpPr>
          <p:cNvPr id="3" name="Text 1"/>
          <p:cNvSpPr txBox="1"/>
          <p:nvPr/>
        </p:nvSpPr>
        <p:spPr>
          <a:xfrm>
            <a:off x="548640" y="566928"/>
            <a:ext cx="11064240" cy="566928"/>
          </a:xfrm>
          <a:prstGeom prst="rect">
            <a:avLst/>
          </a:prstGeom>
          <a:noFill/>
          <a:ln/>
        </p:spPr>
        <p:txBody>
          <a:bodyPr wrap="square" lIns="0" tIns="0" rIns="0" bIns="0" rtlCol="0" anchor="t"/>
          <a:lstStyle/>
          <a:p>
            <a:pPr indent="0" marL="0">
              <a:buNone/>
            </a:pPr>
            <a:r>
              <a:rPr lang="en-US" sz="3000" b="1" dirty="0">
                <a:solidFill>
                  <a:srgbClr val="0E2E2C"/>
                </a:solidFill>
                <a:latin typeface="Cambria" pitchFamily="34" charset="0"/>
                <a:ea typeface="Cambria" pitchFamily="34" charset="-122"/>
                <a:cs typeface="Cambria" pitchFamily="34" charset="-120"/>
              </a:rPr>
              <a:t>Three consequences, and the design each one produced</a:t>
            </a:r>
            <a:endParaRPr lang="en-US" sz="3000" dirty="0"/>
          </a:p>
        </p:txBody>
      </p:sp>
      <p:sp>
        <p:nvSpPr>
          <p:cNvPr id="4" name="Shape 2"/>
          <p:cNvSpPr/>
          <p:nvPr/>
        </p:nvSpPr>
        <p:spPr>
          <a:xfrm>
            <a:off x="548640" y="1572768"/>
            <a:ext cx="3474720" cy="4023360"/>
          </a:xfrm>
          <a:prstGeom prst="roundRect">
            <a:avLst>
              <a:gd name="adj" fmla="val 3158"/>
            </a:avLst>
          </a:prstGeom>
          <a:solidFill>
            <a:srgbClr val="FFFFFF"/>
          </a:solidFill>
          <a:ln w="12700">
            <a:solidFill>
              <a:srgbClr val="C2DED9"/>
            </a:solidFill>
            <a:prstDash val="solid"/>
          </a:ln>
          <a:effectLst>
            <a:outerShdw sx="100000" sy="100000" kx="0" ky="0" algn="bl" rotWithShape="0" blurRad="127000" dist="25400" dir="5400000">
              <a:srgbClr val="0E2E2C">
                <a:alpha val="8000"/>
              </a:srgbClr>
            </a:outerShdw>
          </a:effectLst>
        </p:spPr>
      </p:sp>
      <p:sp>
        <p:nvSpPr>
          <p:cNvPr id="5" name="Text 3"/>
          <p:cNvSpPr/>
          <p:nvPr/>
        </p:nvSpPr>
        <p:spPr>
          <a:xfrm>
            <a:off x="841248" y="1847088"/>
            <a:ext cx="457200" cy="457200"/>
          </a:xfrm>
          <a:prstGeom prst="ellipse">
            <a:avLst/>
          </a:prstGeom>
          <a:solidFill>
            <a:srgbClr val="028090"/>
          </a:solidFill>
          <a:ln>
            <a:solidFill>
              <a:srgbClr val="028090"/>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841248" y="2450592"/>
            <a:ext cx="2889504" cy="713232"/>
          </a:xfrm>
          <a:prstGeom prst="rect">
            <a:avLst/>
          </a:prstGeom>
          <a:noFill/>
          <a:ln/>
        </p:spPr>
        <p:txBody>
          <a:bodyPr wrap="square" lIns="0" tIns="0" rIns="0" bIns="0" rtlCol="0" anchor="t"/>
          <a:lstStyle/>
          <a:p>
            <a:pPr indent="0" marL="0">
              <a:buNone/>
            </a:pPr>
            <a:r>
              <a:rPr lang="en-US" sz="1700" b="1" dirty="0">
                <a:solidFill>
                  <a:srgbClr val="0E2E2C"/>
                </a:solidFill>
                <a:latin typeface="Cambria" pitchFamily="34" charset="0"/>
                <a:ea typeface="Cambria" pitchFamily="34" charset="-122"/>
                <a:cs typeface="Cambria" pitchFamily="34" charset="-120"/>
              </a:rPr>
              <a:t>A 7B model on CPU is slow</a:t>
            </a:r>
            <a:endParaRPr lang="en-US" sz="1700" dirty="0"/>
          </a:p>
        </p:txBody>
      </p:sp>
      <p:sp>
        <p:nvSpPr>
          <p:cNvPr id="7" name="Text 5"/>
          <p:cNvSpPr txBox="1"/>
          <p:nvPr/>
        </p:nvSpPr>
        <p:spPr>
          <a:xfrm>
            <a:off x="841248" y="3200400"/>
            <a:ext cx="2889504" cy="1097280"/>
          </a:xfrm>
          <a:prstGeom prst="rect">
            <a:avLst/>
          </a:prstGeom>
          <a:noFill/>
          <a:ln/>
        </p:spPr>
        <p:txBody>
          <a:bodyPr wrap="square" lIns="0" tIns="0" rIns="0" bIns="0" rtlCol="0" anchor="t"/>
          <a:lstStyle/>
          <a:p>
            <a:pPr indent="0" marL="0">
              <a:buNone/>
            </a:pPr>
            <a:r>
              <a:rPr lang="en-US" sz="1200" dirty="0">
                <a:solidFill>
                  <a:srgbClr val="4B6B68"/>
                </a:solidFill>
                <a:latin typeface="Calibri" pitchFamily="34" charset="0"/>
                <a:ea typeface="Calibri" pitchFamily="34" charset="-122"/>
                <a:cs typeface="Calibri" pitchFamily="34" charset="-120"/>
              </a:rPr>
              <a:t>Ten to thirty seconds a question. So the common questions never reach it: eleven hand-written templates answer them with exact, reproducible SQL.</a:t>
            </a:r>
            <a:endParaRPr lang="en-US" sz="1200" dirty="0"/>
          </a:p>
        </p:txBody>
      </p:sp>
      <p:sp>
        <p:nvSpPr>
          <p:cNvPr id="8" name="Text 6"/>
          <p:cNvSpPr txBox="1"/>
          <p:nvPr/>
        </p:nvSpPr>
        <p:spPr>
          <a:xfrm>
            <a:off x="841248" y="4389120"/>
            <a:ext cx="2889504" cy="502920"/>
          </a:xfrm>
          <a:prstGeom prst="rect">
            <a:avLst/>
          </a:prstGeom>
          <a:noFill/>
          <a:ln/>
        </p:spPr>
        <p:txBody>
          <a:bodyPr wrap="square" lIns="0" tIns="0" rIns="0" bIns="0" rtlCol="0" anchor="t"/>
          <a:lstStyle/>
          <a:p>
            <a:pPr indent="0" marL="0">
              <a:buNone/>
            </a:pPr>
            <a:r>
              <a:rPr lang="en-US" sz="1250" b="1" dirty="0">
                <a:solidFill>
                  <a:srgbClr val="028090"/>
                </a:solidFill>
                <a:latin typeface="Calibri" pitchFamily="34" charset="0"/>
                <a:ea typeface="Calibri" pitchFamily="34" charset="-122"/>
                <a:cs typeface="Calibri" pitchFamily="34" charset="-120"/>
              </a:rPr>
              <a:t>The model is the fallback, not the front door.</a:t>
            </a:r>
            <a:endParaRPr lang="en-US" sz="1250" dirty="0"/>
          </a:p>
        </p:txBody>
      </p:sp>
      <p:sp>
        <p:nvSpPr>
          <p:cNvPr id="9" name="Text 7"/>
          <p:cNvSpPr/>
          <p:nvPr/>
        </p:nvSpPr>
        <p:spPr>
          <a:xfrm>
            <a:off x="841248" y="4983480"/>
            <a:ext cx="1828800" cy="310896"/>
          </a:xfrm>
          <a:prstGeom prst="roundRect">
            <a:avLst>
              <a:gd name="adj" fmla="val 47059"/>
            </a:avLst>
          </a:prstGeom>
          <a:solidFill>
            <a:srgbClr val="EDF6F4"/>
          </a:solidFill>
          <a:ln w="12700">
            <a:solidFill>
              <a:srgbClr val="C2DED9"/>
            </a:solidFill>
          </a:ln>
        </p:spPr>
        <p:txBody>
          <a:bodyPr wrap="square" lIns="0" tIns="0" rIns="0" bIns="0" rtlCol="0" anchor="ctr"/>
          <a:lstStyle/>
          <a:p>
            <a:pPr algn="ctr" indent="0" marL="0">
              <a:buNone/>
            </a:pPr>
            <a:r>
              <a:rPr lang="en-US" sz="1000" b="1" dirty="0">
                <a:solidFill>
                  <a:srgbClr val="0E2E2C"/>
                </a:solidFill>
                <a:latin typeface="Calibri" pitchFamily="34" charset="0"/>
                <a:ea typeface="Calibri" pitchFamily="34" charset="-122"/>
                <a:cs typeface="Calibri" pitchFamily="34" charset="-120"/>
              </a:rPr>
              <a:t>~15 ms  vs  10–30 s</a:t>
            </a:r>
            <a:endParaRPr lang="en-US" sz="1000" dirty="0"/>
          </a:p>
        </p:txBody>
      </p:sp>
      <p:sp>
        <p:nvSpPr>
          <p:cNvPr id="10" name="Shape 8"/>
          <p:cNvSpPr/>
          <p:nvPr/>
        </p:nvSpPr>
        <p:spPr>
          <a:xfrm>
            <a:off x="4361688" y="1572768"/>
            <a:ext cx="3474720" cy="4023360"/>
          </a:xfrm>
          <a:prstGeom prst="roundRect">
            <a:avLst>
              <a:gd name="adj" fmla="val 3158"/>
            </a:avLst>
          </a:prstGeom>
          <a:solidFill>
            <a:srgbClr val="FFFFFF"/>
          </a:solidFill>
          <a:ln w="12700">
            <a:solidFill>
              <a:srgbClr val="C2DED9"/>
            </a:solidFill>
            <a:prstDash val="solid"/>
          </a:ln>
          <a:effectLst>
            <a:outerShdw sx="100000" sy="100000" kx="0" ky="0" algn="bl" rotWithShape="0" blurRad="127000" dist="25400" dir="5400000">
              <a:srgbClr val="0E2E2C">
                <a:alpha val="8000"/>
              </a:srgbClr>
            </a:outerShdw>
          </a:effectLst>
        </p:spPr>
      </p:sp>
      <p:sp>
        <p:nvSpPr>
          <p:cNvPr id="11" name="Text 9"/>
          <p:cNvSpPr/>
          <p:nvPr/>
        </p:nvSpPr>
        <p:spPr>
          <a:xfrm>
            <a:off x="4654296" y="1847088"/>
            <a:ext cx="457200" cy="457200"/>
          </a:xfrm>
          <a:prstGeom prst="ellipse">
            <a:avLst/>
          </a:prstGeom>
          <a:solidFill>
            <a:srgbClr val="00A896"/>
          </a:solidFill>
          <a:ln>
            <a:solidFill>
              <a:srgbClr val="00A896"/>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txBox="1"/>
          <p:nvPr/>
        </p:nvSpPr>
        <p:spPr>
          <a:xfrm>
            <a:off x="4654296" y="2450592"/>
            <a:ext cx="2889504" cy="713232"/>
          </a:xfrm>
          <a:prstGeom prst="rect">
            <a:avLst/>
          </a:prstGeom>
          <a:noFill/>
          <a:ln/>
        </p:spPr>
        <p:txBody>
          <a:bodyPr wrap="square" lIns="0" tIns="0" rIns="0" bIns="0" rtlCol="0" anchor="t"/>
          <a:lstStyle/>
          <a:p>
            <a:pPr indent="0" marL="0">
              <a:buNone/>
            </a:pPr>
            <a:r>
              <a:rPr lang="en-US" sz="1700" b="1" dirty="0">
                <a:solidFill>
                  <a:srgbClr val="0E2E2C"/>
                </a:solidFill>
                <a:latin typeface="Cambria" pitchFamily="34" charset="0"/>
                <a:ea typeface="Cambria" pitchFamily="34" charset="-122"/>
                <a:cs typeface="Cambria" pitchFamily="34" charset="-120"/>
              </a:rPr>
              <a:t>A 7B model is also fallible</a:t>
            </a:r>
            <a:endParaRPr lang="en-US" sz="1700" dirty="0"/>
          </a:p>
        </p:txBody>
      </p:sp>
      <p:sp>
        <p:nvSpPr>
          <p:cNvPr id="13" name="Text 11"/>
          <p:cNvSpPr txBox="1"/>
          <p:nvPr/>
        </p:nvSpPr>
        <p:spPr>
          <a:xfrm>
            <a:off x="4654296" y="3200400"/>
            <a:ext cx="2889504" cy="1097280"/>
          </a:xfrm>
          <a:prstGeom prst="rect">
            <a:avLst/>
          </a:prstGeom>
          <a:noFill/>
          <a:ln/>
        </p:spPr>
        <p:txBody>
          <a:bodyPr wrap="square" lIns="0" tIns="0" rIns="0" bIns="0" rtlCol="0" anchor="t"/>
          <a:lstStyle/>
          <a:p>
            <a:pPr indent="0" marL="0">
              <a:buNone/>
            </a:pPr>
            <a:r>
              <a:rPr lang="en-US" sz="1200" dirty="0">
                <a:solidFill>
                  <a:srgbClr val="4B6B68"/>
                </a:solidFill>
                <a:latin typeface="Calibri" pitchFamily="34" charset="0"/>
                <a:ea typeface="Calibri" pitchFamily="34" charset="-122"/>
                <a:cs typeface="Calibri" pitchFamily="34" charset="-120"/>
              </a:rPr>
              <a:t>So nothing it writes is trusted. Every statement — from either route — is validated with sqlglot, then executed by a database role that holds SELECT and nothing else.</a:t>
            </a:r>
            <a:endParaRPr lang="en-US" sz="1200" dirty="0"/>
          </a:p>
        </p:txBody>
      </p:sp>
      <p:sp>
        <p:nvSpPr>
          <p:cNvPr id="14" name="Text 12"/>
          <p:cNvSpPr txBox="1"/>
          <p:nvPr/>
        </p:nvSpPr>
        <p:spPr>
          <a:xfrm>
            <a:off x="4654296" y="4389120"/>
            <a:ext cx="2889504" cy="502920"/>
          </a:xfrm>
          <a:prstGeom prst="rect">
            <a:avLst/>
          </a:prstGeom>
          <a:noFill/>
          <a:ln/>
        </p:spPr>
        <p:txBody>
          <a:bodyPr wrap="square" lIns="0" tIns="0" rIns="0" bIns="0" rtlCol="0" anchor="t"/>
          <a:lstStyle/>
          <a:p>
            <a:pPr indent="0" marL="0">
              <a:buNone/>
            </a:pPr>
            <a:r>
              <a:rPr lang="en-US" sz="1250" b="1" dirty="0">
                <a:solidFill>
                  <a:srgbClr val="00A896"/>
                </a:solidFill>
                <a:latin typeface="Calibri" pitchFamily="34" charset="0"/>
                <a:ea typeface="Calibri" pitchFamily="34" charset="-122"/>
                <a:cs typeface="Calibri" pitchFamily="34" charset="-120"/>
              </a:rPr>
              <a:t>Two independent locks, not one.</a:t>
            </a:r>
            <a:endParaRPr lang="en-US" sz="1250" dirty="0"/>
          </a:p>
        </p:txBody>
      </p:sp>
      <p:sp>
        <p:nvSpPr>
          <p:cNvPr id="15" name="Text 13"/>
          <p:cNvSpPr/>
          <p:nvPr/>
        </p:nvSpPr>
        <p:spPr>
          <a:xfrm>
            <a:off x="4654296" y="4983480"/>
            <a:ext cx="1828800" cy="310896"/>
          </a:xfrm>
          <a:prstGeom prst="roundRect">
            <a:avLst>
              <a:gd name="adj" fmla="val 47059"/>
            </a:avLst>
          </a:prstGeom>
          <a:solidFill>
            <a:srgbClr val="EDF6F4"/>
          </a:solidFill>
          <a:ln w="12700">
            <a:solidFill>
              <a:srgbClr val="C2DED9"/>
            </a:solidFill>
          </a:ln>
        </p:spPr>
        <p:txBody>
          <a:bodyPr wrap="square" lIns="0" tIns="0" rIns="0" bIns="0" rtlCol="0" anchor="ctr"/>
          <a:lstStyle/>
          <a:p>
            <a:pPr algn="ctr" indent="0" marL="0">
              <a:buNone/>
            </a:pPr>
            <a:r>
              <a:rPr lang="en-US" sz="1000" b="1" dirty="0">
                <a:solidFill>
                  <a:srgbClr val="0E2E2C"/>
                </a:solidFill>
                <a:latin typeface="Calibri" pitchFamily="34" charset="0"/>
                <a:ea typeface="Calibri" pitchFamily="34" charset="-122"/>
                <a:cs typeface="Calibri" pitchFamily="34" charset="-120"/>
              </a:rPr>
              <a:t>SELECT only</a:t>
            </a:r>
            <a:endParaRPr lang="en-US" sz="1000" dirty="0"/>
          </a:p>
        </p:txBody>
      </p:sp>
      <p:sp>
        <p:nvSpPr>
          <p:cNvPr id="16" name="Shape 14"/>
          <p:cNvSpPr/>
          <p:nvPr/>
        </p:nvSpPr>
        <p:spPr>
          <a:xfrm>
            <a:off x="8174736" y="1572768"/>
            <a:ext cx="3474720" cy="4023360"/>
          </a:xfrm>
          <a:prstGeom prst="roundRect">
            <a:avLst>
              <a:gd name="adj" fmla="val 3158"/>
            </a:avLst>
          </a:prstGeom>
          <a:solidFill>
            <a:srgbClr val="FFFFFF"/>
          </a:solidFill>
          <a:ln w="12700">
            <a:solidFill>
              <a:srgbClr val="C2DED9"/>
            </a:solidFill>
            <a:prstDash val="solid"/>
          </a:ln>
          <a:effectLst>
            <a:outerShdw sx="100000" sy="100000" kx="0" ky="0" algn="bl" rotWithShape="0" blurRad="127000" dist="25400" dir="5400000">
              <a:srgbClr val="0E2E2C">
                <a:alpha val="8000"/>
              </a:srgbClr>
            </a:outerShdw>
          </a:effectLst>
        </p:spPr>
      </p:sp>
      <p:sp>
        <p:nvSpPr>
          <p:cNvPr id="17" name="Text 15"/>
          <p:cNvSpPr/>
          <p:nvPr/>
        </p:nvSpPr>
        <p:spPr>
          <a:xfrm>
            <a:off x="8467344" y="1847088"/>
            <a:ext cx="457200" cy="457200"/>
          </a:xfrm>
          <a:prstGeom prst="ellipse">
            <a:avLst/>
          </a:prstGeom>
          <a:solidFill>
            <a:srgbClr val="A63D2F"/>
          </a:solidFill>
          <a:ln>
            <a:solidFill>
              <a:srgbClr val="A63D2F"/>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8" name="Text 16"/>
          <p:cNvSpPr txBox="1"/>
          <p:nvPr/>
        </p:nvSpPr>
        <p:spPr>
          <a:xfrm>
            <a:off x="8467344" y="2450592"/>
            <a:ext cx="2889504" cy="713232"/>
          </a:xfrm>
          <a:prstGeom prst="rect">
            <a:avLst/>
          </a:prstGeom>
          <a:noFill/>
          <a:ln/>
        </p:spPr>
        <p:txBody>
          <a:bodyPr wrap="square" lIns="0" tIns="0" rIns="0" bIns="0" rtlCol="0" anchor="t"/>
          <a:lstStyle/>
          <a:p>
            <a:pPr indent="0" marL="0">
              <a:buNone/>
            </a:pPr>
            <a:r>
              <a:rPr lang="en-US" sz="1700" b="1" dirty="0">
                <a:solidFill>
                  <a:srgbClr val="0E2E2C"/>
                </a:solidFill>
                <a:latin typeface="Cambria" pitchFamily="34" charset="0"/>
                <a:ea typeface="Cambria" pitchFamily="34" charset="-122"/>
                <a:cs typeface="Cambria" pitchFamily="34" charset="-120"/>
              </a:rPr>
              <a:t>Confidently wrong is the real failure</a:t>
            </a:r>
            <a:endParaRPr lang="en-US" sz="1700" dirty="0"/>
          </a:p>
        </p:txBody>
      </p:sp>
      <p:sp>
        <p:nvSpPr>
          <p:cNvPr id="19" name="Text 17"/>
          <p:cNvSpPr txBox="1"/>
          <p:nvPr/>
        </p:nvSpPr>
        <p:spPr>
          <a:xfrm>
            <a:off x="8467344" y="3200400"/>
            <a:ext cx="2889504" cy="1097280"/>
          </a:xfrm>
          <a:prstGeom prst="rect">
            <a:avLst/>
          </a:prstGeom>
          <a:noFill/>
          <a:ln/>
        </p:spPr>
        <p:txBody>
          <a:bodyPr wrap="square" lIns="0" tIns="0" rIns="0" bIns="0" rtlCol="0" anchor="t"/>
          <a:lstStyle/>
          <a:p>
            <a:pPr indent="0" marL="0">
              <a:buNone/>
            </a:pPr>
            <a:r>
              <a:rPr lang="en-US" sz="1200" dirty="0">
                <a:solidFill>
                  <a:srgbClr val="4B6B68"/>
                </a:solidFill>
                <a:latin typeface="Calibri" pitchFamily="34" charset="0"/>
                <a:ea typeface="Calibri" pitchFamily="34" charset="-122"/>
                <a:cs typeface="Calibri" pitchFamily="34" charset="-120"/>
              </a:rPr>
              <a:t>A template that cannot answer the exact question asked declines, rather than answering a near-miss. A rejected query is reported to the user, never quietly repaired.</a:t>
            </a:r>
            <a:endParaRPr lang="en-US" sz="1200" dirty="0"/>
          </a:p>
        </p:txBody>
      </p:sp>
      <p:sp>
        <p:nvSpPr>
          <p:cNvPr id="20" name="Text 18"/>
          <p:cNvSpPr txBox="1"/>
          <p:nvPr/>
        </p:nvSpPr>
        <p:spPr>
          <a:xfrm>
            <a:off x="8467344" y="4389120"/>
            <a:ext cx="2889504" cy="502920"/>
          </a:xfrm>
          <a:prstGeom prst="rect">
            <a:avLst/>
          </a:prstGeom>
          <a:noFill/>
          <a:ln/>
        </p:spPr>
        <p:txBody>
          <a:bodyPr wrap="square" lIns="0" tIns="0" rIns="0" bIns="0" rtlCol="0" anchor="t"/>
          <a:lstStyle/>
          <a:p>
            <a:pPr indent="0" marL="0">
              <a:buNone/>
            </a:pPr>
            <a:r>
              <a:rPr lang="en-US" sz="1250" b="1" dirty="0">
                <a:solidFill>
                  <a:srgbClr val="A63D2F"/>
                </a:solidFill>
                <a:latin typeface="Calibri" pitchFamily="34" charset="0"/>
                <a:ea typeface="Calibri" pitchFamily="34" charset="-122"/>
                <a:cs typeface="Calibri" pitchFamily="34" charset="-120"/>
              </a:rPr>
              <a:t>Refuse, don’t improvise.</a:t>
            </a:r>
            <a:endParaRPr lang="en-US" sz="1250" dirty="0"/>
          </a:p>
        </p:txBody>
      </p:sp>
      <p:sp>
        <p:nvSpPr>
          <p:cNvPr id="21" name="Text 19"/>
          <p:cNvSpPr/>
          <p:nvPr/>
        </p:nvSpPr>
        <p:spPr>
          <a:xfrm>
            <a:off x="8467344" y="4983480"/>
            <a:ext cx="1828800" cy="310896"/>
          </a:xfrm>
          <a:prstGeom prst="roundRect">
            <a:avLst>
              <a:gd name="adj" fmla="val 47059"/>
            </a:avLst>
          </a:prstGeom>
          <a:solidFill>
            <a:srgbClr val="EDF6F4"/>
          </a:solidFill>
          <a:ln w="12700">
            <a:solidFill>
              <a:srgbClr val="C2DED9"/>
            </a:solidFill>
          </a:ln>
        </p:spPr>
        <p:txBody>
          <a:bodyPr wrap="square" lIns="0" tIns="0" rIns="0" bIns="0" rtlCol="0" anchor="ctr"/>
          <a:lstStyle/>
          <a:p>
            <a:pPr algn="ctr" indent="0" marL="0">
              <a:buNone/>
            </a:pPr>
            <a:r>
              <a:rPr lang="en-US" sz="1000" b="1" dirty="0">
                <a:solidFill>
                  <a:srgbClr val="0E2E2C"/>
                </a:solidFill>
                <a:latin typeface="Calibri" pitchFamily="34" charset="0"/>
                <a:ea typeface="Calibri" pitchFamily="34" charset="-122"/>
                <a:cs typeface="Calibri" pitchFamily="34" charset="-120"/>
              </a:rPr>
              <a:t>declines by design</a:t>
            </a:r>
            <a:endParaRPr lang="en-US" sz="1000" dirty="0"/>
          </a:p>
        </p:txBody>
      </p:sp>
      <p:sp>
        <p:nvSpPr>
          <p:cNvPr id="22" name="Text 20"/>
          <p:cNvSpPr txBox="1"/>
          <p:nvPr/>
        </p:nvSpPr>
        <p:spPr>
          <a:xfrm>
            <a:off x="548640" y="6355080"/>
            <a:ext cx="11064240" cy="292608"/>
          </a:xfrm>
          <a:prstGeom prst="rect">
            <a:avLst/>
          </a:prstGeom>
          <a:noFill/>
          <a:ln/>
        </p:spPr>
        <p:txBody>
          <a:bodyPr wrap="square" lIns="0" tIns="0" rIns="0" bIns="0" rtlCol="0" anchor="ctr"/>
          <a:lstStyle/>
          <a:p>
            <a:pPr indent="0" marL="0">
              <a:buNone/>
            </a:pPr>
            <a:r>
              <a:rPr lang="en-US" sz="1050" i="1" dirty="0">
                <a:solidFill>
                  <a:srgbClr val="4B6B68"/>
                </a:solidFill>
                <a:latin typeface="Calibri" pitchFamily="34" charset="0"/>
                <a:ea typeface="Calibri" pitchFamily="34" charset="-122"/>
                <a:cs typeface="Calibri" pitchFamily="34" charset="-120"/>
              </a:rPr>
              <a:t>Speed, correctness and honesty were not three separate goals — they are three readings of the same constraint.</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74320"/>
            <a:ext cx="5486400" cy="219456"/>
          </a:xfrm>
          <a:prstGeom prst="rect">
            <a:avLst/>
          </a:prstGeom>
          <a:noFill/>
          <a:ln/>
        </p:spPr>
        <p:txBody>
          <a:bodyPr wrap="square" lIns="0" tIns="0" rIns="0" bIns="0" rtlCol="0" anchor="ctr"/>
          <a:lstStyle/>
          <a:p>
            <a:pPr indent="0" marL="0">
              <a:buNone/>
            </a:pPr>
            <a:r>
              <a:rPr lang="en-US" sz="1050" b="1" spc="200" kern="0" dirty="0">
                <a:solidFill>
                  <a:srgbClr val="028090"/>
                </a:solidFill>
                <a:latin typeface="Calibri" pitchFamily="34" charset="0"/>
                <a:ea typeface="Calibri" pitchFamily="34" charset="-122"/>
                <a:cs typeface="Calibri" pitchFamily="34" charset="-120"/>
              </a:rPr>
              <a:t>REQUEST FLOW</a:t>
            </a:r>
            <a:endParaRPr lang="en-US" sz="1050" dirty="0"/>
          </a:p>
        </p:txBody>
      </p:sp>
      <p:sp>
        <p:nvSpPr>
          <p:cNvPr id="3" name="Text 1"/>
          <p:cNvSpPr txBox="1"/>
          <p:nvPr/>
        </p:nvSpPr>
        <p:spPr>
          <a:xfrm>
            <a:off x="548640" y="502920"/>
            <a:ext cx="6583680" cy="402336"/>
          </a:xfrm>
          <a:prstGeom prst="rect">
            <a:avLst/>
          </a:prstGeom>
          <a:noFill/>
          <a:ln/>
        </p:spPr>
        <p:txBody>
          <a:bodyPr wrap="square" lIns="0" tIns="0" rIns="0" bIns="0" rtlCol="0" anchor="ctr"/>
          <a:lstStyle/>
          <a:p>
            <a:pPr indent="0" marL="0">
              <a:buNone/>
            </a:pPr>
            <a:r>
              <a:rPr lang="en-US" sz="2600" b="1" dirty="0">
                <a:solidFill>
                  <a:srgbClr val="0E2E2C"/>
                </a:solidFill>
                <a:latin typeface="Cambria" pitchFamily="34" charset="0"/>
                <a:ea typeface="Cambria" pitchFamily="34" charset="-122"/>
                <a:cs typeface="Cambria" pitchFamily="34" charset="-120"/>
              </a:rPr>
              <a:t>A question, end to end</a:t>
            </a:r>
            <a:endParaRPr lang="en-US" sz="2600" dirty="0"/>
          </a:p>
        </p:txBody>
      </p:sp>
      <p:sp>
        <p:nvSpPr>
          <p:cNvPr id="4" name="Text 2"/>
          <p:cNvSpPr txBox="1"/>
          <p:nvPr/>
        </p:nvSpPr>
        <p:spPr>
          <a:xfrm>
            <a:off x="2788920" y="932688"/>
            <a:ext cx="4206240" cy="201168"/>
          </a:xfrm>
          <a:prstGeom prst="rect">
            <a:avLst/>
          </a:prstGeom>
          <a:noFill/>
          <a:ln/>
        </p:spPr>
        <p:txBody>
          <a:bodyPr wrap="square" lIns="0" tIns="0" rIns="0" bIns="0" rtlCol="0" anchor="ctr"/>
          <a:lstStyle/>
          <a:p>
            <a:pPr indent="0" marL="0">
              <a:buNone/>
            </a:pPr>
            <a:r>
              <a:rPr lang="en-US" sz="900" b="1" spc="150" kern="0" dirty="0">
                <a:solidFill>
                  <a:srgbClr val="4B6B68"/>
                </a:solidFill>
                <a:latin typeface="Calibri" pitchFamily="34" charset="0"/>
                <a:ea typeface="Calibri" pitchFamily="34" charset="-122"/>
                <a:cs typeface="Calibri" pitchFamily="34" charset="-120"/>
              </a:rPr>
              <a:t>THE PATH A QUESTION TAKES</a:t>
            </a:r>
            <a:endParaRPr lang="en-US" sz="900" dirty="0"/>
          </a:p>
        </p:txBody>
      </p:sp>
      <p:sp>
        <p:nvSpPr>
          <p:cNvPr id="5" name="Text 3"/>
          <p:cNvSpPr txBox="1"/>
          <p:nvPr/>
        </p:nvSpPr>
        <p:spPr>
          <a:xfrm>
            <a:off x="7635240" y="932688"/>
            <a:ext cx="4069080" cy="201168"/>
          </a:xfrm>
          <a:prstGeom prst="rect">
            <a:avLst/>
          </a:prstGeom>
          <a:noFill/>
          <a:ln/>
        </p:spPr>
        <p:txBody>
          <a:bodyPr wrap="square" lIns="0" tIns="0" rIns="0" bIns="0" rtlCol="0" anchor="ctr"/>
          <a:lstStyle/>
          <a:p>
            <a:pPr indent="0" marL="0">
              <a:buNone/>
            </a:pPr>
            <a:r>
              <a:rPr lang="en-US" sz="900" b="1" spc="150" kern="0" dirty="0">
                <a:solidFill>
                  <a:srgbClr val="4B6B68"/>
                </a:solidFill>
                <a:latin typeface="Calibri" pitchFamily="34" charset="0"/>
                <a:ea typeface="Calibri" pitchFamily="34" charset="-122"/>
                <a:cs typeface="Calibri" pitchFamily="34" charset="-120"/>
              </a:rPr>
              <a:t>WHERE A REQUEST CAN STOP INSTEAD</a:t>
            </a:r>
            <a:endParaRPr lang="en-US" sz="900" dirty="0"/>
          </a:p>
        </p:txBody>
      </p:sp>
      <p:sp>
        <p:nvSpPr>
          <p:cNvPr id="6" name="Shape 4"/>
          <p:cNvSpPr/>
          <p:nvPr/>
        </p:nvSpPr>
        <p:spPr>
          <a:xfrm>
            <a:off x="2788920" y="1207008"/>
            <a:ext cx="4206240" cy="457200"/>
          </a:xfrm>
          <a:prstGeom prst="roundRect">
            <a:avLst>
              <a:gd name="adj" fmla="val 16000"/>
            </a:avLst>
          </a:prstGeom>
          <a:solidFill>
            <a:srgbClr val="FFFFFF"/>
          </a:solidFill>
          <a:ln w="12700">
            <a:solidFill>
              <a:srgbClr val="C2DED9"/>
            </a:solidFill>
            <a:prstDash val="solid"/>
          </a:ln>
          <a:effectLst>
            <a:outerShdw sx="100000" sy="100000" kx="0" ky="0" algn="bl" rotWithShape="0" blurRad="127000" dist="25400" dir="5400000">
              <a:srgbClr val="0E2E2C">
                <a:alpha val="8000"/>
              </a:srgbClr>
            </a:outerShdw>
          </a:effectLst>
        </p:spPr>
      </p:sp>
      <p:sp>
        <p:nvSpPr>
          <p:cNvPr id="7" name="Text 5"/>
          <p:cNvSpPr txBox="1"/>
          <p:nvPr/>
        </p:nvSpPr>
        <p:spPr>
          <a:xfrm>
            <a:off x="2990088" y="1261872"/>
            <a:ext cx="3803904" cy="219456"/>
          </a:xfrm>
          <a:prstGeom prst="rect">
            <a:avLst/>
          </a:prstGeom>
          <a:noFill/>
          <a:ln/>
        </p:spPr>
        <p:txBody>
          <a:bodyPr wrap="square" lIns="0" tIns="0" rIns="0" bIns="0" rtlCol="0" anchor="ctr"/>
          <a:lstStyle/>
          <a:p>
            <a:pPr indent="0" marL="0">
              <a:buNone/>
            </a:pPr>
            <a:r>
              <a:rPr lang="en-US" sz="1150" b="1" dirty="0">
                <a:solidFill>
                  <a:srgbClr val="0E2E2C"/>
                </a:solidFill>
                <a:latin typeface="Courier New" pitchFamily="34" charset="0"/>
                <a:ea typeface="Courier New" pitchFamily="34" charset="-122"/>
                <a:cs typeface="Courier New" pitchFamily="34" charset="-120"/>
              </a:rPr>
              <a:t>POST /ask</a:t>
            </a:r>
            <a:endParaRPr lang="en-US" sz="1150" dirty="0"/>
          </a:p>
        </p:txBody>
      </p:sp>
      <p:sp>
        <p:nvSpPr>
          <p:cNvPr id="8" name="Text 6"/>
          <p:cNvSpPr txBox="1"/>
          <p:nvPr/>
        </p:nvSpPr>
        <p:spPr>
          <a:xfrm>
            <a:off x="2990088" y="1463040"/>
            <a:ext cx="3803904" cy="164592"/>
          </a:xfrm>
          <a:prstGeom prst="rect">
            <a:avLst/>
          </a:prstGeom>
          <a:noFill/>
          <a:ln/>
        </p:spPr>
        <p:txBody>
          <a:bodyPr wrap="square" lIns="0" tIns="0" rIns="0" bIns="0" rtlCol="0" anchor="t"/>
          <a:lstStyle/>
          <a:p>
            <a:pPr indent="0" marL="0">
              <a:buNone/>
            </a:pPr>
            <a:r>
              <a:rPr lang="en-US" sz="950" dirty="0">
                <a:solidFill>
                  <a:srgbClr val="4B6B68"/>
                </a:solidFill>
                <a:latin typeface="Calibri" pitchFamily="34" charset="0"/>
                <a:ea typeface="Calibri" pitchFamily="34" charset="-122"/>
                <a:cs typeface="Calibri" pitchFamily="34" charset="-120"/>
              </a:rPr>
              <a:t>the only way in</a:t>
            </a:r>
            <a:endParaRPr lang="en-US" sz="950" dirty="0"/>
          </a:p>
        </p:txBody>
      </p:sp>
      <p:sp>
        <p:nvSpPr>
          <p:cNvPr id="9" name="Shape 7"/>
          <p:cNvSpPr/>
          <p:nvPr/>
        </p:nvSpPr>
        <p:spPr>
          <a:xfrm>
            <a:off x="4892040" y="1664208"/>
            <a:ext cx="0" cy="146304"/>
          </a:xfrm>
          <a:prstGeom prst="line">
            <a:avLst/>
          </a:prstGeom>
          <a:noFill/>
          <a:ln w="22225">
            <a:solidFill>
              <a:srgbClr val="028090"/>
            </a:solidFill>
            <a:prstDash val="solid"/>
            <a:tailEnd type="triangle"/>
          </a:ln>
        </p:spPr>
      </p:sp>
      <p:sp>
        <p:nvSpPr>
          <p:cNvPr id="10" name="Shape 8"/>
          <p:cNvSpPr/>
          <p:nvPr/>
        </p:nvSpPr>
        <p:spPr>
          <a:xfrm>
            <a:off x="2788920" y="1810512"/>
            <a:ext cx="4206240" cy="457200"/>
          </a:xfrm>
          <a:prstGeom prst="roundRect">
            <a:avLst>
              <a:gd name="adj" fmla="val 16000"/>
            </a:avLst>
          </a:prstGeom>
          <a:solidFill>
            <a:srgbClr val="FFFFFF"/>
          </a:solidFill>
          <a:ln w="12700">
            <a:solidFill>
              <a:srgbClr val="C2DED9"/>
            </a:solidFill>
            <a:prstDash val="solid"/>
          </a:ln>
          <a:effectLst>
            <a:outerShdw sx="100000" sy="100000" kx="0" ky="0" algn="bl" rotWithShape="0" blurRad="127000" dist="25400" dir="5400000">
              <a:srgbClr val="0E2E2C">
                <a:alpha val="8000"/>
              </a:srgbClr>
            </a:outerShdw>
          </a:effectLst>
        </p:spPr>
      </p:sp>
      <p:sp>
        <p:nvSpPr>
          <p:cNvPr id="11" name="Text 9"/>
          <p:cNvSpPr txBox="1"/>
          <p:nvPr/>
        </p:nvSpPr>
        <p:spPr>
          <a:xfrm>
            <a:off x="2990088" y="1865376"/>
            <a:ext cx="3803904" cy="219456"/>
          </a:xfrm>
          <a:prstGeom prst="rect">
            <a:avLst/>
          </a:prstGeom>
          <a:noFill/>
          <a:ln/>
        </p:spPr>
        <p:txBody>
          <a:bodyPr wrap="square" lIns="0" tIns="0" rIns="0" bIns="0" rtlCol="0" anchor="ctr"/>
          <a:lstStyle/>
          <a:p>
            <a:pPr indent="0" marL="0">
              <a:buNone/>
            </a:pPr>
            <a:r>
              <a:rPr lang="en-US" sz="1150" b="1" dirty="0">
                <a:solidFill>
                  <a:srgbClr val="0E2E2C"/>
                </a:solidFill>
                <a:latin typeface="Courier New" pitchFamily="34" charset="0"/>
                <a:ea typeface="Courier New" pitchFamily="34" charset="-122"/>
                <a:cs typeface="Courier New" pitchFamily="34" charset="-120"/>
              </a:rPr>
              <a:t>readiness.ready?</a:t>
            </a:r>
            <a:endParaRPr lang="en-US" sz="1150" dirty="0"/>
          </a:p>
        </p:txBody>
      </p:sp>
      <p:sp>
        <p:nvSpPr>
          <p:cNvPr id="12" name="Text 10"/>
          <p:cNvSpPr txBox="1"/>
          <p:nvPr/>
        </p:nvSpPr>
        <p:spPr>
          <a:xfrm>
            <a:off x="2990088" y="2066544"/>
            <a:ext cx="3803904" cy="164592"/>
          </a:xfrm>
          <a:prstGeom prst="rect">
            <a:avLst/>
          </a:prstGeom>
          <a:noFill/>
          <a:ln/>
        </p:spPr>
        <p:txBody>
          <a:bodyPr wrap="square" lIns="0" tIns="0" rIns="0" bIns="0" rtlCol="0" anchor="t"/>
          <a:lstStyle/>
          <a:p>
            <a:pPr indent="0" marL="0">
              <a:buNone/>
            </a:pPr>
            <a:r>
              <a:rPr lang="en-US" sz="950" dirty="0">
                <a:solidFill>
                  <a:srgbClr val="4B6B68"/>
                </a:solidFill>
                <a:latin typeface="Calibri" pitchFamily="34" charset="0"/>
                <a:ea typeface="Calibri" pitchFamily="34" charset="-122"/>
                <a:cs typeface="Calibri" pitchFamily="34" charset="-120"/>
              </a:rPr>
              <a:t>nothing runs until every check is green</a:t>
            </a:r>
            <a:endParaRPr lang="en-US" sz="950" dirty="0"/>
          </a:p>
        </p:txBody>
      </p:sp>
      <p:sp>
        <p:nvSpPr>
          <p:cNvPr id="13" name="Shape 11"/>
          <p:cNvSpPr/>
          <p:nvPr/>
        </p:nvSpPr>
        <p:spPr>
          <a:xfrm>
            <a:off x="4892040" y="2267712"/>
            <a:ext cx="0" cy="146304"/>
          </a:xfrm>
          <a:prstGeom prst="line">
            <a:avLst/>
          </a:prstGeom>
          <a:noFill/>
          <a:ln w="22225">
            <a:solidFill>
              <a:srgbClr val="028090"/>
            </a:solidFill>
            <a:prstDash val="solid"/>
            <a:tailEnd type="triangle"/>
          </a:ln>
        </p:spPr>
      </p:sp>
      <p:sp>
        <p:nvSpPr>
          <p:cNvPr id="14" name="Shape 12"/>
          <p:cNvSpPr/>
          <p:nvPr/>
        </p:nvSpPr>
        <p:spPr>
          <a:xfrm>
            <a:off x="2788920" y="2414016"/>
            <a:ext cx="4206240" cy="457200"/>
          </a:xfrm>
          <a:prstGeom prst="roundRect">
            <a:avLst>
              <a:gd name="adj" fmla="val 16000"/>
            </a:avLst>
          </a:prstGeom>
          <a:solidFill>
            <a:srgbClr val="FFFFFF"/>
          </a:solidFill>
          <a:ln w="12700">
            <a:solidFill>
              <a:srgbClr val="C2DED9"/>
            </a:solidFill>
            <a:prstDash val="solid"/>
          </a:ln>
          <a:effectLst>
            <a:outerShdw sx="100000" sy="100000" kx="0" ky="0" algn="bl" rotWithShape="0" blurRad="127000" dist="25400" dir="5400000">
              <a:srgbClr val="0E2E2C">
                <a:alpha val="8000"/>
              </a:srgbClr>
            </a:outerShdw>
          </a:effectLst>
        </p:spPr>
      </p:sp>
      <p:sp>
        <p:nvSpPr>
          <p:cNvPr id="15" name="Text 13"/>
          <p:cNvSpPr txBox="1"/>
          <p:nvPr/>
        </p:nvSpPr>
        <p:spPr>
          <a:xfrm>
            <a:off x="2990088" y="2468880"/>
            <a:ext cx="3803904" cy="219456"/>
          </a:xfrm>
          <a:prstGeom prst="rect">
            <a:avLst/>
          </a:prstGeom>
          <a:noFill/>
          <a:ln/>
        </p:spPr>
        <p:txBody>
          <a:bodyPr wrap="square" lIns="0" tIns="0" rIns="0" bIns="0" rtlCol="0" anchor="ctr"/>
          <a:lstStyle/>
          <a:p>
            <a:pPr indent="0" marL="0">
              <a:buNone/>
            </a:pPr>
            <a:r>
              <a:rPr lang="en-US" sz="1150" b="1" dirty="0">
                <a:solidFill>
                  <a:srgbClr val="0E2E2C"/>
                </a:solidFill>
                <a:latin typeface="Courier New" pitchFamily="34" charset="0"/>
                <a:ea typeface="Courier New" pitchFamily="34" charset="-122"/>
                <a:cs typeface="Courier New" pitchFamily="34" charset="-120"/>
              </a:rPr>
              <a:t>templates.match_template()</a:t>
            </a:r>
            <a:endParaRPr lang="en-US" sz="1150" dirty="0"/>
          </a:p>
        </p:txBody>
      </p:sp>
      <p:sp>
        <p:nvSpPr>
          <p:cNvPr id="16" name="Text 14"/>
          <p:cNvSpPr txBox="1"/>
          <p:nvPr/>
        </p:nvSpPr>
        <p:spPr>
          <a:xfrm>
            <a:off x="2990088" y="2670048"/>
            <a:ext cx="3803904" cy="164592"/>
          </a:xfrm>
          <a:prstGeom prst="rect">
            <a:avLst/>
          </a:prstGeom>
          <a:noFill/>
          <a:ln/>
        </p:spPr>
        <p:txBody>
          <a:bodyPr wrap="square" lIns="0" tIns="0" rIns="0" bIns="0" rtlCol="0" anchor="t"/>
          <a:lstStyle/>
          <a:p>
            <a:pPr indent="0" marL="0">
              <a:buNone/>
            </a:pPr>
            <a:r>
              <a:rPr lang="en-US" sz="950" dirty="0">
                <a:solidFill>
                  <a:srgbClr val="4B6B68"/>
                </a:solidFill>
                <a:latin typeface="Calibri" pitchFamily="34" charset="0"/>
                <a:ea typeface="Calibri" pitchFamily="34" charset="-122"/>
                <a:cs typeface="Calibri" pitchFamily="34" charset="-120"/>
              </a:rPr>
              <a:t>11 hand-written templates · exact, reproducible SQL</a:t>
            </a:r>
            <a:endParaRPr lang="en-US" sz="950" dirty="0"/>
          </a:p>
        </p:txBody>
      </p:sp>
      <p:sp>
        <p:nvSpPr>
          <p:cNvPr id="17" name="Shape 15"/>
          <p:cNvSpPr/>
          <p:nvPr/>
        </p:nvSpPr>
        <p:spPr>
          <a:xfrm>
            <a:off x="4892040" y="2871216"/>
            <a:ext cx="0" cy="146304"/>
          </a:xfrm>
          <a:prstGeom prst="line">
            <a:avLst/>
          </a:prstGeom>
          <a:noFill/>
          <a:ln w="22225">
            <a:solidFill>
              <a:srgbClr val="028090"/>
            </a:solidFill>
            <a:prstDash val="solid"/>
            <a:tailEnd type="triangle"/>
          </a:ln>
        </p:spPr>
      </p:sp>
      <p:sp>
        <p:nvSpPr>
          <p:cNvPr id="18" name="Shape 16"/>
          <p:cNvSpPr/>
          <p:nvPr/>
        </p:nvSpPr>
        <p:spPr>
          <a:xfrm>
            <a:off x="2788920" y="3017520"/>
            <a:ext cx="4206240" cy="685800"/>
          </a:xfrm>
          <a:prstGeom prst="roundRect">
            <a:avLst>
              <a:gd name="adj" fmla="val 10667"/>
            </a:avLst>
          </a:prstGeom>
          <a:solidFill>
            <a:srgbClr val="FFFFFF"/>
          </a:solidFill>
          <a:ln w="12700">
            <a:solidFill>
              <a:srgbClr val="C2DED9"/>
            </a:solidFill>
            <a:prstDash val="solid"/>
          </a:ln>
          <a:effectLst>
            <a:outerShdw sx="100000" sy="100000" kx="0" ky="0" algn="bl" rotWithShape="0" blurRad="127000" dist="25400" dir="5400000">
              <a:srgbClr val="0E2E2C">
                <a:alpha val="8000"/>
              </a:srgbClr>
            </a:outerShdw>
          </a:effectLst>
        </p:spPr>
      </p:sp>
      <p:sp>
        <p:nvSpPr>
          <p:cNvPr id="19" name="Text 17"/>
          <p:cNvSpPr txBox="1"/>
          <p:nvPr/>
        </p:nvSpPr>
        <p:spPr>
          <a:xfrm>
            <a:off x="2990088" y="3072384"/>
            <a:ext cx="3803904" cy="219456"/>
          </a:xfrm>
          <a:prstGeom prst="rect">
            <a:avLst/>
          </a:prstGeom>
          <a:noFill/>
          <a:ln/>
        </p:spPr>
        <p:txBody>
          <a:bodyPr wrap="square" lIns="0" tIns="0" rIns="0" bIns="0" rtlCol="0" anchor="ctr"/>
          <a:lstStyle/>
          <a:p>
            <a:pPr indent="0" marL="0">
              <a:buNone/>
            </a:pPr>
            <a:r>
              <a:rPr lang="en-US" sz="1150" b="1" dirty="0">
                <a:solidFill>
                  <a:srgbClr val="0E2E2C"/>
                </a:solidFill>
                <a:latin typeface="Courier New" pitchFamily="34" charset="0"/>
                <a:ea typeface="Courier New" pitchFamily="34" charset="-122"/>
                <a:cs typeface="Courier New" pitchFamily="34" charset="-120"/>
              </a:rPr>
              <a:t>llm_query.generate_sql()</a:t>
            </a:r>
            <a:endParaRPr lang="en-US" sz="1150" dirty="0"/>
          </a:p>
        </p:txBody>
      </p:sp>
      <p:sp>
        <p:nvSpPr>
          <p:cNvPr id="20" name="Text 18"/>
          <p:cNvSpPr txBox="1"/>
          <p:nvPr/>
        </p:nvSpPr>
        <p:spPr>
          <a:xfrm>
            <a:off x="2990088" y="3273552"/>
            <a:ext cx="3803904" cy="393192"/>
          </a:xfrm>
          <a:prstGeom prst="rect">
            <a:avLst/>
          </a:prstGeom>
          <a:noFill/>
          <a:ln/>
        </p:spPr>
        <p:txBody>
          <a:bodyPr wrap="square" lIns="0" tIns="0" rIns="0" bIns="0" rtlCol="0" anchor="t"/>
          <a:lstStyle/>
          <a:p>
            <a:pPr indent="0" marL="0">
              <a:buNone/>
            </a:pPr>
            <a:r>
              <a:rPr lang="en-US" sz="950" dirty="0">
                <a:solidFill>
                  <a:srgbClr val="4B6B68"/>
                </a:solidFill>
                <a:latin typeface="Calibri" pitchFamily="34" charset="0"/>
                <a:ea typeface="Calibri" pitchFamily="34" charset="-122"/>
                <a:cs typeface="Calibri" pitchFamily="34" charset="-120"/>
              </a:rPr>
              <a:t>only on a miss · schema.yaml + few-shot</a:t>
            </a:r>
            <a:endParaRPr lang="en-US" sz="950" dirty="0"/>
          </a:p>
          <a:p>
            <a:pPr indent="0" marL="0">
              <a:buNone/>
            </a:pPr>
            <a:r>
              <a:rPr lang="en-US" sz="950" dirty="0">
                <a:solidFill>
                  <a:srgbClr val="4B6B68"/>
                </a:solidFill>
                <a:latin typeface="Calibri" pitchFamily="34" charset="0"/>
                <a:ea typeface="Calibri" pitchFamily="34" charset="-122"/>
                <a:cs typeface="Calibri" pitchFamily="34" charset="-120"/>
              </a:rPr>
              <a:t>waits for a warm model · 10–30 s</a:t>
            </a:r>
            <a:endParaRPr lang="en-US" sz="950" dirty="0"/>
          </a:p>
        </p:txBody>
      </p:sp>
      <p:sp>
        <p:nvSpPr>
          <p:cNvPr id="21" name="Shape 19"/>
          <p:cNvSpPr/>
          <p:nvPr/>
        </p:nvSpPr>
        <p:spPr>
          <a:xfrm>
            <a:off x="4892040" y="3703320"/>
            <a:ext cx="0" cy="146304"/>
          </a:xfrm>
          <a:prstGeom prst="line">
            <a:avLst/>
          </a:prstGeom>
          <a:noFill/>
          <a:ln w="22225">
            <a:solidFill>
              <a:srgbClr val="028090"/>
            </a:solidFill>
            <a:prstDash val="solid"/>
            <a:tailEnd type="triangle"/>
          </a:ln>
        </p:spPr>
      </p:sp>
      <p:sp>
        <p:nvSpPr>
          <p:cNvPr id="22" name="Shape 20"/>
          <p:cNvSpPr/>
          <p:nvPr/>
        </p:nvSpPr>
        <p:spPr>
          <a:xfrm>
            <a:off x="2788920" y="3849624"/>
            <a:ext cx="4206240" cy="457200"/>
          </a:xfrm>
          <a:prstGeom prst="roundRect">
            <a:avLst>
              <a:gd name="adj" fmla="val 16000"/>
            </a:avLst>
          </a:prstGeom>
          <a:solidFill>
            <a:srgbClr val="A63D2F"/>
          </a:solidFill>
          <a:ln w="12700">
            <a:solidFill>
              <a:srgbClr val="A63D2F"/>
            </a:solidFill>
            <a:prstDash val="solid"/>
          </a:ln>
          <a:effectLst>
            <a:outerShdw sx="100000" sy="100000" kx="0" ky="0" algn="bl" rotWithShape="0" blurRad="127000" dist="25400" dir="5400000">
              <a:srgbClr val="0E2E2C">
                <a:alpha val="8000"/>
              </a:srgbClr>
            </a:outerShdw>
          </a:effectLst>
        </p:spPr>
      </p:sp>
      <p:sp>
        <p:nvSpPr>
          <p:cNvPr id="23" name="Text 21"/>
          <p:cNvSpPr txBox="1"/>
          <p:nvPr/>
        </p:nvSpPr>
        <p:spPr>
          <a:xfrm>
            <a:off x="2990088" y="3904488"/>
            <a:ext cx="3803904" cy="219456"/>
          </a:xfrm>
          <a:prstGeom prst="rect">
            <a:avLst/>
          </a:prstGeom>
          <a:noFill/>
          <a:ln/>
        </p:spPr>
        <p:txBody>
          <a:bodyPr wrap="square" lIns="0" tIns="0" rIns="0" bIns="0" rtlCol="0" anchor="ctr"/>
          <a:lstStyle/>
          <a:p>
            <a:pPr indent="0" marL="0">
              <a:buNone/>
            </a:pPr>
            <a:r>
              <a:rPr lang="en-US" sz="1150" b="1" dirty="0">
                <a:solidFill>
                  <a:srgbClr val="FFFFFF"/>
                </a:solidFill>
                <a:latin typeface="Courier New" pitchFamily="34" charset="0"/>
                <a:ea typeface="Courier New" pitchFamily="34" charset="-122"/>
                <a:cs typeface="Courier New" pitchFamily="34" charset="-120"/>
              </a:rPr>
              <a:t>sql_guard.validate()</a:t>
            </a:r>
            <a:endParaRPr lang="en-US" sz="1150" dirty="0"/>
          </a:p>
        </p:txBody>
      </p:sp>
      <p:sp>
        <p:nvSpPr>
          <p:cNvPr id="24" name="Text 22"/>
          <p:cNvSpPr txBox="1"/>
          <p:nvPr/>
        </p:nvSpPr>
        <p:spPr>
          <a:xfrm>
            <a:off x="2990088" y="4105656"/>
            <a:ext cx="3803904" cy="164592"/>
          </a:xfrm>
          <a:prstGeom prst="rect">
            <a:avLst/>
          </a:prstGeom>
          <a:noFill/>
          <a:ln/>
        </p:spPr>
        <p:txBody>
          <a:bodyPr wrap="square" lIns="0" tIns="0" rIns="0" bIns="0" rtlCol="0" anchor="t"/>
          <a:lstStyle/>
          <a:p>
            <a:pPr indent="0" marL="0">
              <a:buNone/>
            </a:pPr>
            <a:r>
              <a:rPr lang="en-US" sz="950" dirty="0">
                <a:solidFill>
                  <a:srgbClr val="F0CFC8"/>
                </a:solidFill>
                <a:latin typeface="Calibri" pitchFamily="34" charset="0"/>
                <a:ea typeface="Calibri" pitchFamily="34" charset="-122"/>
                <a:cs typeface="Calibri" pitchFamily="34" charset="-120"/>
              </a:rPr>
              <a:t>sqlglot · both routes join here</a:t>
            </a:r>
            <a:endParaRPr lang="en-US" sz="950" dirty="0"/>
          </a:p>
        </p:txBody>
      </p:sp>
      <p:sp>
        <p:nvSpPr>
          <p:cNvPr id="25" name="Shape 23"/>
          <p:cNvSpPr/>
          <p:nvPr/>
        </p:nvSpPr>
        <p:spPr>
          <a:xfrm>
            <a:off x="4892040" y="4306824"/>
            <a:ext cx="0" cy="146304"/>
          </a:xfrm>
          <a:prstGeom prst="line">
            <a:avLst/>
          </a:prstGeom>
          <a:noFill/>
          <a:ln w="22225">
            <a:solidFill>
              <a:srgbClr val="028090"/>
            </a:solidFill>
            <a:prstDash val="solid"/>
            <a:tailEnd type="triangle"/>
          </a:ln>
        </p:spPr>
      </p:sp>
      <p:sp>
        <p:nvSpPr>
          <p:cNvPr id="26" name="Shape 24"/>
          <p:cNvSpPr/>
          <p:nvPr/>
        </p:nvSpPr>
        <p:spPr>
          <a:xfrm>
            <a:off x="2788920" y="4453128"/>
            <a:ext cx="4206240" cy="457200"/>
          </a:xfrm>
          <a:prstGeom prst="roundRect">
            <a:avLst>
              <a:gd name="adj" fmla="val 16000"/>
            </a:avLst>
          </a:prstGeom>
          <a:solidFill>
            <a:srgbClr val="FFFFFF"/>
          </a:solidFill>
          <a:ln w="12700">
            <a:solidFill>
              <a:srgbClr val="C2DED9"/>
            </a:solidFill>
            <a:prstDash val="solid"/>
          </a:ln>
          <a:effectLst>
            <a:outerShdw sx="100000" sy="100000" kx="0" ky="0" algn="bl" rotWithShape="0" blurRad="127000" dist="25400" dir="5400000">
              <a:srgbClr val="0E2E2C">
                <a:alpha val="8000"/>
              </a:srgbClr>
            </a:outerShdw>
          </a:effectLst>
        </p:spPr>
      </p:sp>
      <p:sp>
        <p:nvSpPr>
          <p:cNvPr id="27" name="Text 25"/>
          <p:cNvSpPr txBox="1"/>
          <p:nvPr/>
        </p:nvSpPr>
        <p:spPr>
          <a:xfrm>
            <a:off x="2990088" y="4507992"/>
            <a:ext cx="3803904" cy="219456"/>
          </a:xfrm>
          <a:prstGeom prst="rect">
            <a:avLst/>
          </a:prstGeom>
          <a:noFill/>
          <a:ln/>
        </p:spPr>
        <p:txBody>
          <a:bodyPr wrap="square" lIns="0" tIns="0" rIns="0" bIns="0" rtlCol="0" anchor="ctr"/>
          <a:lstStyle/>
          <a:p>
            <a:pPr indent="0" marL="0">
              <a:buNone/>
            </a:pPr>
            <a:r>
              <a:rPr lang="en-US" sz="1150" b="1" dirty="0">
                <a:solidFill>
                  <a:srgbClr val="0E2E2C"/>
                </a:solidFill>
                <a:latin typeface="Courier New" pitchFamily="34" charset="0"/>
                <a:ea typeface="Courier New" pitchFamily="34" charset="-122"/>
                <a:cs typeface="Courier New" pitchFamily="34" charset="-120"/>
              </a:rPr>
              <a:t>dialect.to_driver_sql()</a:t>
            </a:r>
            <a:endParaRPr lang="en-US" sz="1150" dirty="0"/>
          </a:p>
        </p:txBody>
      </p:sp>
      <p:sp>
        <p:nvSpPr>
          <p:cNvPr id="28" name="Text 26"/>
          <p:cNvSpPr txBox="1"/>
          <p:nvPr/>
        </p:nvSpPr>
        <p:spPr>
          <a:xfrm>
            <a:off x="2990088" y="4709160"/>
            <a:ext cx="3803904" cy="164592"/>
          </a:xfrm>
          <a:prstGeom prst="rect">
            <a:avLst/>
          </a:prstGeom>
          <a:noFill/>
          <a:ln/>
        </p:spPr>
        <p:txBody>
          <a:bodyPr wrap="square" lIns="0" tIns="0" rIns="0" bIns="0" rtlCol="0" anchor="t"/>
          <a:lstStyle/>
          <a:p>
            <a:pPr indent="0" marL="0">
              <a:buNone/>
            </a:pPr>
            <a:r>
              <a:rPr lang="en-US" sz="950" dirty="0">
                <a:solidFill>
                  <a:srgbClr val="4B6B68"/>
                </a:solidFill>
                <a:latin typeface="Calibri" pitchFamily="34" charset="0"/>
                <a:ea typeface="Calibri" pitchFamily="34" charset="-122"/>
                <a:cs typeface="Calibri" pitchFamily="34" charset="-120"/>
              </a:rPr>
              <a:t>? → %s · the only vendor-aware step</a:t>
            </a:r>
            <a:endParaRPr lang="en-US" sz="950" dirty="0"/>
          </a:p>
        </p:txBody>
      </p:sp>
      <p:sp>
        <p:nvSpPr>
          <p:cNvPr id="29" name="Shape 27"/>
          <p:cNvSpPr/>
          <p:nvPr/>
        </p:nvSpPr>
        <p:spPr>
          <a:xfrm>
            <a:off x="4892040" y="4910328"/>
            <a:ext cx="0" cy="146304"/>
          </a:xfrm>
          <a:prstGeom prst="line">
            <a:avLst/>
          </a:prstGeom>
          <a:noFill/>
          <a:ln w="22225">
            <a:solidFill>
              <a:srgbClr val="028090"/>
            </a:solidFill>
            <a:prstDash val="solid"/>
            <a:tailEnd type="triangle"/>
          </a:ln>
        </p:spPr>
      </p:sp>
      <p:sp>
        <p:nvSpPr>
          <p:cNvPr id="30" name="Shape 28"/>
          <p:cNvSpPr/>
          <p:nvPr/>
        </p:nvSpPr>
        <p:spPr>
          <a:xfrm>
            <a:off x="2788920" y="5056632"/>
            <a:ext cx="4206240" cy="457200"/>
          </a:xfrm>
          <a:prstGeom prst="roundRect">
            <a:avLst>
              <a:gd name="adj" fmla="val 16000"/>
            </a:avLst>
          </a:prstGeom>
          <a:solidFill>
            <a:srgbClr val="1F5F3F"/>
          </a:solidFill>
          <a:ln w="12700">
            <a:solidFill>
              <a:srgbClr val="1F5F3F"/>
            </a:solidFill>
            <a:prstDash val="solid"/>
          </a:ln>
          <a:effectLst>
            <a:outerShdw sx="100000" sy="100000" kx="0" ky="0" algn="bl" rotWithShape="0" blurRad="127000" dist="25400" dir="5400000">
              <a:srgbClr val="0E2E2C">
                <a:alpha val="8000"/>
              </a:srgbClr>
            </a:outerShdw>
          </a:effectLst>
        </p:spPr>
      </p:sp>
      <p:sp>
        <p:nvSpPr>
          <p:cNvPr id="31" name="Text 29"/>
          <p:cNvSpPr txBox="1"/>
          <p:nvPr/>
        </p:nvSpPr>
        <p:spPr>
          <a:xfrm>
            <a:off x="2990088" y="5111496"/>
            <a:ext cx="3803904" cy="219456"/>
          </a:xfrm>
          <a:prstGeom prst="rect">
            <a:avLst/>
          </a:prstGeom>
          <a:noFill/>
          <a:ln/>
        </p:spPr>
        <p:txBody>
          <a:bodyPr wrap="square" lIns="0" tIns="0" rIns="0" bIns="0" rtlCol="0" anchor="ctr"/>
          <a:lstStyle/>
          <a:p>
            <a:pPr indent="0" marL="0">
              <a:buNone/>
            </a:pPr>
            <a:r>
              <a:rPr lang="en-US" sz="1150" b="1" dirty="0">
                <a:solidFill>
                  <a:srgbClr val="FFFFFF"/>
                </a:solidFill>
                <a:latin typeface="Courier New" pitchFamily="34" charset="0"/>
                <a:ea typeface="Courier New" pitchFamily="34" charset="-122"/>
                <a:cs typeface="Courier New" pitchFamily="34" charset="-120"/>
              </a:rPr>
              <a:t>run_select() as readonly_user</a:t>
            </a:r>
            <a:endParaRPr lang="en-US" sz="1150" dirty="0"/>
          </a:p>
        </p:txBody>
      </p:sp>
      <p:sp>
        <p:nvSpPr>
          <p:cNvPr id="32" name="Text 30"/>
          <p:cNvSpPr txBox="1"/>
          <p:nvPr/>
        </p:nvSpPr>
        <p:spPr>
          <a:xfrm>
            <a:off x="2990088" y="5312664"/>
            <a:ext cx="3803904" cy="164592"/>
          </a:xfrm>
          <a:prstGeom prst="rect">
            <a:avLst/>
          </a:prstGeom>
          <a:noFill/>
          <a:ln/>
        </p:spPr>
        <p:txBody>
          <a:bodyPr wrap="square" lIns="0" tIns="0" rIns="0" bIns="0" rtlCol="0" anchor="t"/>
          <a:lstStyle/>
          <a:p>
            <a:pPr indent="0" marL="0">
              <a:buNone/>
            </a:pPr>
            <a:r>
              <a:rPr lang="en-US" sz="950" dirty="0">
                <a:solidFill>
                  <a:srgbClr val="BFDDCB"/>
                </a:solidFill>
                <a:latin typeface="Calibri" pitchFamily="34" charset="0"/>
                <a:ea typeface="Calibri" pitchFamily="34" charset="-122"/>
                <a:cs typeface="Calibri" pitchFamily="34" charset="-120"/>
              </a:rPr>
              <a:t>SELECT-only role · statement_timeout</a:t>
            </a:r>
            <a:endParaRPr lang="en-US" sz="950" dirty="0"/>
          </a:p>
        </p:txBody>
      </p:sp>
      <p:sp>
        <p:nvSpPr>
          <p:cNvPr id="33" name="Shape 31"/>
          <p:cNvSpPr/>
          <p:nvPr/>
        </p:nvSpPr>
        <p:spPr>
          <a:xfrm>
            <a:off x="4892040" y="5513832"/>
            <a:ext cx="0" cy="146304"/>
          </a:xfrm>
          <a:prstGeom prst="line">
            <a:avLst/>
          </a:prstGeom>
          <a:noFill/>
          <a:ln w="22225">
            <a:solidFill>
              <a:srgbClr val="028090"/>
            </a:solidFill>
            <a:prstDash val="solid"/>
            <a:tailEnd type="triangle"/>
          </a:ln>
        </p:spPr>
      </p:sp>
      <p:sp>
        <p:nvSpPr>
          <p:cNvPr id="34" name="Shape 32"/>
          <p:cNvSpPr/>
          <p:nvPr/>
        </p:nvSpPr>
        <p:spPr>
          <a:xfrm>
            <a:off x="2788920" y="5660136"/>
            <a:ext cx="4206240" cy="566928"/>
          </a:xfrm>
          <a:prstGeom prst="roundRect">
            <a:avLst>
              <a:gd name="adj" fmla="val 12903"/>
            </a:avLst>
          </a:prstGeom>
          <a:solidFill>
            <a:srgbClr val="028090"/>
          </a:solidFill>
          <a:ln w="12700">
            <a:solidFill>
              <a:srgbClr val="028090"/>
            </a:solidFill>
            <a:prstDash val="solid"/>
          </a:ln>
          <a:effectLst>
            <a:outerShdw sx="100000" sy="100000" kx="0" ky="0" algn="bl" rotWithShape="0" blurRad="127000" dist="25400" dir="5400000">
              <a:srgbClr val="0E2E2C">
                <a:alpha val="8000"/>
              </a:srgbClr>
            </a:outerShdw>
          </a:effectLst>
        </p:spPr>
      </p:sp>
      <p:sp>
        <p:nvSpPr>
          <p:cNvPr id="35" name="Text 33"/>
          <p:cNvSpPr txBox="1"/>
          <p:nvPr/>
        </p:nvSpPr>
        <p:spPr>
          <a:xfrm>
            <a:off x="2990088" y="5715000"/>
            <a:ext cx="3803904" cy="219456"/>
          </a:xfrm>
          <a:prstGeom prst="rect">
            <a:avLst/>
          </a:prstGeom>
          <a:noFill/>
          <a:ln/>
        </p:spPr>
        <p:txBody>
          <a:bodyPr wrap="square" lIns="0" tIns="0" rIns="0" bIns="0" rtlCol="0" anchor="ctr"/>
          <a:lstStyle/>
          <a:p>
            <a:pPr indent="0" marL="0">
              <a:buNone/>
            </a:pPr>
            <a:r>
              <a:rPr lang="en-US" sz="1150" b="1" dirty="0">
                <a:solidFill>
                  <a:srgbClr val="FFFFFF"/>
                </a:solidFill>
                <a:latin typeface="Courier New" pitchFamily="34" charset="0"/>
                <a:ea typeface="Courier New" pitchFamily="34" charset="-122"/>
                <a:cs typeface="Courier New" pitchFamily="34" charset="-120"/>
              </a:rPr>
              <a:t>responder.summarise()</a:t>
            </a:r>
            <a:endParaRPr lang="en-US" sz="1150" dirty="0"/>
          </a:p>
        </p:txBody>
      </p:sp>
      <p:sp>
        <p:nvSpPr>
          <p:cNvPr id="36" name="Text 34"/>
          <p:cNvSpPr txBox="1"/>
          <p:nvPr/>
        </p:nvSpPr>
        <p:spPr>
          <a:xfrm>
            <a:off x="2990088" y="5916168"/>
            <a:ext cx="3803904" cy="274320"/>
          </a:xfrm>
          <a:prstGeom prst="rect">
            <a:avLst/>
          </a:prstGeom>
          <a:noFill/>
          <a:ln/>
        </p:spPr>
        <p:txBody>
          <a:bodyPr wrap="square" lIns="0" tIns="0" rIns="0" bIns="0" rtlCol="0" anchor="t"/>
          <a:lstStyle/>
          <a:p>
            <a:pPr indent="0" marL="0">
              <a:buNone/>
            </a:pPr>
            <a:r>
              <a:rPr lang="en-US" sz="950" dirty="0">
                <a:solidFill>
                  <a:srgbClr val="CFEBE6"/>
                </a:solidFill>
                <a:latin typeface="Calibri" pitchFamily="34" charset="0"/>
                <a:ea typeface="Calibri" pitchFamily="34" charset="-122"/>
                <a:cs typeface="Calibri" pitchFamily="34" charset="-120"/>
              </a:rPr>
              <a:t>→ answer envelope: sql · params · rows · timings</a:t>
            </a:r>
            <a:endParaRPr lang="en-US" sz="950" dirty="0"/>
          </a:p>
        </p:txBody>
      </p:sp>
      <p:sp>
        <p:nvSpPr>
          <p:cNvPr id="37" name="Shape 35"/>
          <p:cNvSpPr/>
          <p:nvPr/>
        </p:nvSpPr>
        <p:spPr>
          <a:xfrm>
            <a:off x="2395728" y="2642616"/>
            <a:ext cx="393192" cy="0"/>
          </a:xfrm>
          <a:prstGeom prst="line">
            <a:avLst/>
          </a:prstGeom>
          <a:noFill/>
          <a:ln w="22225">
            <a:solidFill>
              <a:srgbClr val="00A896"/>
            </a:solidFill>
            <a:prstDash val="solid"/>
          </a:ln>
        </p:spPr>
      </p:sp>
      <p:sp>
        <p:nvSpPr>
          <p:cNvPr id="38" name="Shape 36"/>
          <p:cNvSpPr/>
          <p:nvPr/>
        </p:nvSpPr>
        <p:spPr>
          <a:xfrm>
            <a:off x="2395728" y="2642616"/>
            <a:ext cx="0" cy="1435608"/>
          </a:xfrm>
          <a:prstGeom prst="line">
            <a:avLst/>
          </a:prstGeom>
          <a:noFill/>
          <a:ln w="22225">
            <a:solidFill>
              <a:srgbClr val="00A896"/>
            </a:solidFill>
            <a:prstDash val="solid"/>
          </a:ln>
        </p:spPr>
      </p:sp>
      <p:sp>
        <p:nvSpPr>
          <p:cNvPr id="39" name="Shape 37"/>
          <p:cNvSpPr/>
          <p:nvPr/>
        </p:nvSpPr>
        <p:spPr>
          <a:xfrm>
            <a:off x="2395728" y="4078224"/>
            <a:ext cx="393192" cy="0"/>
          </a:xfrm>
          <a:prstGeom prst="line">
            <a:avLst/>
          </a:prstGeom>
          <a:noFill/>
          <a:ln w="22225">
            <a:solidFill>
              <a:srgbClr val="00A896"/>
            </a:solidFill>
            <a:prstDash val="solid"/>
            <a:tailEnd type="triangle"/>
          </a:ln>
        </p:spPr>
      </p:sp>
      <p:sp>
        <p:nvSpPr>
          <p:cNvPr id="40" name="Text 38"/>
          <p:cNvSpPr txBox="1"/>
          <p:nvPr/>
        </p:nvSpPr>
        <p:spPr>
          <a:xfrm>
            <a:off x="411480" y="2706624"/>
            <a:ext cx="1847088" cy="237744"/>
          </a:xfrm>
          <a:prstGeom prst="rect">
            <a:avLst/>
          </a:prstGeom>
          <a:noFill/>
          <a:ln/>
        </p:spPr>
        <p:txBody>
          <a:bodyPr wrap="square" lIns="0" tIns="0" rIns="0" bIns="0" rtlCol="0" anchor="ctr"/>
          <a:lstStyle/>
          <a:p>
            <a:pPr algn="r" indent="0" marL="0">
              <a:buNone/>
            </a:pPr>
            <a:r>
              <a:rPr lang="en-US" sz="1200" b="1" dirty="0">
                <a:solidFill>
                  <a:srgbClr val="00A896"/>
                </a:solidFill>
                <a:latin typeface="Calibri" pitchFamily="34" charset="0"/>
                <a:ea typeface="Calibri" pitchFamily="34" charset="-122"/>
                <a:cs typeface="Calibri" pitchFamily="34" charset="-120"/>
              </a:rPr>
              <a:t>on a hit</a:t>
            </a:r>
            <a:endParaRPr lang="en-US" sz="1200" dirty="0"/>
          </a:p>
        </p:txBody>
      </p:sp>
      <p:sp>
        <p:nvSpPr>
          <p:cNvPr id="41" name="Text 39"/>
          <p:cNvSpPr txBox="1"/>
          <p:nvPr/>
        </p:nvSpPr>
        <p:spPr>
          <a:xfrm>
            <a:off x="411480" y="2980944"/>
            <a:ext cx="1847088" cy="914400"/>
          </a:xfrm>
          <a:prstGeom prst="rect">
            <a:avLst/>
          </a:prstGeom>
          <a:noFill/>
          <a:ln/>
        </p:spPr>
        <p:txBody>
          <a:bodyPr wrap="square" lIns="0" tIns="0" rIns="0" bIns="0" rtlCol="0" anchor="t"/>
          <a:lstStyle/>
          <a:p>
            <a:pPr algn="r" indent="0" marL="0">
              <a:buNone/>
            </a:pPr>
            <a:r>
              <a:rPr lang="en-US" sz="1050" dirty="0">
                <a:solidFill>
                  <a:srgbClr val="4B6B68"/>
                </a:solidFill>
                <a:latin typeface="Calibri" pitchFamily="34" charset="0"/>
                <a:ea typeface="Calibri" pitchFamily="34" charset="-122"/>
                <a:cs typeface="Calibri" pitchFamily="34" charset="-120"/>
              </a:rPr>
              <a:t>parameterised SQL and its bound parameters, straight to the guard — the model is never woken.</a:t>
            </a:r>
            <a:endParaRPr lang="en-US" sz="1050" dirty="0"/>
          </a:p>
        </p:txBody>
      </p:sp>
      <p:sp>
        <p:nvSpPr>
          <p:cNvPr id="42" name="Text 40"/>
          <p:cNvSpPr/>
          <p:nvPr/>
        </p:nvSpPr>
        <p:spPr>
          <a:xfrm>
            <a:off x="1298448" y="4041648"/>
            <a:ext cx="960120" cy="292608"/>
          </a:xfrm>
          <a:prstGeom prst="roundRect">
            <a:avLst>
              <a:gd name="adj" fmla="val 46875"/>
            </a:avLst>
          </a:prstGeom>
          <a:solidFill>
            <a:srgbClr val="DCEEEA"/>
          </a:solidFill>
          <a:ln w="12700">
            <a:solidFill>
              <a:srgbClr val="00A896"/>
            </a:solidFill>
          </a:ln>
        </p:spPr>
        <p:txBody>
          <a:bodyPr wrap="square" lIns="0" tIns="0" rIns="0" bIns="0" rtlCol="0" anchor="ctr"/>
          <a:lstStyle/>
          <a:p>
            <a:pPr algn="ctr" indent="0" marL="0">
              <a:buNone/>
            </a:pPr>
            <a:r>
              <a:rPr lang="en-US" sz="1050" b="1" dirty="0">
                <a:solidFill>
                  <a:srgbClr val="028090"/>
                </a:solidFill>
                <a:latin typeface="Calibri" pitchFamily="34" charset="0"/>
                <a:ea typeface="Calibri" pitchFamily="34" charset="-122"/>
                <a:cs typeface="Calibri" pitchFamily="34" charset="-120"/>
              </a:rPr>
              <a:t>~15 ms</a:t>
            </a:r>
            <a:endParaRPr lang="en-US" sz="1050" dirty="0"/>
          </a:p>
        </p:txBody>
      </p:sp>
      <p:sp>
        <p:nvSpPr>
          <p:cNvPr id="43" name="Shape 41"/>
          <p:cNvSpPr/>
          <p:nvPr/>
        </p:nvSpPr>
        <p:spPr>
          <a:xfrm>
            <a:off x="7635240" y="1828800"/>
            <a:ext cx="4069080" cy="420624"/>
          </a:xfrm>
          <a:prstGeom prst="roundRect">
            <a:avLst>
              <a:gd name="adj" fmla="val 17391"/>
            </a:avLst>
          </a:prstGeom>
          <a:solidFill>
            <a:srgbClr val="F3F5F5"/>
          </a:solidFill>
          <a:ln w="12700">
            <a:solidFill>
              <a:srgbClr val="DCE3E2"/>
            </a:solidFill>
            <a:prstDash val="solid"/>
          </a:ln>
          <a:effectLst>
            <a:outerShdw sx="100000" sy="100000" kx="0" ky="0" algn="bl" rotWithShape="0" blurRad="101600" dist="50800" dir="5400000">
              <a:srgbClr val="FFFFFF">
                <a:alpha val="75000"/>
              </a:srgbClr>
            </a:outerShdw>
          </a:effectLst>
        </p:spPr>
      </p:sp>
      <p:sp>
        <p:nvSpPr>
          <p:cNvPr id="44" name="Text 42"/>
          <p:cNvSpPr txBox="1"/>
          <p:nvPr/>
        </p:nvSpPr>
        <p:spPr>
          <a:xfrm>
            <a:off x="7818120" y="1874520"/>
            <a:ext cx="3703320" cy="201168"/>
          </a:xfrm>
          <a:prstGeom prst="rect">
            <a:avLst/>
          </a:prstGeom>
          <a:noFill/>
          <a:ln/>
        </p:spPr>
        <p:txBody>
          <a:bodyPr wrap="square" lIns="0" tIns="0" rIns="0" bIns="0" rtlCol="0" anchor="ctr"/>
          <a:lstStyle/>
          <a:p>
            <a:pPr indent="0" marL="0">
              <a:buNone/>
            </a:pPr>
            <a:r>
              <a:rPr lang="en-US" sz="1000" b="1" dirty="0">
                <a:solidFill>
                  <a:srgbClr val="0E2E2C"/>
                </a:solidFill>
                <a:latin typeface="Courier New" pitchFamily="34" charset="0"/>
                <a:ea typeface="Courier New" pitchFamily="34" charset="-122"/>
                <a:cs typeface="Courier New" pitchFamily="34" charset="-120"/>
              </a:rPr>
              <a:t>503 — still warming up</a:t>
            </a:r>
            <a:endParaRPr lang="en-US" sz="1000" dirty="0"/>
          </a:p>
        </p:txBody>
      </p:sp>
      <p:sp>
        <p:nvSpPr>
          <p:cNvPr id="45" name="Text 43"/>
          <p:cNvSpPr txBox="1"/>
          <p:nvPr/>
        </p:nvSpPr>
        <p:spPr>
          <a:xfrm>
            <a:off x="7818120" y="2048256"/>
            <a:ext cx="3703320" cy="164592"/>
          </a:xfrm>
          <a:prstGeom prst="rect">
            <a:avLst/>
          </a:prstGeom>
          <a:noFill/>
          <a:ln/>
        </p:spPr>
        <p:txBody>
          <a:bodyPr wrap="square" lIns="0" tIns="0" rIns="0" bIns="0" rtlCol="0" anchor="t"/>
          <a:lstStyle/>
          <a:p>
            <a:pPr indent="0" marL="0">
              <a:buNone/>
            </a:pPr>
            <a:r>
              <a:rPr lang="en-US" sz="950" dirty="0">
                <a:solidFill>
                  <a:srgbClr val="4B6B68"/>
                </a:solidFill>
                <a:latin typeface="Calibri" pitchFamily="34" charset="0"/>
                <a:ea typeface="Calibri" pitchFamily="34" charset="-122"/>
                <a:cs typeface="Calibri" pitchFamily="34" charset="-120"/>
              </a:rPr>
              <a:t>and it names the failing check</a:t>
            </a:r>
            <a:endParaRPr lang="en-US" sz="950" dirty="0"/>
          </a:p>
        </p:txBody>
      </p:sp>
      <p:sp>
        <p:nvSpPr>
          <p:cNvPr id="46" name="Shape 44"/>
          <p:cNvSpPr/>
          <p:nvPr/>
        </p:nvSpPr>
        <p:spPr>
          <a:xfrm>
            <a:off x="7040880" y="2039112"/>
            <a:ext cx="548640" cy="0"/>
          </a:xfrm>
          <a:prstGeom prst="line">
            <a:avLst/>
          </a:prstGeom>
          <a:noFill/>
          <a:ln w="15875">
            <a:solidFill>
              <a:srgbClr val="9FB3B1"/>
            </a:solidFill>
            <a:prstDash val="dash"/>
            <a:tailEnd type="triangle"/>
          </a:ln>
        </p:spPr>
      </p:sp>
      <p:sp>
        <p:nvSpPr>
          <p:cNvPr id="47" name="Shape 45"/>
          <p:cNvSpPr/>
          <p:nvPr/>
        </p:nvSpPr>
        <p:spPr>
          <a:xfrm>
            <a:off x="7635240" y="3017520"/>
            <a:ext cx="4069080" cy="402336"/>
          </a:xfrm>
          <a:prstGeom prst="roundRect">
            <a:avLst>
              <a:gd name="adj" fmla="val 18182"/>
            </a:avLst>
          </a:prstGeom>
          <a:solidFill>
            <a:srgbClr val="F3F5F5"/>
          </a:solidFill>
          <a:ln w="12700">
            <a:solidFill>
              <a:srgbClr val="DCE3E2"/>
            </a:solidFill>
            <a:prstDash val="solid"/>
          </a:ln>
          <a:effectLst>
            <a:outerShdw sx="100000" sy="100000" kx="0" ky="0" algn="bl" rotWithShape="0" blurRad="101600" dist="50800" dir="5400000">
              <a:srgbClr val="FFFFFF">
                <a:alpha val="75000"/>
              </a:srgbClr>
            </a:outerShdw>
          </a:effectLst>
        </p:spPr>
      </p:sp>
      <p:sp>
        <p:nvSpPr>
          <p:cNvPr id="48" name="Text 46"/>
          <p:cNvSpPr txBox="1"/>
          <p:nvPr/>
        </p:nvSpPr>
        <p:spPr>
          <a:xfrm>
            <a:off x="7818120" y="3063240"/>
            <a:ext cx="3703320" cy="201168"/>
          </a:xfrm>
          <a:prstGeom prst="rect">
            <a:avLst/>
          </a:prstGeom>
          <a:noFill/>
          <a:ln/>
        </p:spPr>
        <p:txBody>
          <a:bodyPr wrap="square" lIns="0" tIns="0" rIns="0" bIns="0" rtlCol="0" anchor="ctr"/>
          <a:lstStyle/>
          <a:p>
            <a:pPr indent="0" marL="0">
              <a:buNone/>
            </a:pPr>
            <a:r>
              <a:rPr lang="en-US" sz="1000" b="1" dirty="0">
                <a:solidFill>
                  <a:srgbClr val="0E2E2C"/>
                </a:solidFill>
                <a:latin typeface="Courier New" pitchFamily="34" charset="0"/>
                <a:ea typeface="Courier New" pitchFamily="34" charset="-122"/>
                <a:cs typeface="Courier New" pitchFamily="34" charset="-120"/>
              </a:rPr>
              <a:t>LlmUnavailable</a:t>
            </a:r>
            <a:endParaRPr lang="en-US" sz="1000" dirty="0"/>
          </a:p>
        </p:txBody>
      </p:sp>
      <p:sp>
        <p:nvSpPr>
          <p:cNvPr id="49" name="Text 47"/>
          <p:cNvSpPr txBox="1"/>
          <p:nvPr/>
        </p:nvSpPr>
        <p:spPr>
          <a:xfrm>
            <a:off x="7818120" y="3236976"/>
            <a:ext cx="3703320" cy="146304"/>
          </a:xfrm>
          <a:prstGeom prst="rect">
            <a:avLst/>
          </a:prstGeom>
          <a:noFill/>
          <a:ln/>
        </p:spPr>
        <p:txBody>
          <a:bodyPr wrap="square" lIns="0" tIns="0" rIns="0" bIns="0" rtlCol="0" anchor="t"/>
          <a:lstStyle/>
          <a:p>
            <a:pPr indent="0" marL="0">
              <a:buNone/>
            </a:pPr>
            <a:r>
              <a:rPr lang="en-US" sz="950" dirty="0">
                <a:solidFill>
                  <a:srgbClr val="4B6B68"/>
                </a:solidFill>
                <a:latin typeface="Calibri" pitchFamily="34" charset="0"/>
                <a:ea typeface="Calibri" pitchFamily="34" charset="-122"/>
                <a:cs typeface="Calibri" pitchFamily="34" charset="-120"/>
              </a:rPr>
              <a:t>the model is not answering</a:t>
            </a:r>
            <a:endParaRPr lang="en-US" sz="950" dirty="0"/>
          </a:p>
        </p:txBody>
      </p:sp>
      <p:sp>
        <p:nvSpPr>
          <p:cNvPr id="50" name="Shape 48"/>
          <p:cNvSpPr/>
          <p:nvPr/>
        </p:nvSpPr>
        <p:spPr>
          <a:xfrm>
            <a:off x="7040880" y="3218688"/>
            <a:ext cx="548640" cy="0"/>
          </a:xfrm>
          <a:prstGeom prst="line">
            <a:avLst/>
          </a:prstGeom>
          <a:noFill/>
          <a:ln w="15875">
            <a:solidFill>
              <a:srgbClr val="9FB3B1"/>
            </a:solidFill>
            <a:prstDash val="dash"/>
            <a:tailEnd type="triangle"/>
          </a:ln>
        </p:spPr>
      </p:sp>
      <p:sp>
        <p:nvSpPr>
          <p:cNvPr id="51" name="Shape 49"/>
          <p:cNvSpPr/>
          <p:nvPr/>
        </p:nvSpPr>
        <p:spPr>
          <a:xfrm>
            <a:off x="7635240" y="3456432"/>
            <a:ext cx="4069080" cy="402336"/>
          </a:xfrm>
          <a:prstGeom prst="roundRect">
            <a:avLst>
              <a:gd name="adj" fmla="val 18182"/>
            </a:avLst>
          </a:prstGeom>
          <a:solidFill>
            <a:srgbClr val="F3F5F5"/>
          </a:solidFill>
          <a:ln w="12700">
            <a:solidFill>
              <a:srgbClr val="DCE3E2"/>
            </a:solidFill>
            <a:prstDash val="solid"/>
          </a:ln>
          <a:effectLst>
            <a:outerShdw sx="100000" sy="100000" kx="0" ky="0" algn="bl" rotWithShape="0" blurRad="101600" dist="50800" dir="5400000">
              <a:srgbClr val="FFFFFF">
                <a:alpha val="75000"/>
              </a:srgbClr>
            </a:outerShdw>
          </a:effectLst>
        </p:spPr>
      </p:sp>
      <p:sp>
        <p:nvSpPr>
          <p:cNvPr id="52" name="Text 50"/>
          <p:cNvSpPr txBox="1"/>
          <p:nvPr/>
        </p:nvSpPr>
        <p:spPr>
          <a:xfrm>
            <a:off x="7818120" y="3502152"/>
            <a:ext cx="3703320" cy="201168"/>
          </a:xfrm>
          <a:prstGeom prst="rect">
            <a:avLst/>
          </a:prstGeom>
          <a:noFill/>
          <a:ln/>
        </p:spPr>
        <p:txBody>
          <a:bodyPr wrap="square" lIns="0" tIns="0" rIns="0" bIns="0" rtlCol="0" anchor="ctr"/>
          <a:lstStyle/>
          <a:p>
            <a:pPr indent="0" marL="0">
              <a:buNone/>
            </a:pPr>
            <a:r>
              <a:rPr lang="en-US" sz="1000" b="1" dirty="0">
                <a:solidFill>
                  <a:srgbClr val="0E2E2C"/>
                </a:solidFill>
                <a:latin typeface="Courier New" pitchFamily="34" charset="0"/>
                <a:ea typeface="Courier New" pitchFamily="34" charset="-122"/>
                <a:cs typeface="Courier New" pitchFamily="34" charset="-120"/>
              </a:rPr>
              <a:t>the model says it cannot answer</a:t>
            </a:r>
            <a:endParaRPr lang="en-US" sz="1000" dirty="0"/>
          </a:p>
        </p:txBody>
      </p:sp>
      <p:sp>
        <p:nvSpPr>
          <p:cNvPr id="53" name="Text 51"/>
          <p:cNvSpPr txBox="1"/>
          <p:nvPr/>
        </p:nvSpPr>
        <p:spPr>
          <a:xfrm>
            <a:off x="7818120" y="3675888"/>
            <a:ext cx="3703320" cy="146304"/>
          </a:xfrm>
          <a:prstGeom prst="rect">
            <a:avLst/>
          </a:prstGeom>
          <a:noFill/>
          <a:ln/>
        </p:spPr>
        <p:txBody>
          <a:bodyPr wrap="square" lIns="0" tIns="0" rIns="0" bIns="0" rtlCol="0" anchor="t"/>
          <a:lstStyle/>
          <a:p>
            <a:pPr indent="0" marL="0">
              <a:buNone/>
            </a:pPr>
            <a:r>
              <a:rPr lang="en-US" sz="950" dirty="0">
                <a:solidFill>
                  <a:srgbClr val="4B6B68"/>
                </a:solidFill>
                <a:latin typeface="Calibri" pitchFamily="34" charset="0"/>
                <a:ea typeface="Calibri" pitchFamily="34" charset="-122"/>
                <a:cs typeface="Calibri" pitchFamily="34" charset="-120"/>
              </a:rPr>
              <a:t>not answerable from this schema</a:t>
            </a:r>
            <a:endParaRPr lang="en-US" sz="950" dirty="0"/>
          </a:p>
        </p:txBody>
      </p:sp>
      <p:sp>
        <p:nvSpPr>
          <p:cNvPr id="54" name="Shape 52"/>
          <p:cNvSpPr/>
          <p:nvPr/>
        </p:nvSpPr>
        <p:spPr>
          <a:xfrm>
            <a:off x="7040880" y="3657600"/>
            <a:ext cx="548640" cy="0"/>
          </a:xfrm>
          <a:prstGeom prst="line">
            <a:avLst/>
          </a:prstGeom>
          <a:noFill/>
          <a:ln w="15875">
            <a:solidFill>
              <a:srgbClr val="9FB3B1"/>
            </a:solidFill>
            <a:prstDash val="dash"/>
            <a:tailEnd type="triangle"/>
          </a:ln>
        </p:spPr>
      </p:sp>
      <p:sp>
        <p:nvSpPr>
          <p:cNvPr id="55" name="Shape 53"/>
          <p:cNvSpPr/>
          <p:nvPr/>
        </p:nvSpPr>
        <p:spPr>
          <a:xfrm>
            <a:off x="7635240" y="3931920"/>
            <a:ext cx="4069080" cy="493776"/>
          </a:xfrm>
          <a:prstGeom prst="roundRect">
            <a:avLst>
              <a:gd name="adj" fmla="val 14815"/>
            </a:avLst>
          </a:prstGeom>
          <a:solidFill>
            <a:srgbClr val="F7EAE6"/>
          </a:solidFill>
          <a:ln w="12700">
            <a:solidFill>
              <a:srgbClr val="E0BCB2"/>
            </a:solidFill>
            <a:prstDash val="solid"/>
          </a:ln>
          <a:effectLst>
            <a:outerShdw sx="100000" sy="100000" kx="0" ky="0" algn="bl" rotWithShape="0" blurRad="101600" dist="50800" dir="5400000">
              <a:srgbClr val="FFFFFF">
                <a:alpha val="75000"/>
              </a:srgbClr>
            </a:outerShdw>
          </a:effectLst>
        </p:spPr>
      </p:sp>
      <p:sp>
        <p:nvSpPr>
          <p:cNvPr id="56" name="Text 54"/>
          <p:cNvSpPr txBox="1"/>
          <p:nvPr/>
        </p:nvSpPr>
        <p:spPr>
          <a:xfrm>
            <a:off x="7818120" y="3977640"/>
            <a:ext cx="3703320" cy="201168"/>
          </a:xfrm>
          <a:prstGeom prst="rect">
            <a:avLst/>
          </a:prstGeom>
          <a:noFill/>
          <a:ln/>
        </p:spPr>
        <p:txBody>
          <a:bodyPr wrap="square" lIns="0" tIns="0" rIns="0" bIns="0" rtlCol="0" anchor="ctr"/>
          <a:lstStyle/>
          <a:p>
            <a:pPr indent="0" marL="0">
              <a:buNone/>
            </a:pPr>
            <a:r>
              <a:rPr lang="en-US" sz="1000" b="1" dirty="0">
                <a:solidFill>
                  <a:srgbClr val="A63D2F"/>
                </a:solidFill>
                <a:latin typeface="Courier New" pitchFamily="34" charset="0"/>
                <a:ea typeface="Courier New" pitchFamily="34" charset="-122"/>
                <a:cs typeface="Courier New" pitchFamily="34" charset="-120"/>
              </a:rPr>
              <a:t>SqlRejected</a:t>
            </a:r>
            <a:endParaRPr lang="en-US" sz="1000" dirty="0"/>
          </a:p>
        </p:txBody>
      </p:sp>
      <p:sp>
        <p:nvSpPr>
          <p:cNvPr id="57" name="Text 55"/>
          <p:cNvSpPr txBox="1"/>
          <p:nvPr/>
        </p:nvSpPr>
        <p:spPr>
          <a:xfrm>
            <a:off x="7818120" y="4151376"/>
            <a:ext cx="3703320" cy="237744"/>
          </a:xfrm>
          <a:prstGeom prst="rect">
            <a:avLst/>
          </a:prstGeom>
          <a:noFill/>
          <a:ln/>
        </p:spPr>
        <p:txBody>
          <a:bodyPr wrap="square" lIns="0" tIns="0" rIns="0" bIns="0" rtlCol="0" anchor="t"/>
          <a:lstStyle/>
          <a:p>
            <a:pPr indent="0" marL="0">
              <a:buNone/>
            </a:pPr>
            <a:r>
              <a:rPr lang="en-US" sz="950" dirty="0">
                <a:solidFill>
                  <a:srgbClr val="8A4234"/>
                </a:solidFill>
                <a:latin typeface="Calibri" pitchFamily="34" charset="0"/>
                <a:ea typeface="Calibri" pitchFamily="34" charset="-122"/>
                <a:cs typeface="Calibri" pitchFamily="34" charset="-120"/>
              </a:rPr>
              <a:t>“I couldn’t safely answer that” — reported, never auto-repaired</a:t>
            </a:r>
            <a:endParaRPr lang="en-US" sz="950" dirty="0"/>
          </a:p>
        </p:txBody>
      </p:sp>
      <p:sp>
        <p:nvSpPr>
          <p:cNvPr id="58" name="Shape 56"/>
          <p:cNvSpPr/>
          <p:nvPr/>
        </p:nvSpPr>
        <p:spPr>
          <a:xfrm>
            <a:off x="7040880" y="4178808"/>
            <a:ext cx="548640" cy="0"/>
          </a:xfrm>
          <a:prstGeom prst="line">
            <a:avLst/>
          </a:prstGeom>
          <a:noFill/>
          <a:ln w="15875">
            <a:solidFill>
              <a:srgbClr val="A63D2F"/>
            </a:solidFill>
            <a:prstDash val="dash"/>
            <a:tailEnd type="triangle"/>
          </a:ln>
        </p:spPr>
      </p:sp>
      <p:sp>
        <p:nvSpPr>
          <p:cNvPr id="59" name="Shape 57"/>
          <p:cNvSpPr/>
          <p:nvPr/>
        </p:nvSpPr>
        <p:spPr>
          <a:xfrm>
            <a:off x="7635240" y="5084064"/>
            <a:ext cx="4069080" cy="420624"/>
          </a:xfrm>
          <a:prstGeom prst="roundRect">
            <a:avLst>
              <a:gd name="adj" fmla="val 17391"/>
            </a:avLst>
          </a:prstGeom>
          <a:solidFill>
            <a:srgbClr val="F3F5F5"/>
          </a:solidFill>
          <a:ln w="12700">
            <a:solidFill>
              <a:srgbClr val="DCE3E2"/>
            </a:solidFill>
            <a:prstDash val="solid"/>
          </a:ln>
          <a:effectLst>
            <a:outerShdw sx="100000" sy="100000" kx="0" ky="0" algn="bl" rotWithShape="0" blurRad="101600" dist="50800" dir="5400000">
              <a:srgbClr val="FFFFFF">
                <a:alpha val="75000"/>
              </a:srgbClr>
            </a:outerShdw>
          </a:effectLst>
        </p:spPr>
      </p:sp>
      <p:sp>
        <p:nvSpPr>
          <p:cNvPr id="60" name="Text 58"/>
          <p:cNvSpPr txBox="1"/>
          <p:nvPr/>
        </p:nvSpPr>
        <p:spPr>
          <a:xfrm>
            <a:off x="7818120" y="5129784"/>
            <a:ext cx="3703320" cy="201168"/>
          </a:xfrm>
          <a:prstGeom prst="rect">
            <a:avLst/>
          </a:prstGeom>
          <a:noFill/>
          <a:ln/>
        </p:spPr>
        <p:txBody>
          <a:bodyPr wrap="square" lIns="0" tIns="0" rIns="0" bIns="0" rtlCol="0" anchor="ctr"/>
          <a:lstStyle/>
          <a:p>
            <a:pPr indent="0" marL="0">
              <a:buNone/>
            </a:pPr>
            <a:r>
              <a:rPr lang="en-US" sz="1000" b="1" dirty="0">
                <a:solidFill>
                  <a:srgbClr val="0E2E2C"/>
                </a:solidFill>
                <a:latin typeface="Courier New" pitchFamily="34" charset="0"/>
                <a:ea typeface="Courier New" pitchFamily="34" charset="-122"/>
                <a:cs typeface="Courier New" pitchFamily="34" charset="-120"/>
              </a:rPr>
              <a:t>QueryExecutionError</a:t>
            </a:r>
            <a:endParaRPr lang="en-US" sz="1000" dirty="0"/>
          </a:p>
        </p:txBody>
      </p:sp>
      <p:sp>
        <p:nvSpPr>
          <p:cNvPr id="61" name="Text 59"/>
          <p:cNvSpPr txBox="1"/>
          <p:nvPr/>
        </p:nvSpPr>
        <p:spPr>
          <a:xfrm>
            <a:off x="7818120" y="5303520"/>
            <a:ext cx="3703320" cy="164592"/>
          </a:xfrm>
          <a:prstGeom prst="rect">
            <a:avLst/>
          </a:prstGeom>
          <a:noFill/>
          <a:ln/>
        </p:spPr>
        <p:txBody>
          <a:bodyPr wrap="square" lIns="0" tIns="0" rIns="0" bIns="0" rtlCol="0" anchor="t"/>
          <a:lstStyle/>
          <a:p>
            <a:pPr indent="0" marL="0">
              <a:buNone/>
            </a:pPr>
            <a:r>
              <a:rPr lang="en-US" sz="950" dirty="0">
                <a:solidFill>
                  <a:srgbClr val="4B6B68"/>
                </a:solidFill>
                <a:latin typeface="Calibri" pitchFamily="34" charset="0"/>
                <a:ea typeface="Calibri" pitchFamily="34" charset="-122"/>
                <a:cs typeface="Calibri" pitchFamily="34" charset="-120"/>
              </a:rPr>
              <a:t>the database refused it</a:t>
            </a:r>
            <a:endParaRPr lang="en-US" sz="950" dirty="0"/>
          </a:p>
        </p:txBody>
      </p:sp>
      <p:sp>
        <p:nvSpPr>
          <p:cNvPr id="62" name="Shape 60"/>
          <p:cNvSpPr/>
          <p:nvPr/>
        </p:nvSpPr>
        <p:spPr>
          <a:xfrm>
            <a:off x="7040880" y="5285232"/>
            <a:ext cx="548640" cy="0"/>
          </a:xfrm>
          <a:prstGeom prst="line">
            <a:avLst/>
          </a:prstGeom>
          <a:noFill/>
          <a:ln w="15875">
            <a:solidFill>
              <a:srgbClr val="9FB3B1"/>
            </a:solidFill>
            <a:prstDash val="dash"/>
            <a:tailEnd type="triangle"/>
          </a:ln>
        </p:spPr>
      </p:sp>
      <p:sp>
        <p:nvSpPr>
          <p:cNvPr id="63" name="Text 61"/>
          <p:cNvSpPr txBox="1"/>
          <p:nvPr/>
        </p:nvSpPr>
        <p:spPr>
          <a:xfrm>
            <a:off x="411480" y="6327648"/>
            <a:ext cx="11338560" cy="310896"/>
          </a:xfrm>
          <a:prstGeom prst="rect">
            <a:avLst/>
          </a:prstGeom>
          <a:noFill/>
          <a:ln/>
        </p:spPr>
        <p:txBody>
          <a:bodyPr wrap="square" lIns="0" tIns="0" rIns="0" bIns="0" rtlCol="0" anchor="ctr"/>
          <a:lstStyle/>
          <a:p>
            <a:pPr indent="0" marL="0">
              <a:buNone/>
            </a:pPr>
            <a:r>
              <a:rPr lang="en-US" sz="1150" i="1" dirty="0">
                <a:solidFill>
                  <a:srgbClr val="4B6B68"/>
                </a:solidFill>
                <a:latin typeface="Calibri" pitchFamily="34" charset="0"/>
                <a:ea typeface="Calibri" pitchFamily="34" charset="-122"/>
                <a:cs typeface="Calibri" pitchFamily="34" charset="-120"/>
              </a:rPr>
              <a:t>The guard sits on the join of both routes, not on one branch — there is no path to the database that skips it.</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10896"/>
            <a:ext cx="10058400" cy="219456"/>
          </a:xfrm>
          <a:prstGeom prst="rect">
            <a:avLst/>
          </a:prstGeom>
          <a:noFill/>
          <a:ln/>
        </p:spPr>
        <p:txBody>
          <a:bodyPr wrap="square" lIns="0" tIns="0" rIns="0" bIns="0" rtlCol="0" anchor="ctr"/>
          <a:lstStyle/>
          <a:p>
            <a:pPr indent="0" marL="0">
              <a:buNone/>
            </a:pPr>
            <a:r>
              <a:rPr lang="en-US" sz="1050" b="1" spc="200" kern="0" dirty="0">
                <a:solidFill>
                  <a:srgbClr val="028090"/>
                </a:solidFill>
                <a:latin typeface="Calibri" pitchFamily="34" charset="0"/>
                <a:ea typeface="Calibri" pitchFamily="34" charset="-122"/>
                <a:cs typeface="Calibri" pitchFamily="34" charset="-120"/>
              </a:rPr>
              <a:t>READING THAT DIAGRAM</a:t>
            </a:r>
            <a:endParaRPr lang="en-US" sz="1050" dirty="0"/>
          </a:p>
        </p:txBody>
      </p:sp>
      <p:sp>
        <p:nvSpPr>
          <p:cNvPr id="3" name="Text 1"/>
          <p:cNvSpPr txBox="1"/>
          <p:nvPr/>
        </p:nvSpPr>
        <p:spPr>
          <a:xfrm>
            <a:off x="548640" y="566928"/>
            <a:ext cx="11064240" cy="566928"/>
          </a:xfrm>
          <a:prstGeom prst="rect">
            <a:avLst/>
          </a:prstGeom>
          <a:noFill/>
          <a:ln/>
        </p:spPr>
        <p:txBody>
          <a:bodyPr wrap="square" lIns="0" tIns="0" rIns="0" bIns="0" rtlCol="0" anchor="t"/>
          <a:lstStyle/>
          <a:p>
            <a:pPr indent="0" marL="0">
              <a:buNone/>
            </a:pPr>
            <a:r>
              <a:rPr lang="en-US" sz="3000" b="1" dirty="0">
                <a:solidFill>
                  <a:srgbClr val="0E2E2C"/>
                </a:solidFill>
                <a:latin typeface="Cambria" pitchFamily="34" charset="0"/>
                <a:ea typeface="Cambria" pitchFamily="34" charset="-122"/>
                <a:cs typeface="Cambria" pitchFamily="34" charset="-120"/>
              </a:rPr>
              <a:t>Three properties worth defending in review</a:t>
            </a:r>
            <a:endParaRPr lang="en-US" sz="3000" dirty="0"/>
          </a:p>
        </p:txBody>
      </p:sp>
      <p:sp>
        <p:nvSpPr>
          <p:cNvPr id="4" name="Shape 2"/>
          <p:cNvSpPr/>
          <p:nvPr/>
        </p:nvSpPr>
        <p:spPr>
          <a:xfrm>
            <a:off x="548640" y="1627632"/>
            <a:ext cx="11137392" cy="1234440"/>
          </a:xfrm>
          <a:prstGeom prst="roundRect">
            <a:avLst>
              <a:gd name="adj" fmla="val 7407"/>
            </a:avLst>
          </a:prstGeom>
          <a:solidFill>
            <a:srgbClr val="FBF3F1"/>
          </a:solidFill>
          <a:ln w="12700">
            <a:solidFill>
              <a:srgbClr val="E8CFC8"/>
            </a:solidFill>
            <a:prstDash val="solid"/>
          </a:ln>
          <a:effectLst>
            <a:outerShdw sx="100000" sy="100000" kx="0" ky="0" algn="bl" rotWithShape="0" blurRad="127000" dist="25400" dir="5400000">
              <a:srgbClr val="0E2E2C">
                <a:alpha val="8000"/>
              </a:srgbClr>
            </a:outerShdw>
          </a:effectLst>
        </p:spPr>
      </p:sp>
      <p:sp>
        <p:nvSpPr>
          <p:cNvPr id="5" name="Text 3"/>
          <p:cNvSpPr/>
          <p:nvPr/>
        </p:nvSpPr>
        <p:spPr>
          <a:xfrm>
            <a:off x="859536" y="2011680"/>
            <a:ext cx="457200" cy="457200"/>
          </a:xfrm>
          <a:prstGeom prst="ellipse">
            <a:avLst/>
          </a:prstGeom>
          <a:solidFill>
            <a:srgbClr val="A63D2F"/>
          </a:solidFill>
          <a:ln>
            <a:solidFill>
              <a:srgbClr val="A63D2F"/>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517904" y="1810512"/>
            <a:ext cx="9875520" cy="310896"/>
          </a:xfrm>
          <a:prstGeom prst="rect">
            <a:avLst/>
          </a:prstGeom>
          <a:noFill/>
          <a:ln/>
        </p:spPr>
        <p:txBody>
          <a:bodyPr wrap="square" lIns="0" tIns="0" rIns="0" bIns="0" rtlCol="0" anchor="ctr"/>
          <a:lstStyle/>
          <a:p>
            <a:pPr indent="0" marL="0">
              <a:buNone/>
            </a:pPr>
            <a:r>
              <a:rPr lang="en-US" sz="1700" b="1" dirty="0">
                <a:solidFill>
                  <a:srgbClr val="0E2E2C"/>
                </a:solidFill>
                <a:latin typeface="Cambria" pitchFamily="34" charset="0"/>
                <a:ea typeface="Cambria" pitchFamily="34" charset="-122"/>
                <a:cs typeface="Cambria" pitchFamily="34" charset="-120"/>
              </a:rPr>
              <a:t>One choke point, not two</a:t>
            </a:r>
            <a:endParaRPr lang="en-US" sz="1700" dirty="0"/>
          </a:p>
        </p:txBody>
      </p:sp>
      <p:sp>
        <p:nvSpPr>
          <p:cNvPr id="7" name="Text 5"/>
          <p:cNvSpPr txBox="1"/>
          <p:nvPr/>
        </p:nvSpPr>
        <p:spPr>
          <a:xfrm>
            <a:off x="1517904" y="2167128"/>
            <a:ext cx="9875520" cy="621792"/>
          </a:xfrm>
          <a:prstGeom prst="rect">
            <a:avLst/>
          </a:prstGeom>
          <a:noFill/>
          <a:ln/>
        </p:spPr>
        <p:txBody>
          <a:bodyPr wrap="square" lIns="0" tIns="0" rIns="0" bIns="0" rtlCol="0" anchor="t"/>
          <a:lstStyle/>
          <a:p>
            <a:pPr indent="0" marL="0">
              <a:buNone/>
            </a:pPr>
            <a:r>
              <a:rPr lang="en-US" sz="1200" dirty="0">
                <a:solidFill>
                  <a:srgbClr val="4B6B68"/>
                </a:solidFill>
                <a:latin typeface="Calibri" pitchFamily="34" charset="0"/>
                <a:ea typeface="Calibri" pitchFamily="34" charset="-122"/>
                <a:cs typeface="Calibri" pitchFamily="34" charset="-120"/>
              </a:rPr>
              <a:t>The template route and the model route converge before validation. There is no branch that reaches the database with an unvalidated statement — the guard cannot be bypassed by adding a new answering path later.</a:t>
            </a:r>
            <a:endParaRPr lang="en-US" sz="1200" dirty="0"/>
          </a:p>
        </p:txBody>
      </p:sp>
      <p:sp>
        <p:nvSpPr>
          <p:cNvPr id="8" name="Shape 6"/>
          <p:cNvSpPr/>
          <p:nvPr/>
        </p:nvSpPr>
        <p:spPr>
          <a:xfrm>
            <a:off x="548640" y="3136392"/>
            <a:ext cx="11137392" cy="1234440"/>
          </a:xfrm>
          <a:prstGeom prst="roundRect">
            <a:avLst>
              <a:gd name="adj" fmla="val 7407"/>
            </a:avLst>
          </a:prstGeom>
          <a:solidFill>
            <a:srgbClr val="FFFFFF"/>
          </a:solidFill>
          <a:ln w="12700">
            <a:solidFill>
              <a:srgbClr val="C2DED9"/>
            </a:solidFill>
            <a:prstDash val="solid"/>
          </a:ln>
          <a:effectLst>
            <a:outerShdw sx="100000" sy="100000" kx="0" ky="0" algn="bl" rotWithShape="0" blurRad="127000" dist="25400" dir="5400000">
              <a:srgbClr val="0E2E2C">
                <a:alpha val="8000"/>
              </a:srgbClr>
            </a:outerShdw>
          </a:effectLst>
        </p:spPr>
      </p:sp>
      <p:sp>
        <p:nvSpPr>
          <p:cNvPr id="9" name="Text 7"/>
          <p:cNvSpPr/>
          <p:nvPr/>
        </p:nvSpPr>
        <p:spPr>
          <a:xfrm>
            <a:off x="859536" y="3520440"/>
            <a:ext cx="457200" cy="457200"/>
          </a:xfrm>
          <a:prstGeom prst="ellipse">
            <a:avLst/>
          </a:prstGeom>
          <a:solidFill>
            <a:srgbClr val="00A896"/>
          </a:solidFill>
          <a:ln>
            <a:solidFill>
              <a:srgbClr val="00A896"/>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8"/>
          <p:cNvSpPr txBox="1"/>
          <p:nvPr/>
        </p:nvSpPr>
        <p:spPr>
          <a:xfrm>
            <a:off x="1517904" y="3319272"/>
            <a:ext cx="9875520" cy="310896"/>
          </a:xfrm>
          <a:prstGeom prst="rect">
            <a:avLst/>
          </a:prstGeom>
          <a:noFill/>
          <a:ln/>
        </p:spPr>
        <p:txBody>
          <a:bodyPr wrap="square" lIns="0" tIns="0" rIns="0" bIns="0" rtlCol="0" anchor="ctr"/>
          <a:lstStyle/>
          <a:p>
            <a:pPr indent="0" marL="0">
              <a:buNone/>
            </a:pPr>
            <a:r>
              <a:rPr lang="en-US" sz="1700" b="1" dirty="0">
                <a:solidFill>
                  <a:srgbClr val="0E2E2C"/>
                </a:solidFill>
                <a:latin typeface="Cambria" pitchFamily="34" charset="0"/>
                <a:ea typeface="Cambria" pitchFamily="34" charset="-122"/>
                <a:cs typeface="Cambria" pitchFamily="34" charset="-120"/>
              </a:rPr>
              <a:t>Two independent locks</a:t>
            </a:r>
            <a:endParaRPr lang="en-US" sz="1700" dirty="0"/>
          </a:p>
        </p:txBody>
      </p:sp>
      <p:sp>
        <p:nvSpPr>
          <p:cNvPr id="11" name="Text 9"/>
          <p:cNvSpPr txBox="1"/>
          <p:nvPr/>
        </p:nvSpPr>
        <p:spPr>
          <a:xfrm>
            <a:off x="1517904" y="3675888"/>
            <a:ext cx="9875520" cy="621792"/>
          </a:xfrm>
          <a:prstGeom prst="rect">
            <a:avLst/>
          </a:prstGeom>
          <a:noFill/>
          <a:ln/>
        </p:spPr>
        <p:txBody>
          <a:bodyPr wrap="square" lIns="0" tIns="0" rIns="0" bIns="0" rtlCol="0" anchor="t"/>
          <a:lstStyle/>
          <a:p>
            <a:pPr indent="0" marL="0">
              <a:buNone/>
            </a:pPr>
            <a:r>
              <a:rPr lang="en-US" sz="1200" dirty="0">
                <a:solidFill>
                  <a:srgbClr val="4B6B68"/>
                </a:solidFill>
                <a:latin typeface="Calibri" pitchFamily="34" charset="0"/>
                <a:ea typeface="Calibri" pitchFamily="34" charset="-122"/>
                <a:cs typeface="Calibri" pitchFamily="34" charset="-120"/>
              </a:rPr>
              <a:t>First sqlglot parses and rejects anything that is not a plain SELECT. Then the connection itself is a database role that has been granted SELECT and nothing else, under a statement timeout. Either lock alone would be enough; we ship both.</a:t>
            </a:r>
            <a:endParaRPr lang="en-US" sz="1200" dirty="0"/>
          </a:p>
        </p:txBody>
      </p:sp>
      <p:sp>
        <p:nvSpPr>
          <p:cNvPr id="12" name="Shape 10"/>
          <p:cNvSpPr/>
          <p:nvPr/>
        </p:nvSpPr>
        <p:spPr>
          <a:xfrm>
            <a:off x="548640" y="4645152"/>
            <a:ext cx="11137392" cy="1234440"/>
          </a:xfrm>
          <a:prstGeom prst="roundRect">
            <a:avLst>
              <a:gd name="adj" fmla="val 7407"/>
            </a:avLst>
          </a:prstGeom>
          <a:solidFill>
            <a:srgbClr val="FFFFFF"/>
          </a:solidFill>
          <a:ln w="12700">
            <a:solidFill>
              <a:srgbClr val="C2DED9"/>
            </a:solidFill>
            <a:prstDash val="solid"/>
          </a:ln>
          <a:effectLst>
            <a:outerShdw sx="100000" sy="100000" kx="0" ky="0" algn="bl" rotWithShape="0" blurRad="127000" dist="25400" dir="5400000">
              <a:srgbClr val="0E2E2C">
                <a:alpha val="8000"/>
              </a:srgbClr>
            </a:outerShdw>
          </a:effectLst>
        </p:spPr>
      </p:sp>
      <p:sp>
        <p:nvSpPr>
          <p:cNvPr id="13" name="Text 11"/>
          <p:cNvSpPr/>
          <p:nvPr/>
        </p:nvSpPr>
        <p:spPr>
          <a:xfrm>
            <a:off x="859536" y="5029200"/>
            <a:ext cx="457200" cy="457200"/>
          </a:xfrm>
          <a:prstGeom prst="ellipse">
            <a:avLst/>
          </a:prstGeom>
          <a:solidFill>
            <a:srgbClr val="028090"/>
          </a:solidFill>
          <a:ln>
            <a:solidFill>
              <a:srgbClr val="028090"/>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4" name="Text 12"/>
          <p:cNvSpPr txBox="1"/>
          <p:nvPr/>
        </p:nvSpPr>
        <p:spPr>
          <a:xfrm>
            <a:off x="1517904" y="4828032"/>
            <a:ext cx="9875520" cy="310896"/>
          </a:xfrm>
          <a:prstGeom prst="rect">
            <a:avLst/>
          </a:prstGeom>
          <a:noFill/>
          <a:ln/>
        </p:spPr>
        <p:txBody>
          <a:bodyPr wrap="square" lIns="0" tIns="0" rIns="0" bIns="0" rtlCol="0" anchor="ctr"/>
          <a:lstStyle/>
          <a:p>
            <a:pPr indent="0" marL="0">
              <a:buNone/>
            </a:pPr>
            <a:r>
              <a:rPr lang="en-US" sz="1700" b="1" dirty="0">
                <a:solidFill>
                  <a:srgbClr val="0E2E2C"/>
                </a:solidFill>
                <a:latin typeface="Cambria" pitchFamily="34" charset="0"/>
                <a:ea typeface="Cambria" pitchFamily="34" charset="-122"/>
                <a:cs typeface="Cambria" pitchFamily="34" charset="-120"/>
              </a:rPr>
              <a:t>Refuse rather than repair</a:t>
            </a:r>
            <a:endParaRPr lang="en-US" sz="1700" dirty="0"/>
          </a:p>
        </p:txBody>
      </p:sp>
      <p:sp>
        <p:nvSpPr>
          <p:cNvPr id="15" name="Text 13"/>
          <p:cNvSpPr txBox="1"/>
          <p:nvPr/>
        </p:nvSpPr>
        <p:spPr>
          <a:xfrm>
            <a:off x="1517904" y="5184648"/>
            <a:ext cx="9875520" cy="621792"/>
          </a:xfrm>
          <a:prstGeom prst="rect">
            <a:avLst/>
          </a:prstGeom>
          <a:noFill/>
          <a:ln/>
        </p:spPr>
        <p:txBody>
          <a:bodyPr wrap="square" lIns="0" tIns="0" rIns="0" bIns="0" rtlCol="0" anchor="t"/>
          <a:lstStyle/>
          <a:p>
            <a:pPr indent="0" marL="0">
              <a:buNone/>
            </a:pPr>
            <a:r>
              <a:rPr lang="en-US" sz="1200" dirty="0">
                <a:solidFill>
                  <a:srgbClr val="4B6B68"/>
                </a:solidFill>
                <a:latin typeface="Calibri" pitchFamily="34" charset="0"/>
                <a:ea typeface="Calibri" pitchFamily="34" charset="-122"/>
                <a:cs typeface="Calibri" pitchFamily="34" charset="-120"/>
              </a:rPr>
              <a:t>A rejected statement is reported to the user as a refusal. It is never rewritten and retried, because a repaired query is a query nobody reviewed — and that is exactly how a system becomes confidently wrong.</a:t>
            </a:r>
            <a:endParaRPr lang="en-US" sz="1200" dirty="0"/>
          </a:p>
        </p:txBody>
      </p:sp>
      <p:sp>
        <p:nvSpPr>
          <p:cNvPr id="16" name="Text 14"/>
          <p:cNvSpPr txBox="1"/>
          <p:nvPr/>
        </p:nvSpPr>
        <p:spPr>
          <a:xfrm>
            <a:off x="548640" y="6144768"/>
            <a:ext cx="11137392" cy="365760"/>
          </a:xfrm>
          <a:prstGeom prst="rect">
            <a:avLst/>
          </a:prstGeom>
          <a:noFill/>
          <a:ln/>
        </p:spPr>
        <p:txBody>
          <a:bodyPr wrap="square" lIns="0" tIns="0" rIns="0" bIns="0" rtlCol="0" anchor="ctr"/>
          <a:lstStyle/>
          <a:p>
            <a:pPr indent="0" marL="0">
              <a:buNone/>
            </a:pPr>
            <a:r>
              <a:rPr lang="en-US" sz="1250" dirty="0">
                <a:solidFill>
                  <a:srgbClr val="4B6B68"/>
                </a:solidFill>
                <a:latin typeface="Calibri" pitchFamily="34" charset="0"/>
                <a:ea typeface="Calibri" pitchFamily="34" charset="-122"/>
                <a:cs typeface="Calibri" pitchFamily="34" charset="-120"/>
              </a:rPr>
              <a:t>Every answer envelope carries    </a:t>
            </a:r>
            <a:pPr indent="0" marL="0">
              <a:buNone/>
            </a:pPr>
            <a:r>
              <a:rPr lang="en-US" sz="1250" b="1" dirty="0">
                <a:solidFill>
                  <a:srgbClr val="028090"/>
                </a:solidFill>
                <a:latin typeface="Courier New" pitchFamily="34" charset="0"/>
                <a:ea typeface="Courier New" pitchFamily="34" charset="-122"/>
                <a:cs typeface="Courier New" pitchFamily="34" charset="-120"/>
              </a:rPr>
              <a:t>sql</a:t>
            </a:r>
            <a:pPr indent="0" marL="0">
              <a:buNone/>
            </a:pPr>
            <a:r>
              <a:rPr lang="en-US" sz="1250" dirty="0">
                <a:solidFill>
                  <a:srgbClr val="C2DED9"/>
                </a:solidFill>
                <a:latin typeface="Calibri" pitchFamily="34" charset="0"/>
                <a:ea typeface="Calibri" pitchFamily="34" charset="-122"/>
                <a:cs typeface="Calibri" pitchFamily="34" charset="-120"/>
              </a:rPr>
              <a:t>  ·  </a:t>
            </a:r>
            <a:pPr indent="0" marL="0">
              <a:buNone/>
            </a:pPr>
            <a:r>
              <a:rPr lang="en-US" sz="1250" b="1" dirty="0">
                <a:solidFill>
                  <a:srgbClr val="028090"/>
                </a:solidFill>
                <a:latin typeface="Courier New" pitchFamily="34" charset="0"/>
                <a:ea typeface="Courier New" pitchFamily="34" charset="-122"/>
                <a:cs typeface="Courier New" pitchFamily="34" charset="-120"/>
              </a:rPr>
              <a:t>params</a:t>
            </a:r>
            <a:pPr indent="0" marL="0">
              <a:buNone/>
            </a:pPr>
            <a:r>
              <a:rPr lang="en-US" sz="1250" dirty="0">
                <a:solidFill>
                  <a:srgbClr val="C2DED9"/>
                </a:solidFill>
                <a:latin typeface="Calibri" pitchFamily="34" charset="0"/>
                <a:ea typeface="Calibri" pitchFamily="34" charset="-122"/>
                <a:cs typeface="Calibri" pitchFamily="34" charset="-120"/>
              </a:rPr>
              <a:t>  ·  </a:t>
            </a:r>
            <a:pPr indent="0" marL="0">
              <a:buNone/>
            </a:pPr>
            <a:r>
              <a:rPr lang="en-US" sz="1250" b="1" dirty="0">
                <a:solidFill>
                  <a:srgbClr val="028090"/>
                </a:solidFill>
                <a:latin typeface="Courier New" pitchFamily="34" charset="0"/>
                <a:ea typeface="Courier New" pitchFamily="34" charset="-122"/>
                <a:cs typeface="Courier New" pitchFamily="34" charset="-120"/>
              </a:rPr>
              <a:t>rows</a:t>
            </a:r>
            <a:pPr indent="0" marL="0">
              <a:buNone/>
            </a:pPr>
            <a:r>
              <a:rPr lang="en-US" sz="1250" dirty="0">
                <a:solidFill>
                  <a:srgbClr val="C2DED9"/>
                </a:solidFill>
                <a:latin typeface="Calibri" pitchFamily="34" charset="0"/>
                <a:ea typeface="Calibri" pitchFamily="34" charset="-122"/>
                <a:cs typeface="Calibri" pitchFamily="34" charset="-120"/>
              </a:rPr>
              <a:t>  ·  </a:t>
            </a:r>
            <a:pPr indent="0" marL="0">
              <a:buNone/>
            </a:pPr>
            <a:r>
              <a:rPr lang="en-US" sz="1250" b="1" dirty="0">
                <a:solidFill>
                  <a:srgbClr val="028090"/>
                </a:solidFill>
                <a:latin typeface="Courier New" pitchFamily="34" charset="0"/>
                <a:ea typeface="Courier New" pitchFamily="34" charset="-122"/>
                <a:cs typeface="Courier New" pitchFamily="34" charset="-120"/>
              </a:rPr>
              <a:t>timings</a:t>
            </a:r>
            <a:pPr indent="0" marL="0">
              <a:buNone/>
            </a:pPr>
            <a:r>
              <a:rPr lang="en-US" sz="1250" dirty="0">
                <a:solidFill>
                  <a:srgbClr val="4B6B68"/>
                </a:solidFill>
                <a:latin typeface="Calibri" pitchFamily="34" charset="0"/>
                <a:ea typeface="Calibri" pitchFamily="34" charset="-122"/>
                <a:cs typeface="Calibri" pitchFamily="34" charset="-120"/>
              </a:rPr>
              <a:t>    — so a disputed answer is checkable, not arguable.</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74320"/>
            <a:ext cx="5486400" cy="219456"/>
          </a:xfrm>
          <a:prstGeom prst="rect">
            <a:avLst/>
          </a:prstGeom>
          <a:noFill/>
          <a:ln/>
        </p:spPr>
        <p:txBody>
          <a:bodyPr wrap="square" lIns="0" tIns="0" rIns="0" bIns="0" rtlCol="0" anchor="ctr"/>
          <a:lstStyle/>
          <a:p>
            <a:pPr indent="0" marL="0">
              <a:buNone/>
            </a:pPr>
            <a:r>
              <a:rPr lang="en-US" sz="1050" b="1" spc="200" kern="0" dirty="0">
                <a:solidFill>
                  <a:srgbClr val="028090"/>
                </a:solidFill>
                <a:latin typeface="Calibri" pitchFamily="34" charset="0"/>
                <a:ea typeface="Calibri" pitchFamily="34" charset="-122"/>
                <a:cs typeface="Calibri" pitchFamily="34" charset="-120"/>
              </a:rPr>
              <a:t>STARTUP</a:t>
            </a:r>
            <a:endParaRPr lang="en-US" sz="1050" dirty="0"/>
          </a:p>
        </p:txBody>
      </p:sp>
      <p:sp>
        <p:nvSpPr>
          <p:cNvPr id="3" name="Text 1"/>
          <p:cNvSpPr txBox="1"/>
          <p:nvPr/>
        </p:nvSpPr>
        <p:spPr>
          <a:xfrm>
            <a:off x="548640" y="502920"/>
            <a:ext cx="8686800" cy="402336"/>
          </a:xfrm>
          <a:prstGeom prst="rect">
            <a:avLst/>
          </a:prstGeom>
          <a:noFill/>
          <a:ln/>
        </p:spPr>
        <p:txBody>
          <a:bodyPr wrap="square" lIns="0" tIns="0" rIns="0" bIns="0" rtlCol="0" anchor="ctr"/>
          <a:lstStyle/>
          <a:p>
            <a:pPr indent="0" marL="0">
              <a:buNone/>
            </a:pPr>
            <a:r>
              <a:rPr lang="en-US" sz="2600" b="1" dirty="0">
                <a:solidFill>
                  <a:srgbClr val="0E2E2C"/>
                </a:solidFill>
                <a:latin typeface="Cambria" pitchFamily="34" charset="0"/>
                <a:ea typeface="Cambria" pitchFamily="34" charset="-122"/>
                <a:cs typeface="Cambria" pitchFamily="34" charset="-120"/>
              </a:rPr>
              <a:t>Bring-up ordering — who waits for whom</a:t>
            </a:r>
            <a:endParaRPr lang="en-US" sz="2600" dirty="0"/>
          </a:p>
        </p:txBody>
      </p:sp>
      <p:sp>
        <p:nvSpPr>
          <p:cNvPr id="4" name="Shape 2"/>
          <p:cNvSpPr/>
          <p:nvPr/>
        </p:nvSpPr>
        <p:spPr>
          <a:xfrm>
            <a:off x="621792" y="1133856"/>
            <a:ext cx="1700784" cy="457200"/>
          </a:xfrm>
          <a:prstGeom prst="roundRect">
            <a:avLst>
              <a:gd name="adj" fmla="val 16000"/>
            </a:avLst>
          </a:prstGeom>
          <a:solidFill>
            <a:srgbClr val="062F35"/>
          </a:solidFill>
          <a:ln w="12700">
            <a:solidFill>
              <a:srgbClr val="062F35"/>
            </a:solidFill>
            <a:prstDash val="solid"/>
          </a:ln>
          <a:effectLst>
            <a:outerShdw sx="100000" sy="100000" kx="0" ky="0" algn="bl" rotWithShape="0" blurRad="101600" dist="50800" dir="5400000">
              <a:srgbClr val="FFFFFF">
                <a:alpha val="75000"/>
              </a:srgbClr>
            </a:outerShdw>
          </a:effectLst>
        </p:spPr>
      </p:sp>
      <p:sp>
        <p:nvSpPr>
          <p:cNvPr id="5" name="Text 3"/>
          <p:cNvSpPr txBox="1"/>
          <p:nvPr/>
        </p:nvSpPr>
        <p:spPr>
          <a:xfrm>
            <a:off x="621792" y="1161288"/>
            <a:ext cx="170078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docker compose</a:t>
            </a:r>
            <a:endParaRPr lang="en-US" sz="1100" dirty="0"/>
          </a:p>
        </p:txBody>
      </p:sp>
      <p:sp>
        <p:nvSpPr>
          <p:cNvPr id="6" name="Text 4"/>
          <p:cNvSpPr txBox="1"/>
          <p:nvPr/>
        </p:nvSpPr>
        <p:spPr>
          <a:xfrm>
            <a:off x="621792" y="1380744"/>
            <a:ext cx="1700784" cy="182880"/>
          </a:xfrm>
          <a:prstGeom prst="rect">
            <a:avLst/>
          </a:prstGeom>
          <a:noFill/>
          <a:ln/>
        </p:spPr>
        <p:txBody>
          <a:bodyPr wrap="square" lIns="0" tIns="0" rIns="0" bIns="0" rtlCol="0" anchor="ctr"/>
          <a:lstStyle/>
          <a:p>
            <a:pPr algn="ctr" indent="0" marL="0">
              <a:buNone/>
            </a:pPr>
            <a:r>
              <a:rPr lang="en-US" sz="850" dirty="0">
                <a:solidFill>
                  <a:srgbClr val="8FBFBC"/>
                </a:solidFill>
                <a:latin typeface="Calibri" pitchFamily="34" charset="0"/>
                <a:ea typeface="Calibri" pitchFamily="34" charset="-122"/>
                <a:cs typeface="Calibri" pitchFamily="34" charset="-120"/>
              </a:rPr>
              <a:t>orchestrator</a:t>
            </a:r>
            <a:endParaRPr lang="en-US" sz="850" dirty="0"/>
          </a:p>
        </p:txBody>
      </p:sp>
      <p:sp>
        <p:nvSpPr>
          <p:cNvPr id="7" name="Shape 5"/>
          <p:cNvSpPr/>
          <p:nvPr/>
        </p:nvSpPr>
        <p:spPr>
          <a:xfrm>
            <a:off x="1472184" y="1591056"/>
            <a:ext cx="0" cy="3913632"/>
          </a:xfrm>
          <a:prstGeom prst="line">
            <a:avLst/>
          </a:prstGeom>
          <a:noFill/>
          <a:ln w="12700">
            <a:solidFill>
              <a:srgbClr val="C9D8D6"/>
            </a:solidFill>
            <a:prstDash val="dash"/>
          </a:ln>
        </p:spPr>
      </p:sp>
      <p:sp>
        <p:nvSpPr>
          <p:cNvPr id="8" name="Shape 6"/>
          <p:cNvSpPr/>
          <p:nvPr/>
        </p:nvSpPr>
        <p:spPr>
          <a:xfrm>
            <a:off x="2478024" y="1133856"/>
            <a:ext cx="1700784" cy="457200"/>
          </a:xfrm>
          <a:prstGeom prst="roundRect">
            <a:avLst>
              <a:gd name="adj" fmla="val 16000"/>
            </a:avLst>
          </a:prstGeom>
          <a:solidFill>
            <a:srgbClr val="EDF6F4"/>
          </a:solidFill>
          <a:ln w="12700">
            <a:solidFill>
              <a:srgbClr val="C2DED9"/>
            </a:solidFill>
            <a:prstDash val="solid"/>
          </a:ln>
          <a:effectLst>
            <a:outerShdw sx="100000" sy="100000" kx="0" ky="0" algn="bl" rotWithShape="0" blurRad="101600" dist="50800" dir="5400000">
              <a:srgbClr val="FFFFFF">
                <a:alpha val="75000"/>
              </a:srgbClr>
            </a:outerShdw>
          </a:effectLst>
        </p:spPr>
      </p:sp>
      <p:sp>
        <p:nvSpPr>
          <p:cNvPr id="9" name="Text 7"/>
          <p:cNvSpPr txBox="1"/>
          <p:nvPr/>
        </p:nvSpPr>
        <p:spPr>
          <a:xfrm>
            <a:off x="2478024" y="1161288"/>
            <a:ext cx="1700784" cy="237744"/>
          </a:xfrm>
          <a:prstGeom prst="rect">
            <a:avLst/>
          </a:prstGeom>
          <a:noFill/>
          <a:ln/>
        </p:spPr>
        <p:txBody>
          <a:bodyPr wrap="square" lIns="0" tIns="0" rIns="0" bIns="0" rtlCol="0" anchor="ctr"/>
          <a:lstStyle/>
          <a:p>
            <a:pPr algn="ctr" indent="0" marL="0">
              <a:buNone/>
            </a:pPr>
            <a:r>
              <a:rPr lang="en-US" sz="1100" b="1" dirty="0">
                <a:solidFill>
                  <a:srgbClr val="0E2E2C"/>
                </a:solidFill>
                <a:latin typeface="Courier New" pitchFamily="34" charset="0"/>
                <a:ea typeface="Courier New" pitchFamily="34" charset="-122"/>
                <a:cs typeface="Courier New" pitchFamily="34" charset="-120"/>
              </a:rPr>
              <a:t>db</a:t>
            </a:r>
            <a:endParaRPr lang="en-US" sz="1100" dirty="0"/>
          </a:p>
        </p:txBody>
      </p:sp>
      <p:sp>
        <p:nvSpPr>
          <p:cNvPr id="10" name="Text 8"/>
          <p:cNvSpPr txBox="1"/>
          <p:nvPr/>
        </p:nvSpPr>
        <p:spPr>
          <a:xfrm>
            <a:off x="2478024" y="1380744"/>
            <a:ext cx="1700784" cy="182880"/>
          </a:xfrm>
          <a:prstGeom prst="rect">
            <a:avLst/>
          </a:prstGeom>
          <a:noFill/>
          <a:ln/>
        </p:spPr>
        <p:txBody>
          <a:bodyPr wrap="square" lIns="0" tIns="0" rIns="0" bIns="0" rtlCol="0" anchor="ctr"/>
          <a:lstStyle/>
          <a:p>
            <a:pPr algn="ctr" indent="0" marL="0">
              <a:buNone/>
            </a:pPr>
            <a:r>
              <a:rPr lang="en-US" sz="850" dirty="0">
                <a:solidFill>
                  <a:srgbClr val="4B6B68"/>
                </a:solidFill>
                <a:latin typeface="Calibri" pitchFamily="34" charset="0"/>
                <a:ea typeface="Calibri" pitchFamily="34" charset="-122"/>
                <a:cs typeface="Calibri" pitchFamily="34" charset="-120"/>
              </a:rPr>
              <a:t>PostgreSQL</a:t>
            </a:r>
            <a:endParaRPr lang="en-US" sz="850" dirty="0"/>
          </a:p>
        </p:txBody>
      </p:sp>
      <p:sp>
        <p:nvSpPr>
          <p:cNvPr id="11" name="Shape 9"/>
          <p:cNvSpPr/>
          <p:nvPr/>
        </p:nvSpPr>
        <p:spPr>
          <a:xfrm>
            <a:off x="3328416" y="1591056"/>
            <a:ext cx="0" cy="3913632"/>
          </a:xfrm>
          <a:prstGeom prst="line">
            <a:avLst/>
          </a:prstGeom>
          <a:noFill/>
          <a:ln w="12700">
            <a:solidFill>
              <a:srgbClr val="C9D8D6"/>
            </a:solidFill>
            <a:prstDash val="dash"/>
          </a:ln>
        </p:spPr>
      </p:sp>
      <p:sp>
        <p:nvSpPr>
          <p:cNvPr id="12" name="Shape 10"/>
          <p:cNvSpPr/>
          <p:nvPr/>
        </p:nvSpPr>
        <p:spPr>
          <a:xfrm>
            <a:off x="4325112" y="1133856"/>
            <a:ext cx="1700784" cy="457200"/>
          </a:xfrm>
          <a:prstGeom prst="roundRect">
            <a:avLst>
              <a:gd name="adj" fmla="val 16000"/>
            </a:avLst>
          </a:prstGeom>
          <a:solidFill>
            <a:srgbClr val="EDF6F4"/>
          </a:solidFill>
          <a:ln w="12700">
            <a:solidFill>
              <a:srgbClr val="C2DED9"/>
            </a:solidFill>
            <a:prstDash val="solid"/>
          </a:ln>
          <a:effectLst>
            <a:outerShdw sx="100000" sy="100000" kx="0" ky="0" algn="bl" rotWithShape="0" blurRad="101600" dist="50800" dir="5400000">
              <a:srgbClr val="FFFFFF">
                <a:alpha val="75000"/>
              </a:srgbClr>
            </a:outerShdw>
          </a:effectLst>
        </p:spPr>
      </p:sp>
      <p:sp>
        <p:nvSpPr>
          <p:cNvPr id="13" name="Text 11"/>
          <p:cNvSpPr txBox="1"/>
          <p:nvPr/>
        </p:nvSpPr>
        <p:spPr>
          <a:xfrm>
            <a:off x="4325112" y="1161288"/>
            <a:ext cx="1700784" cy="237744"/>
          </a:xfrm>
          <a:prstGeom prst="rect">
            <a:avLst/>
          </a:prstGeom>
          <a:noFill/>
          <a:ln/>
        </p:spPr>
        <p:txBody>
          <a:bodyPr wrap="square" lIns="0" tIns="0" rIns="0" bIns="0" rtlCol="0" anchor="ctr"/>
          <a:lstStyle/>
          <a:p>
            <a:pPr algn="ctr" indent="0" marL="0">
              <a:buNone/>
            </a:pPr>
            <a:r>
              <a:rPr lang="en-US" sz="1100" b="1" dirty="0">
                <a:solidFill>
                  <a:srgbClr val="0E2E2C"/>
                </a:solidFill>
                <a:latin typeface="Courier New" pitchFamily="34" charset="0"/>
                <a:ea typeface="Courier New" pitchFamily="34" charset="-122"/>
                <a:cs typeface="Courier New" pitchFamily="34" charset="-120"/>
              </a:rPr>
              <a:t>ollama</a:t>
            </a:r>
            <a:endParaRPr lang="en-US" sz="1100" dirty="0"/>
          </a:p>
        </p:txBody>
      </p:sp>
      <p:sp>
        <p:nvSpPr>
          <p:cNvPr id="14" name="Text 12"/>
          <p:cNvSpPr txBox="1"/>
          <p:nvPr/>
        </p:nvSpPr>
        <p:spPr>
          <a:xfrm>
            <a:off x="4325112" y="1380744"/>
            <a:ext cx="1700784" cy="182880"/>
          </a:xfrm>
          <a:prstGeom prst="rect">
            <a:avLst/>
          </a:prstGeom>
          <a:noFill/>
          <a:ln/>
        </p:spPr>
        <p:txBody>
          <a:bodyPr wrap="square" lIns="0" tIns="0" rIns="0" bIns="0" rtlCol="0" anchor="ctr"/>
          <a:lstStyle/>
          <a:p>
            <a:pPr algn="ctr" indent="0" marL="0">
              <a:buNone/>
            </a:pPr>
            <a:r>
              <a:rPr lang="en-US" sz="850" dirty="0">
                <a:solidFill>
                  <a:srgbClr val="4B6B68"/>
                </a:solidFill>
                <a:latin typeface="Calibri" pitchFamily="34" charset="0"/>
                <a:ea typeface="Calibri" pitchFamily="34" charset="-122"/>
                <a:cs typeface="Calibri" pitchFamily="34" charset="-120"/>
              </a:rPr>
              <a:t>model server</a:t>
            </a:r>
            <a:endParaRPr lang="en-US" sz="850" dirty="0"/>
          </a:p>
        </p:txBody>
      </p:sp>
      <p:sp>
        <p:nvSpPr>
          <p:cNvPr id="15" name="Shape 13"/>
          <p:cNvSpPr/>
          <p:nvPr/>
        </p:nvSpPr>
        <p:spPr>
          <a:xfrm>
            <a:off x="5175504" y="1591056"/>
            <a:ext cx="0" cy="3913632"/>
          </a:xfrm>
          <a:prstGeom prst="line">
            <a:avLst/>
          </a:prstGeom>
          <a:noFill/>
          <a:ln w="12700">
            <a:solidFill>
              <a:srgbClr val="C9D8D6"/>
            </a:solidFill>
            <a:prstDash val="dash"/>
          </a:ln>
        </p:spPr>
      </p:sp>
      <p:sp>
        <p:nvSpPr>
          <p:cNvPr id="16" name="Shape 14"/>
          <p:cNvSpPr/>
          <p:nvPr/>
        </p:nvSpPr>
        <p:spPr>
          <a:xfrm>
            <a:off x="6181344" y="1133856"/>
            <a:ext cx="1700784" cy="457200"/>
          </a:xfrm>
          <a:prstGeom prst="roundRect">
            <a:avLst>
              <a:gd name="adj" fmla="val 16000"/>
            </a:avLst>
          </a:prstGeom>
          <a:solidFill>
            <a:srgbClr val="EDF6F4"/>
          </a:solidFill>
          <a:ln w="12700">
            <a:solidFill>
              <a:srgbClr val="C2DED9"/>
            </a:solidFill>
            <a:prstDash val="solid"/>
          </a:ln>
          <a:effectLst>
            <a:outerShdw sx="100000" sy="100000" kx="0" ky="0" algn="bl" rotWithShape="0" blurRad="101600" dist="50800" dir="5400000">
              <a:srgbClr val="FFFFFF">
                <a:alpha val="75000"/>
              </a:srgbClr>
            </a:outerShdw>
          </a:effectLst>
        </p:spPr>
      </p:sp>
      <p:sp>
        <p:nvSpPr>
          <p:cNvPr id="17" name="Text 15"/>
          <p:cNvSpPr txBox="1"/>
          <p:nvPr/>
        </p:nvSpPr>
        <p:spPr>
          <a:xfrm>
            <a:off x="6181344" y="1161288"/>
            <a:ext cx="1700784" cy="237744"/>
          </a:xfrm>
          <a:prstGeom prst="rect">
            <a:avLst/>
          </a:prstGeom>
          <a:noFill/>
          <a:ln/>
        </p:spPr>
        <p:txBody>
          <a:bodyPr wrap="square" lIns="0" tIns="0" rIns="0" bIns="0" rtlCol="0" anchor="ctr"/>
          <a:lstStyle/>
          <a:p>
            <a:pPr algn="ctr" indent="0" marL="0">
              <a:buNone/>
            </a:pPr>
            <a:r>
              <a:rPr lang="en-US" sz="1100" b="1" dirty="0">
                <a:solidFill>
                  <a:srgbClr val="0E2E2C"/>
                </a:solidFill>
                <a:latin typeface="Courier New" pitchFamily="34" charset="0"/>
                <a:ea typeface="Courier New" pitchFamily="34" charset="-122"/>
                <a:cs typeface="Courier New" pitchFamily="34" charset="-120"/>
              </a:rPr>
              <a:t>ollama-init</a:t>
            </a:r>
            <a:endParaRPr lang="en-US" sz="1100" dirty="0"/>
          </a:p>
        </p:txBody>
      </p:sp>
      <p:sp>
        <p:nvSpPr>
          <p:cNvPr id="18" name="Text 16"/>
          <p:cNvSpPr txBox="1"/>
          <p:nvPr/>
        </p:nvSpPr>
        <p:spPr>
          <a:xfrm>
            <a:off x="6181344" y="1380744"/>
            <a:ext cx="1700784" cy="182880"/>
          </a:xfrm>
          <a:prstGeom prst="rect">
            <a:avLst/>
          </a:prstGeom>
          <a:noFill/>
          <a:ln/>
        </p:spPr>
        <p:txBody>
          <a:bodyPr wrap="square" lIns="0" tIns="0" rIns="0" bIns="0" rtlCol="0" anchor="ctr"/>
          <a:lstStyle/>
          <a:p>
            <a:pPr algn="ctr" indent="0" marL="0">
              <a:buNone/>
            </a:pPr>
            <a:r>
              <a:rPr lang="en-US" sz="850" dirty="0">
                <a:solidFill>
                  <a:srgbClr val="4B6B68"/>
                </a:solidFill>
                <a:latin typeface="Calibri" pitchFamily="34" charset="0"/>
                <a:ea typeface="Calibri" pitchFamily="34" charset="-122"/>
                <a:cs typeface="Calibri" pitchFamily="34" charset="-120"/>
              </a:rPr>
              <a:t>one-shot</a:t>
            </a:r>
            <a:endParaRPr lang="en-US" sz="850" dirty="0"/>
          </a:p>
        </p:txBody>
      </p:sp>
      <p:sp>
        <p:nvSpPr>
          <p:cNvPr id="19" name="Shape 17"/>
          <p:cNvSpPr/>
          <p:nvPr/>
        </p:nvSpPr>
        <p:spPr>
          <a:xfrm>
            <a:off x="7031736" y="1591056"/>
            <a:ext cx="0" cy="3913632"/>
          </a:xfrm>
          <a:prstGeom prst="line">
            <a:avLst/>
          </a:prstGeom>
          <a:noFill/>
          <a:ln w="12700">
            <a:solidFill>
              <a:srgbClr val="C9D8D6"/>
            </a:solidFill>
            <a:prstDash val="dash"/>
          </a:ln>
        </p:spPr>
      </p:sp>
      <p:sp>
        <p:nvSpPr>
          <p:cNvPr id="20" name="Shape 18"/>
          <p:cNvSpPr/>
          <p:nvPr/>
        </p:nvSpPr>
        <p:spPr>
          <a:xfrm>
            <a:off x="8028432" y="1133856"/>
            <a:ext cx="1700784" cy="457200"/>
          </a:xfrm>
          <a:prstGeom prst="roundRect">
            <a:avLst>
              <a:gd name="adj" fmla="val 16000"/>
            </a:avLst>
          </a:prstGeom>
          <a:solidFill>
            <a:srgbClr val="EDF6F4"/>
          </a:solidFill>
          <a:ln w="12700">
            <a:solidFill>
              <a:srgbClr val="C2DED9"/>
            </a:solidFill>
            <a:prstDash val="solid"/>
          </a:ln>
          <a:effectLst>
            <a:outerShdw sx="100000" sy="100000" kx="0" ky="0" algn="bl" rotWithShape="0" blurRad="101600" dist="50800" dir="5400000">
              <a:srgbClr val="FFFFFF">
                <a:alpha val="75000"/>
              </a:srgbClr>
            </a:outerShdw>
          </a:effectLst>
        </p:spPr>
      </p:sp>
      <p:sp>
        <p:nvSpPr>
          <p:cNvPr id="21" name="Text 19"/>
          <p:cNvSpPr txBox="1"/>
          <p:nvPr/>
        </p:nvSpPr>
        <p:spPr>
          <a:xfrm>
            <a:off x="8028432" y="1161288"/>
            <a:ext cx="1700784" cy="237744"/>
          </a:xfrm>
          <a:prstGeom prst="rect">
            <a:avLst/>
          </a:prstGeom>
          <a:noFill/>
          <a:ln/>
        </p:spPr>
        <p:txBody>
          <a:bodyPr wrap="square" lIns="0" tIns="0" rIns="0" bIns="0" rtlCol="0" anchor="ctr"/>
          <a:lstStyle/>
          <a:p>
            <a:pPr algn="ctr" indent="0" marL="0">
              <a:buNone/>
            </a:pPr>
            <a:r>
              <a:rPr lang="en-US" sz="1100" b="1" dirty="0">
                <a:solidFill>
                  <a:srgbClr val="0E2E2C"/>
                </a:solidFill>
                <a:latin typeface="Courier New" pitchFamily="34" charset="0"/>
                <a:ea typeface="Courier New" pitchFamily="34" charset="-122"/>
                <a:cs typeface="Courier New" pitchFamily="34" charset="-120"/>
              </a:rPr>
              <a:t>seed</a:t>
            </a:r>
            <a:endParaRPr lang="en-US" sz="1100" dirty="0"/>
          </a:p>
        </p:txBody>
      </p:sp>
      <p:sp>
        <p:nvSpPr>
          <p:cNvPr id="22" name="Text 20"/>
          <p:cNvSpPr txBox="1"/>
          <p:nvPr/>
        </p:nvSpPr>
        <p:spPr>
          <a:xfrm>
            <a:off x="8028432" y="1380744"/>
            <a:ext cx="1700784" cy="182880"/>
          </a:xfrm>
          <a:prstGeom prst="rect">
            <a:avLst/>
          </a:prstGeom>
          <a:noFill/>
          <a:ln/>
        </p:spPr>
        <p:txBody>
          <a:bodyPr wrap="square" lIns="0" tIns="0" rIns="0" bIns="0" rtlCol="0" anchor="ctr"/>
          <a:lstStyle/>
          <a:p>
            <a:pPr algn="ctr" indent="0" marL="0">
              <a:buNone/>
            </a:pPr>
            <a:r>
              <a:rPr lang="en-US" sz="850" dirty="0">
                <a:solidFill>
                  <a:srgbClr val="4B6B68"/>
                </a:solidFill>
                <a:latin typeface="Calibri" pitchFamily="34" charset="0"/>
                <a:ea typeface="Calibri" pitchFamily="34" charset="-122"/>
                <a:cs typeface="Calibri" pitchFamily="34" charset="-120"/>
              </a:rPr>
              <a:t>one-shot</a:t>
            </a:r>
            <a:endParaRPr lang="en-US" sz="850" dirty="0"/>
          </a:p>
        </p:txBody>
      </p:sp>
      <p:sp>
        <p:nvSpPr>
          <p:cNvPr id="23" name="Shape 21"/>
          <p:cNvSpPr/>
          <p:nvPr/>
        </p:nvSpPr>
        <p:spPr>
          <a:xfrm>
            <a:off x="8878824" y="1591056"/>
            <a:ext cx="0" cy="3913632"/>
          </a:xfrm>
          <a:prstGeom prst="line">
            <a:avLst/>
          </a:prstGeom>
          <a:noFill/>
          <a:ln w="12700">
            <a:solidFill>
              <a:srgbClr val="C9D8D6"/>
            </a:solidFill>
            <a:prstDash val="dash"/>
          </a:ln>
        </p:spPr>
      </p:sp>
      <p:sp>
        <p:nvSpPr>
          <p:cNvPr id="24" name="Shape 22"/>
          <p:cNvSpPr/>
          <p:nvPr/>
        </p:nvSpPr>
        <p:spPr>
          <a:xfrm>
            <a:off x="9884664" y="1133856"/>
            <a:ext cx="1700784" cy="457200"/>
          </a:xfrm>
          <a:prstGeom prst="roundRect">
            <a:avLst>
              <a:gd name="adj" fmla="val 16000"/>
            </a:avLst>
          </a:prstGeom>
          <a:solidFill>
            <a:srgbClr val="EDF6F4"/>
          </a:solidFill>
          <a:ln w="12700">
            <a:solidFill>
              <a:srgbClr val="C2DED9"/>
            </a:solidFill>
            <a:prstDash val="solid"/>
          </a:ln>
          <a:effectLst>
            <a:outerShdw sx="100000" sy="100000" kx="0" ky="0" algn="bl" rotWithShape="0" blurRad="101600" dist="50800" dir="5400000">
              <a:srgbClr val="FFFFFF">
                <a:alpha val="75000"/>
              </a:srgbClr>
            </a:outerShdw>
          </a:effectLst>
        </p:spPr>
      </p:sp>
      <p:sp>
        <p:nvSpPr>
          <p:cNvPr id="25" name="Text 23"/>
          <p:cNvSpPr txBox="1"/>
          <p:nvPr/>
        </p:nvSpPr>
        <p:spPr>
          <a:xfrm>
            <a:off x="9884664" y="1161288"/>
            <a:ext cx="1700784" cy="237744"/>
          </a:xfrm>
          <a:prstGeom prst="rect">
            <a:avLst/>
          </a:prstGeom>
          <a:noFill/>
          <a:ln/>
        </p:spPr>
        <p:txBody>
          <a:bodyPr wrap="square" lIns="0" tIns="0" rIns="0" bIns="0" rtlCol="0" anchor="ctr"/>
          <a:lstStyle/>
          <a:p>
            <a:pPr algn="ctr" indent="0" marL="0">
              <a:buNone/>
            </a:pPr>
            <a:r>
              <a:rPr lang="en-US" sz="1100" b="1" dirty="0">
                <a:solidFill>
                  <a:srgbClr val="0E2E2C"/>
                </a:solidFill>
                <a:latin typeface="Courier New" pitchFamily="34" charset="0"/>
                <a:ea typeface="Courier New" pitchFamily="34" charset="-122"/>
                <a:cs typeface="Courier New" pitchFamily="34" charset="-120"/>
              </a:rPr>
              <a:t>app</a:t>
            </a:r>
            <a:endParaRPr lang="en-US" sz="1100" dirty="0"/>
          </a:p>
        </p:txBody>
      </p:sp>
      <p:sp>
        <p:nvSpPr>
          <p:cNvPr id="26" name="Text 24"/>
          <p:cNvSpPr txBox="1"/>
          <p:nvPr/>
        </p:nvSpPr>
        <p:spPr>
          <a:xfrm>
            <a:off x="9884664" y="1380744"/>
            <a:ext cx="1700784" cy="182880"/>
          </a:xfrm>
          <a:prstGeom prst="rect">
            <a:avLst/>
          </a:prstGeom>
          <a:noFill/>
          <a:ln/>
        </p:spPr>
        <p:txBody>
          <a:bodyPr wrap="square" lIns="0" tIns="0" rIns="0" bIns="0" rtlCol="0" anchor="ctr"/>
          <a:lstStyle/>
          <a:p>
            <a:pPr algn="ctr" indent="0" marL="0">
              <a:buNone/>
            </a:pPr>
            <a:r>
              <a:rPr lang="en-US" sz="850" dirty="0">
                <a:solidFill>
                  <a:srgbClr val="4B6B68"/>
                </a:solidFill>
                <a:latin typeface="Calibri" pitchFamily="34" charset="0"/>
                <a:ea typeface="Calibri" pitchFamily="34" charset="-122"/>
                <a:cs typeface="Calibri" pitchFamily="34" charset="-120"/>
              </a:rPr>
              <a:t>FastAPI</a:t>
            </a:r>
            <a:endParaRPr lang="en-US" sz="850" dirty="0"/>
          </a:p>
        </p:txBody>
      </p:sp>
      <p:sp>
        <p:nvSpPr>
          <p:cNvPr id="27" name="Shape 25"/>
          <p:cNvSpPr/>
          <p:nvPr/>
        </p:nvSpPr>
        <p:spPr>
          <a:xfrm>
            <a:off x="10735056" y="1591056"/>
            <a:ext cx="0" cy="3913632"/>
          </a:xfrm>
          <a:prstGeom prst="line">
            <a:avLst/>
          </a:prstGeom>
          <a:noFill/>
          <a:ln w="12700">
            <a:solidFill>
              <a:srgbClr val="C9D8D6"/>
            </a:solidFill>
            <a:prstDash val="dash"/>
          </a:ln>
        </p:spPr>
      </p:sp>
      <p:sp>
        <p:nvSpPr>
          <p:cNvPr id="28" name="Shape 26"/>
          <p:cNvSpPr/>
          <p:nvPr/>
        </p:nvSpPr>
        <p:spPr>
          <a:xfrm>
            <a:off x="1472184" y="1865376"/>
            <a:ext cx="1856232" cy="0"/>
          </a:xfrm>
          <a:prstGeom prst="line">
            <a:avLst/>
          </a:prstGeom>
          <a:noFill/>
          <a:ln w="20320">
            <a:solidFill>
              <a:srgbClr val="028090"/>
            </a:solidFill>
            <a:prstDash val="solid"/>
            <a:headEnd type="none"/>
            <a:tailEnd type="triangle"/>
          </a:ln>
        </p:spPr>
      </p:sp>
      <p:sp>
        <p:nvSpPr>
          <p:cNvPr id="29" name="Text 27"/>
          <p:cNvSpPr/>
          <p:nvPr/>
        </p:nvSpPr>
        <p:spPr>
          <a:xfrm>
            <a:off x="2023110" y="1664208"/>
            <a:ext cx="754380" cy="192024"/>
          </a:xfrm>
          <a:prstGeom prst="rect">
            <a:avLst/>
          </a:prstGeom>
          <a:solidFill>
            <a:srgbClr val="FFFFFF"/>
          </a:solidFill>
          <a:ln>
            <a:solidFill>
              <a:srgbClr val="FFFFFF"/>
            </a:solidFill>
          </a:ln>
        </p:spPr>
        <p:txBody>
          <a:bodyPr wrap="square" lIns="0" tIns="0" rIns="0" bIns="0" rtlCol="0" anchor="ctr"/>
          <a:lstStyle/>
          <a:p>
            <a:pPr algn="ctr" indent="0" marL="0">
              <a:buNone/>
            </a:pPr>
            <a:r>
              <a:rPr lang="en-US" sz="900" b="1" dirty="0">
                <a:solidFill>
                  <a:srgbClr val="00A896"/>
                </a:solidFill>
                <a:latin typeface="Calibri" pitchFamily="34" charset="0"/>
                <a:ea typeface="Calibri" pitchFamily="34" charset="-122"/>
                <a:cs typeface="Calibri" pitchFamily="34" charset="-120"/>
              </a:rPr>
              <a:t>1   </a:t>
            </a:r>
            <a:pPr algn="ctr" indent="0" marL="0">
              <a:buNone/>
            </a:pPr>
            <a:r>
              <a:rPr lang="en-US" sz="900" dirty="0">
                <a:solidFill>
                  <a:srgbClr val="0E2E2C"/>
                </a:solidFill>
                <a:latin typeface="Calibri" pitchFamily="34" charset="0"/>
                <a:ea typeface="Calibri" pitchFamily="34" charset="-122"/>
                <a:cs typeface="Calibri" pitchFamily="34" charset="-120"/>
              </a:rPr>
              <a:t>start</a:t>
            </a:r>
            <a:endParaRPr lang="en-US" sz="900" dirty="0"/>
          </a:p>
        </p:txBody>
      </p:sp>
      <p:sp>
        <p:nvSpPr>
          <p:cNvPr id="30" name="Shape 28"/>
          <p:cNvSpPr/>
          <p:nvPr/>
        </p:nvSpPr>
        <p:spPr>
          <a:xfrm>
            <a:off x="1472184" y="2157984"/>
            <a:ext cx="1856232" cy="0"/>
          </a:xfrm>
          <a:prstGeom prst="line">
            <a:avLst/>
          </a:prstGeom>
          <a:noFill/>
          <a:ln w="13970">
            <a:solidFill>
              <a:srgbClr val="9FB3B1"/>
            </a:solidFill>
            <a:prstDash val="dash"/>
            <a:headEnd type="triangle"/>
            <a:tailEnd type="none"/>
          </a:ln>
        </p:spPr>
      </p:sp>
      <p:sp>
        <p:nvSpPr>
          <p:cNvPr id="31" name="Text 29"/>
          <p:cNvSpPr/>
          <p:nvPr/>
        </p:nvSpPr>
        <p:spPr>
          <a:xfrm>
            <a:off x="1577340" y="1956816"/>
            <a:ext cx="1645920" cy="192024"/>
          </a:xfrm>
          <a:prstGeom prst="rect">
            <a:avLst/>
          </a:prstGeom>
          <a:solidFill>
            <a:srgbClr val="FFFFFF"/>
          </a:solidFill>
          <a:ln>
            <a:solidFill>
              <a:srgbClr val="FFFFFF"/>
            </a:solidFill>
          </a:ln>
        </p:spPr>
        <p:txBody>
          <a:bodyPr wrap="square" lIns="0" tIns="0" rIns="0" bIns="0" rtlCol="0" anchor="ctr"/>
          <a:lstStyle/>
          <a:p>
            <a:pPr algn="ctr" indent="0" marL="0">
              <a:buNone/>
            </a:pPr>
            <a:r>
              <a:rPr lang="en-US" sz="900" b="1" dirty="0">
                <a:solidFill>
                  <a:srgbClr val="9FB3B1"/>
                </a:solidFill>
                <a:latin typeface="Calibri" pitchFamily="34" charset="0"/>
                <a:ea typeface="Calibri" pitchFamily="34" charset="-122"/>
                <a:cs typeface="Calibri" pitchFamily="34" charset="-120"/>
              </a:rPr>
              <a:t>2   </a:t>
            </a:r>
            <a:pPr algn="ctr" indent="0" marL="0">
              <a:buNone/>
            </a:pPr>
            <a:r>
              <a:rPr lang="en-US" sz="900" dirty="0">
                <a:solidFill>
                  <a:srgbClr val="4B6B68"/>
                </a:solidFill>
                <a:latin typeface="Calibri" pitchFamily="34" charset="0"/>
                <a:ea typeface="Calibri" pitchFamily="34" charset="-122"/>
                <a:cs typeface="Calibri" pitchFamily="34" charset="-120"/>
              </a:rPr>
              <a:t>healthy — pg_isready</a:t>
            </a:r>
            <a:endParaRPr lang="en-US" sz="900" dirty="0"/>
          </a:p>
        </p:txBody>
      </p:sp>
      <p:sp>
        <p:nvSpPr>
          <p:cNvPr id="32" name="Shape 30"/>
          <p:cNvSpPr/>
          <p:nvPr/>
        </p:nvSpPr>
        <p:spPr>
          <a:xfrm>
            <a:off x="1472184" y="2450592"/>
            <a:ext cx="3703320" cy="0"/>
          </a:xfrm>
          <a:prstGeom prst="line">
            <a:avLst/>
          </a:prstGeom>
          <a:noFill/>
          <a:ln w="20320">
            <a:solidFill>
              <a:srgbClr val="028090"/>
            </a:solidFill>
            <a:prstDash val="solid"/>
            <a:headEnd type="none"/>
            <a:tailEnd type="triangle"/>
          </a:ln>
        </p:spPr>
      </p:sp>
      <p:sp>
        <p:nvSpPr>
          <p:cNvPr id="33" name="Text 31"/>
          <p:cNvSpPr/>
          <p:nvPr/>
        </p:nvSpPr>
        <p:spPr>
          <a:xfrm>
            <a:off x="2946654" y="2249424"/>
            <a:ext cx="754380" cy="192024"/>
          </a:xfrm>
          <a:prstGeom prst="rect">
            <a:avLst/>
          </a:prstGeom>
          <a:solidFill>
            <a:srgbClr val="FFFFFF"/>
          </a:solidFill>
          <a:ln>
            <a:solidFill>
              <a:srgbClr val="FFFFFF"/>
            </a:solidFill>
          </a:ln>
        </p:spPr>
        <p:txBody>
          <a:bodyPr wrap="square" lIns="0" tIns="0" rIns="0" bIns="0" rtlCol="0" anchor="ctr"/>
          <a:lstStyle/>
          <a:p>
            <a:pPr algn="ctr" indent="0" marL="0">
              <a:buNone/>
            </a:pPr>
            <a:r>
              <a:rPr lang="en-US" sz="900" b="1" dirty="0">
                <a:solidFill>
                  <a:srgbClr val="00A896"/>
                </a:solidFill>
                <a:latin typeface="Calibri" pitchFamily="34" charset="0"/>
                <a:ea typeface="Calibri" pitchFamily="34" charset="-122"/>
                <a:cs typeface="Calibri" pitchFamily="34" charset="-120"/>
              </a:rPr>
              <a:t>3   </a:t>
            </a:r>
            <a:pPr algn="ctr" indent="0" marL="0">
              <a:buNone/>
            </a:pPr>
            <a:r>
              <a:rPr lang="en-US" sz="900" dirty="0">
                <a:solidFill>
                  <a:srgbClr val="0E2E2C"/>
                </a:solidFill>
                <a:latin typeface="Calibri" pitchFamily="34" charset="0"/>
                <a:ea typeface="Calibri" pitchFamily="34" charset="-122"/>
                <a:cs typeface="Calibri" pitchFamily="34" charset="-120"/>
              </a:rPr>
              <a:t>start</a:t>
            </a:r>
            <a:endParaRPr lang="en-US" sz="900" dirty="0"/>
          </a:p>
        </p:txBody>
      </p:sp>
      <p:sp>
        <p:nvSpPr>
          <p:cNvPr id="34" name="Shape 32"/>
          <p:cNvSpPr/>
          <p:nvPr/>
        </p:nvSpPr>
        <p:spPr>
          <a:xfrm>
            <a:off x="1472184" y="2743200"/>
            <a:ext cx="3703320" cy="0"/>
          </a:xfrm>
          <a:prstGeom prst="line">
            <a:avLst/>
          </a:prstGeom>
          <a:noFill/>
          <a:ln w="13970">
            <a:solidFill>
              <a:srgbClr val="9FB3B1"/>
            </a:solidFill>
            <a:prstDash val="dash"/>
            <a:headEnd type="triangle"/>
            <a:tailEnd type="none"/>
          </a:ln>
        </p:spPr>
      </p:sp>
      <p:sp>
        <p:nvSpPr>
          <p:cNvPr id="35" name="Text 33"/>
          <p:cNvSpPr/>
          <p:nvPr/>
        </p:nvSpPr>
        <p:spPr>
          <a:xfrm>
            <a:off x="2471166" y="2542032"/>
            <a:ext cx="1705356" cy="192024"/>
          </a:xfrm>
          <a:prstGeom prst="rect">
            <a:avLst/>
          </a:prstGeom>
          <a:solidFill>
            <a:srgbClr val="FFFFFF"/>
          </a:solidFill>
          <a:ln>
            <a:solidFill>
              <a:srgbClr val="FFFFFF"/>
            </a:solidFill>
          </a:ln>
        </p:spPr>
        <p:txBody>
          <a:bodyPr wrap="square" lIns="0" tIns="0" rIns="0" bIns="0" rtlCol="0" anchor="ctr"/>
          <a:lstStyle/>
          <a:p>
            <a:pPr algn="ctr" indent="0" marL="0">
              <a:buNone/>
            </a:pPr>
            <a:r>
              <a:rPr lang="en-US" sz="900" b="1" dirty="0">
                <a:solidFill>
                  <a:srgbClr val="9FB3B1"/>
                </a:solidFill>
                <a:latin typeface="Calibri" pitchFamily="34" charset="0"/>
                <a:ea typeface="Calibri" pitchFamily="34" charset="-122"/>
                <a:cs typeface="Calibri" pitchFamily="34" charset="-120"/>
              </a:rPr>
              <a:t>4   </a:t>
            </a:r>
            <a:pPr algn="ctr" indent="0" marL="0">
              <a:buNone/>
            </a:pPr>
            <a:r>
              <a:rPr lang="en-US" sz="900" dirty="0">
                <a:solidFill>
                  <a:srgbClr val="4B6B68"/>
                </a:solidFill>
                <a:latin typeface="Calibri" pitchFamily="34" charset="0"/>
                <a:ea typeface="Calibri" pitchFamily="34" charset="-122"/>
                <a:cs typeface="Calibri" pitchFamily="34" charset="-120"/>
              </a:rPr>
              <a:t>healthy — ollama list</a:t>
            </a:r>
            <a:endParaRPr lang="en-US" sz="900" dirty="0"/>
          </a:p>
        </p:txBody>
      </p:sp>
      <p:sp>
        <p:nvSpPr>
          <p:cNvPr id="36" name="Shape 34"/>
          <p:cNvSpPr/>
          <p:nvPr/>
        </p:nvSpPr>
        <p:spPr>
          <a:xfrm>
            <a:off x="1472184" y="3035808"/>
            <a:ext cx="5559552" cy="0"/>
          </a:xfrm>
          <a:prstGeom prst="line">
            <a:avLst/>
          </a:prstGeom>
          <a:noFill/>
          <a:ln w="20320">
            <a:solidFill>
              <a:srgbClr val="028090"/>
            </a:solidFill>
            <a:prstDash val="solid"/>
            <a:headEnd type="none"/>
            <a:tailEnd type="triangle"/>
          </a:ln>
        </p:spPr>
      </p:sp>
      <p:sp>
        <p:nvSpPr>
          <p:cNvPr id="37" name="Text 35"/>
          <p:cNvSpPr/>
          <p:nvPr/>
        </p:nvSpPr>
        <p:spPr>
          <a:xfrm>
            <a:off x="2983230" y="2834640"/>
            <a:ext cx="2537460" cy="192024"/>
          </a:xfrm>
          <a:prstGeom prst="rect">
            <a:avLst/>
          </a:prstGeom>
          <a:solidFill>
            <a:srgbClr val="FFFFFF"/>
          </a:solidFill>
          <a:ln>
            <a:solidFill>
              <a:srgbClr val="FFFFFF"/>
            </a:solidFill>
          </a:ln>
        </p:spPr>
        <p:txBody>
          <a:bodyPr wrap="square" lIns="0" tIns="0" rIns="0" bIns="0" rtlCol="0" anchor="ctr"/>
          <a:lstStyle/>
          <a:p>
            <a:pPr algn="ctr" indent="0" marL="0">
              <a:buNone/>
            </a:pPr>
            <a:r>
              <a:rPr lang="en-US" sz="900" b="1" dirty="0">
                <a:solidFill>
                  <a:srgbClr val="00A896"/>
                </a:solidFill>
                <a:latin typeface="Calibri" pitchFamily="34" charset="0"/>
                <a:ea typeface="Calibri" pitchFamily="34" charset="-122"/>
                <a:cs typeface="Calibri" pitchFamily="34" charset="-120"/>
              </a:rPr>
              <a:t>5   </a:t>
            </a:r>
            <a:pPr algn="ctr" indent="0" marL="0">
              <a:buNone/>
            </a:pPr>
            <a:r>
              <a:rPr lang="en-US" sz="900" dirty="0">
                <a:solidFill>
                  <a:srgbClr val="0E2E2C"/>
                </a:solidFill>
                <a:latin typeface="Calibri" pitchFamily="34" charset="0"/>
                <a:ea typeface="Calibri" pitchFamily="34" charset="-122"/>
                <a:cs typeface="Calibri" pitchFamily="34" charset="-120"/>
              </a:rPr>
              <a:t>start (only once ollama is healthy)</a:t>
            </a:r>
            <a:endParaRPr lang="en-US" sz="900" dirty="0"/>
          </a:p>
        </p:txBody>
      </p:sp>
      <p:sp>
        <p:nvSpPr>
          <p:cNvPr id="38" name="Shape 36"/>
          <p:cNvSpPr/>
          <p:nvPr/>
        </p:nvSpPr>
        <p:spPr>
          <a:xfrm>
            <a:off x="5175504" y="3328416"/>
            <a:ext cx="1856232" cy="0"/>
          </a:xfrm>
          <a:prstGeom prst="line">
            <a:avLst/>
          </a:prstGeom>
          <a:noFill/>
          <a:ln w="20320">
            <a:solidFill>
              <a:srgbClr val="028090"/>
            </a:solidFill>
            <a:prstDash val="solid"/>
            <a:headEnd type="triangle"/>
            <a:tailEnd type="none"/>
          </a:ln>
        </p:spPr>
      </p:sp>
      <p:sp>
        <p:nvSpPr>
          <p:cNvPr id="39" name="Text 37"/>
          <p:cNvSpPr/>
          <p:nvPr/>
        </p:nvSpPr>
        <p:spPr>
          <a:xfrm>
            <a:off x="4983480" y="3127248"/>
            <a:ext cx="2240280" cy="192024"/>
          </a:xfrm>
          <a:prstGeom prst="rect">
            <a:avLst/>
          </a:prstGeom>
          <a:solidFill>
            <a:srgbClr val="FFFFFF"/>
          </a:solidFill>
          <a:ln>
            <a:solidFill>
              <a:srgbClr val="FFFFFF"/>
            </a:solidFill>
          </a:ln>
        </p:spPr>
        <p:txBody>
          <a:bodyPr wrap="square" lIns="0" tIns="0" rIns="0" bIns="0" rtlCol="0" anchor="ctr"/>
          <a:lstStyle/>
          <a:p>
            <a:pPr algn="ctr" indent="0" marL="0">
              <a:buNone/>
            </a:pPr>
            <a:r>
              <a:rPr lang="en-US" sz="900" b="1" dirty="0">
                <a:solidFill>
                  <a:srgbClr val="00A896"/>
                </a:solidFill>
                <a:latin typeface="Calibri" pitchFamily="34" charset="0"/>
                <a:ea typeface="Calibri" pitchFamily="34" charset="-122"/>
                <a:cs typeface="Calibri" pitchFamily="34" charset="-120"/>
              </a:rPr>
              <a:t>6   </a:t>
            </a:r>
            <a:pPr algn="ctr" indent="0" marL="0">
              <a:buNone/>
            </a:pPr>
            <a:r>
              <a:rPr lang="en-US" sz="900" dirty="0">
                <a:solidFill>
                  <a:srgbClr val="0E2E2C"/>
                </a:solidFill>
                <a:latin typeface="Calibri" pitchFamily="34" charset="0"/>
                <a:ea typeface="Calibri" pitchFamily="34" charset="-122"/>
                <a:cs typeface="Calibri" pitchFamily="34" charset="-120"/>
              </a:rPr>
              <a:t>pull the model if it is absent</a:t>
            </a:r>
            <a:endParaRPr lang="en-US" sz="900" dirty="0"/>
          </a:p>
        </p:txBody>
      </p:sp>
      <p:sp>
        <p:nvSpPr>
          <p:cNvPr id="40" name="Shape 38"/>
          <p:cNvSpPr/>
          <p:nvPr/>
        </p:nvSpPr>
        <p:spPr>
          <a:xfrm>
            <a:off x="1472184" y="3621024"/>
            <a:ext cx="5559552" cy="0"/>
          </a:xfrm>
          <a:prstGeom prst="line">
            <a:avLst/>
          </a:prstGeom>
          <a:noFill/>
          <a:ln w="13970">
            <a:solidFill>
              <a:srgbClr val="9FB3B1"/>
            </a:solidFill>
            <a:prstDash val="dash"/>
            <a:headEnd type="triangle"/>
            <a:tailEnd type="none"/>
          </a:ln>
        </p:spPr>
      </p:sp>
      <p:sp>
        <p:nvSpPr>
          <p:cNvPr id="41" name="Text 39"/>
          <p:cNvSpPr/>
          <p:nvPr/>
        </p:nvSpPr>
        <p:spPr>
          <a:xfrm>
            <a:off x="3845052" y="3419856"/>
            <a:ext cx="813816" cy="192024"/>
          </a:xfrm>
          <a:prstGeom prst="rect">
            <a:avLst/>
          </a:prstGeom>
          <a:solidFill>
            <a:srgbClr val="FFFFFF"/>
          </a:solidFill>
          <a:ln>
            <a:solidFill>
              <a:srgbClr val="FFFFFF"/>
            </a:solidFill>
          </a:ln>
        </p:spPr>
        <p:txBody>
          <a:bodyPr wrap="square" lIns="0" tIns="0" rIns="0" bIns="0" rtlCol="0" anchor="ctr"/>
          <a:lstStyle/>
          <a:p>
            <a:pPr algn="ctr" indent="0" marL="0">
              <a:buNone/>
            </a:pPr>
            <a:r>
              <a:rPr lang="en-US" sz="900" b="1" dirty="0">
                <a:solidFill>
                  <a:srgbClr val="9FB3B1"/>
                </a:solidFill>
                <a:latin typeface="Calibri" pitchFamily="34" charset="0"/>
                <a:ea typeface="Calibri" pitchFamily="34" charset="-122"/>
                <a:cs typeface="Calibri" pitchFamily="34" charset="-120"/>
              </a:rPr>
              <a:t>7   </a:t>
            </a:r>
            <a:pPr algn="ctr" indent="0" marL="0">
              <a:buNone/>
            </a:pPr>
            <a:r>
              <a:rPr lang="en-US" sz="900" dirty="0">
                <a:solidFill>
                  <a:srgbClr val="4B6B68"/>
                </a:solidFill>
                <a:latin typeface="Calibri" pitchFamily="34" charset="0"/>
                <a:ea typeface="Calibri" pitchFamily="34" charset="-122"/>
                <a:cs typeface="Calibri" pitchFamily="34" charset="-120"/>
              </a:rPr>
              <a:t>exit 0</a:t>
            </a:r>
            <a:endParaRPr lang="en-US" sz="900" dirty="0"/>
          </a:p>
        </p:txBody>
      </p:sp>
      <p:sp>
        <p:nvSpPr>
          <p:cNvPr id="42" name="Shape 40"/>
          <p:cNvSpPr/>
          <p:nvPr/>
        </p:nvSpPr>
        <p:spPr>
          <a:xfrm>
            <a:off x="1472184" y="3913632"/>
            <a:ext cx="7406640" cy="0"/>
          </a:xfrm>
          <a:prstGeom prst="line">
            <a:avLst/>
          </a:prstGeom>
          <a:noFill/>
          <a:ln w="20320">
            <a:solidFill>
              <a:srgbClr val="028090"/>
            </a:solidFill>
            <a:prstDash val="solid"/>
            <a:headEnd type="none"/>
            <a:tailEnd type="triangle"/>
          </a:ln>
        </p:spPr>
      </p:sp>
      <p:sp>
        <p:nvSpPr>
          <p:cNvPr id="43" name="Text 41"/>
          <p:cNvSpPr/>
          <p:nvPr/>
        </p:nvSpPr>
        <p:spPr>
          <a:xfrm>
            <a:off x="4025646" y="3712464"/>
            <a:ext cx="2299716" cy="192024"/>
          </a:xfrm>
          <a:prstGeom prst="rect">
            <a:avLst/>
          </a:prstGeom>
          <a:solidFill>
            <a:srgbClr val="FFFFFF"/>
          </a:solidFill>
          <a:ln>
            <a:solidFill>
              <a:srgbClr val="FFFFFF"/>
            </a:solidFill>
          </a:ln>
        </p:spPr>
        <p:txBody>
          <a:bodyPr wrap="square" lIns="0" tIns="0" rIns="0" bIns="0" rtlCol="0" anchor="ctr"/>
          <a:lstStyle/>
          <a:p>
            <a:pPr algn="ctr" indent="0" marL="0">
              <a:buNone/>
            </a:pPr>
            <a:r>
              <a:rPr lang="en-US" sz="900" b="1" dirty="0">
                <a:solidFill>
                  <a:srgbClr val="00A896"/>
                </a:solidFill>
                <a:latin typeface="Calibri" pitchFamily="34" charset="0"/>
                <a:ea typeface="Calibri" pitchFamily="34" charset="-122"/>
                <a:cs typeface="Calibri" pitchFamily="34" charset="-120"/>
              </a:rPr>
              <a:t>8   </a:t>
            </a:r>
            <a:pPr algn="ctr" indent="0" marL="0">
              <a:buNone/>
            </a:pPr>
            <a:r>
              <a:rPr lang="en-US" sz="900" dirty="0">
                <a:solidFill>
                  <a:srgbClr val="0E2E2C"/>
                </a:solidFill>
                <a:latin typeface="Calibri" pitchFamily="34" charset="0"/>
                <a:ea typeface="Calibri" pitchFamily="34" charset="-122"/>
                <a:cs typeface="Calibri" pitchFamily="34" charset="-120"/>
              </a:rPr>
              <a:t>start (only once db is healthy)</a:t>
            </a:r>
            <a:endParaRPr lang="en-US" sz="900" dirty="0"/>
          </a:p>
        </p:txBody>
      </p:sp>
      <p:sp>
        <p:nvSpPr>
          <p:cNvPr id="44" name="Shape 42"/>
          <p:cNvSpPr/>
          <p:nvPr/>
        </p:nvSpPr>
        <p:spPr>
          <a:xfrm>
            <a:off x="3328416" y="4206240"/>
            <a:ext cx="5550408" cy="0"/>
          </a:xfrm>
          <a:prstGeom prst="line">
            <a:avLst/>
          </a:prstGeom>
          <a:noFill/>
          <a:ln w="20320">
            <a:solidFill>
              <a:srgbClr val="028090"/>
            </a:solidFill>
            <a:prstDash val="solid"/>
            <a:headEnd type="triangle"/>
            <a:tailEnd type="none"/>
          </a:ln>
        </p:spPr>
      </p:sp>
      <p:sp>
        <p:nvSpPr>
          <p:cNvPr id="45" name="Text 43"/>
          <p:cNvSpPr/>
          <p:nvPr/>
        </p:nvSpPr>
        <p:spPr>
          <a:xfrm>
            <a:off x="3854196" y="4005072"/>
            <a:ext cx="4498848" cy="192024"/>
          </a:xfrm>
          <a:prstGeom prst="rect">
            <a:avLst/>
          </a:prstGeom>
          <a:solidFill>
            <a:srgbClr val="FFFFFF"/>
          </a:solidFill>
          <a:ln>
            <a:solidFill>
              <a:srgbClr val="FFFFFF"/>
            </a:solidFill>
          </a:ln>
        </p:spPr>
        <p:txBody>
          <a:bodyPr wrap="square" lIns="0" tIns="0" rIns="0" bIns="0" rtlCol="0" anchor="ctr"/>
          <a:lstStyle/>
          <a:p>
            <a:pPr algn="ctr" indent="0" marL="0">
              <a:buNone/>
            </a:pPr>
            <a:r>
              <a:rPr lang="en-US" sz="900" b="1" dirty="0">
                <a:solidFill>
                  <a:srgbClr val="00A896"/>
                </a:solidFill>
                <a:latin typeface="Calibri" pitchFamily="34" charset="0"/>
                <a:ea typeface="Calibri" pitchFamily="34" charset="-122"/>
                <a:cs typeface="Calibri" pitchFamily="34" charset="-120"/>
              </a:rPr>
              <a:t>9   </a:t>
            </a:r>
            <a:pPr algn="ctr" indent="0" marL="0">
              <a:buNone/>
            </a:pPr>
            <a:r>
              <a:rPr lang="en-US" sz="900" dirty="0">
                <a:solidFill>
                  <a:srgbClr val="0E2E2C"/>
                </a:solidFill>
                <a:latin typeface="Calibri" pitchFamily="34" charset="0"/>
                <a:ea typeface="Calibri" pitchFamily="34" charset="-122"/>
                <a:cs typeface="Calibri" pitchFamily="34" charset="-120"/>
              </a:rPr>
              <a:t>CREATE TABLE · seed if empty · ensure role + password · GRANT SELECT</a:t>
            </a:r>
            <a:endParaRPr lang="en-US" sz="900" dirty="0"/>
          </a:p>
        </p:txBody>
      </p:sp>
      <p:sp>
        <p:nvSpPr>
          <p:cNvPr id="46" name="Shape 44"/>
          <p:cNvSpPr/>
          <p:nvPr/>
        </p:nvSpPr>
        <p:spPr>
          <a:xfrm>
            <a:off x="1472184" y="4498848"/>
            <a:ext cx="7406640" cy="0"/>
          </a:xfrm>
          <a:prstGeom prst="line">
            <a:avLst/>
          </a:prstGeom>
          <a:noFill/>
          <a:ln w="13970">
            <a:solidFill>
              <a:srgbClr val="9FB3B1"/>
            </a:solidFill>
            <a:prstDash val="dash"/>
            <a:headEnd type="triangle"/>
            <a:tailEnd type="none"/>
          </a:ln>
        </p:spPr>
      </p:sp>
      <p:sp>
        <p:nvSpPr>
          <p:cNvPr id="47" name="Text 45"/>
          <p:cNvSpPr/>
          <p:nvPr/>
        </p:nvSpPr>
        <p:spPr>
          <a:xfrm>
            <a:off x="4768596" y="4297680"/>
            <a:ext cx="813816" cy="192024"/>
          </a:xfrm>
          <a:prstGeom prst="rect">
            <a:avLst/>
          </a:prstGeom>
          <a:solidFill>
            <a:srgbClr val="FFFFFF"/>
          </a:solidFill>
          <a:ln>
            <a:solidFill>
              <a:srgbClr val="FFFFFF"/>
            </a:solidFill>
          </a:ln>
        </p:spPr>
        <p:txBody>
          <a:bodyPr wrap="square" lIns="0" tIns="0" rIns="0" bIns="0" rtlCol="0" anchor="ctr"/>
          <a:lstStyle/>
          <a:p>
            <a:pPr algn="ctr" indent="0" marL="0">
              <a:buNone/>
            </a:pPr>
            <a:r>
              <a:rPr lang="en-US" sz="900" b="1" dirty="0">
                <a:solidFill>
                  <a:srgbClr val="9FB3B1"/>
                </a:solidFill>
                <a:latin typeface="Calibri" pitchFamily="34" charset="0"/>
                <a:ea typeface="Calibri" pitchFamily="34" charset="-122"/>
                <a:cs typeface="Calibri" pitchFamily="34" charset="-120"/>
              </a:rPr>
              <a:t>10   </a:t>
            </a:r>
            <a:pPr algn="ctr" indent="0" marL="0">
              <a:buNone/>
            </a:pPr>
            <a:r>
              <a:rPr lang="en-US" sz="900" dirty="0">
                <a:solidFill>
                  <a:srgbClr val="4B6B68"/>
                </a:solidFill>
                <a:latin typeface="Calibri" pitchFamily="34" charset="0"/>
                <a:ea typeface="Calibri" pitchFamily="34" charset="-122"/>
                <a:cs typeface="Calibri" pitchFamily="34" charset="-120"/>
              </a:rPr>
              <a:t>exit 0</a:t>
            </a:r>
            <a:endParaRPr lang="en-US" sz="900" dirty="0"/>
          </a:p>
        </p:txBody>
      </p:sp>
      <p:sp>
        <p:nvSpPr>
          <p:cNvPr id="48" name="Shape 46"/>
          <p:cNvSpPr/>
          <p:nvPr/>
        </p:nvSpPr>
        <p:spPr>
          <a:xfrm>
            <a:off x="1472184" y="4791456"/>
            <a:ext cx="9262872" cy="0"/>
          </a:xfrm>
          <a:prstGeom prst="line">
            <a:avLst/>
          </a:prstGeom>
          <a:noFill/>
          <a:ln w="20320">
            <a:solidFill>
              <a:srgbClr val="028090"/>
            </a:solidFill>
            <a:prstDash val="solid"/>
            <a:headEnd type="none"/>
            <a:tailEnd type="triangle"/>
          </a:ln>
        </p:spPr>
      </p:sp>
      <p:sp>
        <p:nvSpPr>
          <p:cNvPr id="49" name="Text 47"/>
          <p:cNvSpPr/>
          <p:nvPr/>
        </p:nvSpPr>
        <p:spPr>
          <a:xfrm>
            <a:off x="4805172" y="4590288"/>
            <a:ext cx="2596896" cy="192024"/>
          </a:xfrm>
          <a:prstGeom prst="rect">
            <a:avLst/>
          </a:prstGeom>
          <a:solidFill>
            <a:srgbClr val="FFFFFF"/>
          </a:solidFill>
          <a:ln>
            <a:solidFill>
              <a:srgbClr val="FFFFFF"/>
            </a:solidFill>
          </a:ln>
        </p:spPr>
        <p:txBody>
          <a:bodyPr wrap="square" lIns="0" tIns="0" rIns="0" bIns="0" rtlCol="0" anchor="ctr"/>
          <a:lstStyle/>
          <a:p>
            <a:pPr algn="ctr" indent="0" marL="0">
              <a:buNone/>
            </a:pPr>
            <a:r>
              <a:rPr lang="en-US" sz="900" b="1" dirty="0">
                <a:solidFill>
                  <a:srgbClr val="00A896"/>
                </a:solidFill>
                <a:latin typeface="Calibri" pitchFamily="34" charset="0"/>
                <a:ea typeface="Calibri" pitchFamily="34" charset="-122"/>
                <a:cs typeface="Calibri" pitchFamily="34" charset="-120"/>
              </a:rPr>
              <a:t>11   </a:t>
            </a:r>
            <a:pPr algn="ctr" indent="0" marL="0">
              <a:buNone/>
            </a:pPr>
            <a:r>
              <a:rPr lang="en-US" sz="900" dirty="0">
                <a:solidFill>
                  <a:srgbClr val="0E2E2C"/>
                </a:solidFill>
                <a:latin typeface="Calibri" pitchFamily="34" charset="0"/>
                <a:ea typeface="Calibri" pitchFamily="34" charset="-122"/>
                <a:cs typeface="Calibri" pitchFamily="34" charset="-120"/>
              </a:rPr>
              <a:t>start (seed and init both completed)</a:t>
            </a:r>
            <a:endParaRPr lang="en-US" sz="900" dirty="0"/>
          </a:p>
        </p:txBody>
      </p:sp>
      <p:sp>
        <p:nvSpPr>
          <p:cNvPr id="50" name="Shape 48"/>
          <p:cNvSpPr/>
          <p:nvPr/>
        </p:nvSpPr>
        <p:spPr>
          <a:xfrm>
            <a:off x="3328416" y="5084064"/>
            <a:ext cx="7406640" cy="0"/>
          </a:xfrm>
          <a:prstGeom prst="line">
            <a:avLst/>
          </a:prstGeom>
          <a:noFill/>
          <a:ln w="20320">
            <a:solidFill>
              <a:srgbClr val="028090"/>
            </a:solidFill>
            <a:prstDash val="solid"/>
            <a:headEnd type="triangle"/>
            <a:tailEnd type="none"/>
          </a:ln>
        </p:spPr>
      </p:sp>
      <p:sp>
        <p:nvSpPr>
          <p:cNvPr id="51" name="Text 49"/>
          <p:cNvSpPr/>
          <p:nvPr/>
        </p:nvSpPr>
        <p:spPr>
          <a:xfrm>
            <a:off x="6119622" y="4882896"/>
            <a:ext cx="1824228" cy="192024"/>
          </a:xfrm>
          <a:prstGeom prst="rect">
            <a:avLst/>
          </a:prstGeom>
          <a:solidFill>
            <a:srgbClr val="FFFFFF"/>
          </a:solidFill>
          <a:ln>
            <a:solidFill>
              <a:srgbClr val="FFFFFF"/>
            </a:solidFill>
          </a:ln>
        </p:spPr>
        <p:txBody>
          <a:bodyPr wrap="square" lIns="0" tIns="0" rIns="0" bIns="0" rtlCol="0" anchor="ctr"/>
          <a:lstStyle/>
          <a:p>
            <a:pPr algn="ctr" indent="0" marL="0">
              <a:buNone/>
            </a:pPr>
            <a:r>
              <a:rPr lang="en-US" sz="900" b="1" dirty="0">
                <a:solidFill>
                  <a:srgbClr val="00A896"/>
                </a:solidFill>
                <a:latin typeface="Calibri" pitchFamily="34" charset="0"/>
                <a:ea typeface="Calibri" pitchFamily="34" charset="-122"/>
                <a:cs typeface="Calibri" pitchFamily="34" charset="-120"/>
              </a:rPr>
              <a:t>12   </a:t>
            </a:r>
            <a:pPr algn="ctr" indent="0" marL="0">
              <a:buNone/>
            </a:pPr>
            <a:r>
              <a:rPr lang="en-US" sz="900" dirty="0">
                <a:solidFill>
                  <a:srgbClr val="0E2E2C"/>
                </a:solidFill>
                <a:latin typeface="Calibri" pitchFamily="34" charset="0"/>
                <a:ea typeface="Calibri" pitchFamily="34" charset="-122"/>
                <a:cs typeface="Calibri" pitchFamily="34" charset="-120"/>
              </a:rPr>
              <a:t>SELECT as readonly_user</a:t>
            </a:r>
            <a:endParaRPr lang="en-US" sz="900" dirty="0"/>
          </a:p>
        </p:txBody>
      </p:sp>
      <p:sp>
        <p:nvSpPr>
          <p:cNvPr id="52" name="Shape 50"/>
          <p:cNvSpPr/>
          <p:nvPr/>
        </p:nvSpPr>
        <p:spPr>
          <a:xfrm>
            <a:off x="5175504" y="5376672"/>
            <a:ext cx="5559552" cy="0"/>
          </a:xfrm>
          <a:prstGeom prst="line">
            <a:avLst/>
          </a:prstGeom>
          <a:noFill/>
          <a:ln w="20320">
            <a:solidFill>
              <a:srgbClr val="028090"/>
            </a:solidFill>
            <a:prstDash val="solid"/>
            <a:headEnd type="triangle"/>
            <a:tailEnd type="none"/>
          </a:ln>
        </p:spPr>
      </p:sp>
      <p:sp>
        <p:nvSpPr>
          <p:cNvPr id="53" name="Text 51"/>
          <p:cNvSpPr/>
          <p:nvPr/>
        </p:nvSpPr>
        <p:spPr>
          <a:xfrm>
            <a:off x="5884164" y="5175504"/>
            <a:ext cx="4142232" cy="192024"/>
          </a:xfrm>
          <a:prstGeom prst="rect">
            <a:avLst/>
          </a:prstGeom>
          <a:solidFill>
            <a:srgbClr val="FFFFFF"/>
          </a:solidFill>
          <a:ln>
            <a:solidFill>
              <a:srgbClr val="FFFFFF"/>
            </a:solidFill>
          </a:ln>
        </p:spPr>
        <p:txBody>
          <a:bodyPr wrap="square" lIns="0" tIns="0" rIns="0" bIns="0" rtlCol="0" anchor="ctr"/>
          <a:lstStyle/>
          <a:p>
            <a:pPr algn="ctr" indent="0" marL="0">
              <a:buNone/>
            </a:pPr>
            <a:r>
              <a:rPr lang="en-US" sz="900" b="1" dirty="0">
                <a:solidFill>
                  <a:srgbClr val="00A896"/>
                </a:solidFill>
                <a:latin typeface="Calibri" pitchFamily="34" charset="0"/>
                <a:ea typeface="Calibri" pitchFamily="34" charset="-122"/>
                <a:cs typeface="Calibri" pitchFamily="34" charset="-120"/>
              </a:rPr>
              <a:t>13   </a:t>
            </a:r>
            <a:pPr algn="ctr" indent="0" marL="0">
              <a:buNone/>
            </a:pPr>
            <a:r>
              <a:rPr lang="en-US" sz="900" dirty="0">
                <a:solidFill>
                  <a:srgbClr val="0E2E2C"/>
                </a:solidFill>
                <a:latin typeface="Calibri" pitchFamily="34" charset="0"/>
                <a:ea typeface="Calibri" pitchFamily="34" charset="-122"/>
                <a:cs typeface="Calibri" pitchFamily="34" charset="-120"/>
              </a:rPr>
              <a:t>POST /api/generate — a real probe, then warm the prompt prefix</a:t>
            </a:r>
            <a:endParaRPr lang="en-US" sz="900" dirty="0"/>
          </a:p>
        </p:txBody>
      </p:sp>
      <p:sp>
        <p:nvSpPr>
          <p:cNvPr id="54" name="Shape 52"/>
          <p:cNvSpPr/>
          <p:nvPr/>
        </p:nvSpPr>
        <p:spPr>
          <a:xfrm>
            <a:off x="548640" y="5705856"/>
            <a:ext cx="5477256" cy="749808"/>
          </a:xfrm>
          <a:prstGeom prst="roundRect">
            <a:avLst>
              <a:gd name="adj" fmla="val 10976"/>
            </a:avLst>
          </a:prstGeom>
          <a:solidFill>
            <a:srgbClr val="EDF6F4"/>
          </a:solidFill>
          <a:ln w="12700">
            <a:solidFill>
              <a:srgbClr val="C2DED9"/>
            </a:solidFill>
            <a:prstDash val="solid"/>
          </a:ln>
          <a:effectLst>
            <a:outerShdw sx="100000" sy="100000" kx="0" ky="0" algn="bl" rotWithShape="0" blurRad="127000" dist="25400" dir="5400000">
              <a:srgbClr val="0E2E2C">
                <a:alpha val="8000"/>
              </a:srgbClr>
            </a:outerShdw>
          </a:effectLst>
        </p:spPr>
      </p:sp>
      <p:sp>
        <p:nvSpPr>
          <p:cNvPr id="55" name="Text 53"/>
          <p:cNvSpPr txBox="1"/>
          <p:nvPr/>
        </p:nvSpPr>
        <p:spPr>
          <a:xfrm>
            <a:off x="749808" y="5788152"/>
            <a:ext cx="5074920" cy="219456"/>
          </a:xfrm>
          <a:prstGeom prst="rect">
            <a:avLst/>
          </a:prstGeom>
          <a:noFill/>
          <a:ln/>
        </p:spPr>
        <p:txBody>
          <a:bodyPr wrap="square" lIns="0" tIns="0" rIns="0" bIns="0" rtlCol="0" anchor="ctr"/>
          <a:lstStyle/>
          <a:p>
            <a:pPr indent="0" marL="0">
              <a:buNone/>
            </a:pPr>
            <a:r>
              <a:rPr lang="en-US" sz="1150" b="1" dirty="0">
                <a:solidFill>
                  <a:srgbClr val="028090"/>
                </a:solidFill>
                <a:latin typeface="Calibri" pitchFamily="34" charset="0"/>
                <a:ea typeface="Calibri" pitchFamily="34" charset="-122"/>
                <a:cs typeface="Calibri" pitchFamily="34" charset="-120"/>
              </a:rPr>
              <a:t>db/init/ runs only on an empty volume</a:t>
            </a:r>
            <a:endParaRPr lang="en-US" sz="1150" dirty="0"/>
          </a:p>
        </p:txBody>
      </p:sp>
      <p:sp>
        <p:nvSpPr>
          <p:cNvPr id="56" name="Text 54"/>
          <p:cNvSpPr txBox="1"/>
          <p:nvPr/>
        </p:nvSpPr>
        <p:spPr>
          <a:xfrm>
            <a:off x="749808" y="6007608"/>
            <a:ext cx="5074920" cy="402336"/>
          </a:xfrm>
          <a:prstGeom prst="rect">
            <a:avLst/>
          </a:prstGeom>
          <a:noFill/>
          <a:ln/>
        </p:spPr>
        <p:txBody>
          <a:bodyPr wrap="square" lIns="0" tIns="0" rIns="0" bIns="0" rtlCol="0" anchor="t"/>
          <a:lstStyle/>
          <a:p>
            <a:pPr indent="0" marL="0">
              <a:buNone/>
            </a:pPr>
            <a:r>
              <a:rPr lang="en-US" sz="950" dirty="0">
                <a:solidFill>
                  <a:srgbClr val="4B6B68"/>
                </a:solidFill>
                <a:latin typeface="Calibri" pitchFamily="34" charset="0"/>
                <a:ea typeface="Calibri" pitchFamily="34" charset="-122"/>
                <a:cs typeface="Calibri" pitchFamily="34" charset="-120"/>
              </a:rPr>
              <a:t>It creates the read-only role once. The seed step re-applies the password and the grant on every start, so a re-used volume cannot drift.</a:t>
            </a:r>
            <a:endParaRPr lang="en-US" sz="950" dirty="0"/>
          </a:p>
        </p:txBody>
      </p:sp>
      <p:sp>
        <p:nvSpPr>
          <p:cNvPr id="57" name="Shape 55"/>
          <p:cNvSpPr/>
          <p:nvPr/>
        </p:nvSpPr>
        <p:spPr>
          <a:xfrm>
            <a:off x="6208776" y="5705856"/>
            <a:ext cx="5477256" cy="749808"/>
          </a:xfrm>
          <a:prstGeom prst="roundRect">
            <a:avLst>
              <a:gd name="adj" fmla="val 10976"/>
            </a:avLst>
          </a:prstGeom>
          <a:solidFill>
            <a:srgbClr val="EDF6F4"/>
          </a:solidFill>
          <a:ln w="12700">
            <a:solidFill>
              <a:srgbClr val="C2DED9"/>
            </a:solidFill>
            <a:prstDash val="solid"/>
          </a:ln>
          <a:effectLst>
            <a:outerShdw sx="100000" sy="100000" kx="0" ky="0" algn="bl" rotWithShape="0" blurRad="127000" dist="25400" dir="5400000">
              <a:srgbClr val="0E2E2C">
                <a:alpha val="8000"/>
              </a:srgbClr>
            </a:outerShdw>
          </a:effectLst>
        </p:spPr>
      </p:sp>
      <p:sp>
        <p:nvSpPr>
          <p:cNvPr id="58" name="Text 56"/>
          <p:cNvSpPr txBox="1"/>
          <p:nvPr/>
        </p:nvSpPr>
        <p:spPr>
          <a:xfrm>
            <a:off x="6409944" y="5788152"/>
            <a:ext cx="5074920" cy="219456"/>
          </a:xfrm>
          <a:prstGeom prst="rect">
            <a:avLst/>
          </a:prstGeom>
          <a:noFill/>
          <a:ln/>
        </p:spPr>
        <p:txBody>
          <a:bodyPr wrap="square" lIns="0" tIns="0" rIns="0" bIns="0" rtlCol="0" anchor="ctr"/>
          <a:lstStyle/>
          <a:p>
            <a:pPr indent="0" marL="0">
              <a:buNone/>
            </a:pPr>
            <a:r>
              <a:rPr lang="en-US" sz="1150" b="1" dirty="0">
                <a:solidFill>
                  <a:srgbClr val="028090"/>
                </a:solidFill>
                <a:latin typeface="Calibri" pitchFamily="34" charset="0"/>
                <a:ea typeface="Calibri" pitchFamily="34" charset="-122"/>
                <a:cs typeface="Calibri" pitchFamily="34" charset="-120"/>
              </a:rPr>
              <a:t>The app probes for real, then warms up</a:t>
            </a:r>
            <a:endParaRPr lang="en-US" sz="1150" dirty="0"/>
          </a:p>
        </p:txBody>
      </p:sp>
      <p:sp>
        <p:nvSpPr>
          <p:cNvPr id="59" name="Text 57"/>
          <p:cNvSpPr txBox="1"/>
          <p:nvPr/>
        </p:nvSpPr>
        <p:spPr>
          <a:xfrm>
            <a:off x="6409944" y="6007608"/>
            <a:ext cx="5074920" cy="402336"/>
          </a:xfrm>
          <a:prstGeom prst="rect">
            <a:avLst/>
          </a:prstGeom>
          <a:noFill/>
          <a:ln/>
        </p:spPr>
        <p:txBody>
          <a:bodyPr wrap="square" lIns="0" tIns="0" rIns="0" bIns="0" rtlCol="0" anchor="t"/>
          <a:lstStyle/>
          <a:p>
            <a:pPr indent="0" marL="0">
              <a:buNone/>
            </a:pPr>
            <a:r>
              <a:rPr lang="en-US" sz="950" dirty="0">
                <a:solidFill>
                  <a:srgbClr val="4B6B68"/>
                </a:solidFill>
                <a:latin typeface="Calibri" pitchFamily="34" charset="0"/>
                <a:ea typeface="Calibri" pitchFamily="34" charset="-122"/>
                <a:cs typeface="Calibri" pitchFamily="34" charset="-120"/>
              </a:rPr>
              <a:t>A live generate call, not a ping — then the prompt prefix is warmed. 149 s cold becomes 11 s warm, and /ask returns 503 until that is done.</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10896"/>
            <a:ext cx="10058400" cy="219456"/>
          </a:xfrm>
          <a:prstGeom prst="rect">
            <a:avLst/>
          </a:prstGeom>
          <a:noFill/>
          <a:ln/>
        </p:spPr>
        <p:txBody>
          <a:bodyPr wrap="square" lIns="0" tIns="0" rIns="0" bIns="0" rtlCol="0" anchor="ctr"/>
          <a:lstStyle/>
          <a:p>
            <a:pPr indent="0" marL="0">
              <a:buNone/>
            </a:pPr>
            <a:r>
              <a:rPr lang="en-US" sz="1050" b="1" spc="200" kern="0" dirty="0">
                <a:solidFill>
                  <a:srgbClr val="028090"/>
                </a:solidFill>
                <a:latin typeface="Calibri" pitchFamily="34" charset="0"/>
                <a:ea typeface="Calibri" pitchFamily="34" charset="-122"/>
                <a:cs typeface="Calibri" pitchFamily="34" charset="-120"/>
              </a:rPr>
              <a:t>PERFORMANCE PROFILE</a:t>
            </a:r>
            <a:endParaRPr lang="en-US" sz="1050" dirty="0"/>
          </a:p>
        </p:txBody>
      </p:sp>
      <p:sp>
        <p:nvSpPr>
          <p:cNvPr id="3" name="Text 1"/>
          <p:cNvSpPr txBox="1"/>
          <p:nvPr/>
        </p:nvSpPr>
        <p:spPr>
          <a:xfrm>
            <a:off x="548640" y="566928"/>
            <a:ext cx="11064240" cy="566928"/>
          </a:xfrm>
          <a:prstGeom prst="rect">
            <a:avLst/>
          </a:prstGeom>
          <a:noFill/>
          <a:ln/>
        </p:spPr>
        <p:txBody>
          <a:bodyPr wrap="square" lIns="0" tIns="0" rIns="0" bIns="0" rtlCol="0" anchor="t"/>
          <a:lstStyle/>
          <a:p>
            <a:pPr indent="0" marL="0">
              <a:buNone/>
            </a:pPr>
            <a:r>
              <a:rPr lang="en-US" sz="3000" b="1" dirty="0">
                <a:solidFill>
                  <a:srgbClr val="0E2E2C"/>
                </a:solidFill>
                <a:latin typeface="Cambria" pitchFamily="34" charset="0"/>
                <a:ea typeface="Cambria" pitchFamily="34" charset="-122"/>
                <a:cs typeface="Cambria" pitchFamily="34" charset="-120"/>
              </a:rPr>
              <a:t>The numbers that shaped the design</a:t>
            </a:r>
            <a:endParaRPr lang="en-US" sz="3000" dirty="0"/>
          </a:p>
        </p:txBody>
      </p:sp>
      <p:sp>
        <p:nvSpPr>
          <p:cNvPr id="4" name="Shape 2"/>
          <p:cNvSpPr/>
          <p:nvPr/>
        </p:nvSpPr>
        <p:spPr>
          <a:xfrm>
            <a:off x="548640" y="1600200"/>
            <a:ext cx="3474720" cy="2560320"/>
          </a:xfrm>
          <a:prstGeom prst="roundRect">
            <a:avLst>
              <a:gd name="adj" fmla="val 4286"/>
            </a:avLst>
          </a:prstGeom>
          <a:solidFill>
            <a:srgbClr val="FFFFFF"/>
          </a:solidFill>
          <a:ln w="12700">
            <a:solidFill>
              <a:srgbClr val="C2DED9"/>
            </a:solidFill>
            <a:prstDash val="solid"/>
          </a:ln>
          <a:effectLst>
            <a:outerShdw sx="100000" sy="100000" kx="0" ky="0" algn="bl" rotWithShape="0" blurRad="127000" dist="25400" dir="5400000">
              <a:srgbClr val="0E2E2C">
                <a:alpha val="8000"/>
              </a:srgbClr>
            </a:outerShdw>
          </a:effectLst>
        </p:spPr>
      </p:sp>
      <p:sp>
        <p:nvSpPr>
          <p:cNvPr id="5" name="Text 3"/>
          <p:cNvSpPr txBox="1"/>
          <p:nvPr/>
        </p:nvSpPr>
        <p:spPr>
          <a:xfrm>
            <a:off x="841248" y="1773936"/>
            <a:ext cx="2889504" cy="868680"/>
          </a:xfrm>
          <a:prstGeom prst="rect">
            <a:avLst/>
          </a:prstGeom>
          <a:noFill/>
          <a:ln/>
        </p:spPr>
        <p:txBody>
          <a:bodyPr wrap="square" lIns="0" tIns="0" rIns="0" bIns="0" rtlCol="0" anchor="ctr"/>
          <a:lstStyle/>
          <a:p>
            <a:pPr indent="0" marL="0">
              <a:buNone/>
            </a:pPr>
            <a:r>
              <a:rPr lang="en-US" sz="5800" b="1" dirty="0">
                <a:solidFill>
                  <a:srgbClr val="00A896"/>
                </a:solidFill>
                <a:latin typeface="Cambria" pitchFamily="34" charset="0"/>
                <a:ea typeface="Cambria" pitchFamily="34" charset="-122"/>
                <a:cs typeface="Cambria" pitchFamily="34" charset="-120"/>
              </a:rPr>
              <a:t>~15</a:t>
            </a:r>
            <a:pPr indent="0" marL="0">
              <a:buNone/>
            </a:pPr>
            <a:r>
              <a:rPr lang="en-US" sz="2000" b="1" dirty="0">
                <a:solidFill>
                  <a:srgbClr val="00A896"/>
                </a:solidFill>
                <a:latin typeface="Calibri" pitchFamily="34" charset="0"/>
                <a:ea typeface="Calibri" pitchFamily="34" charset="-122"/>
                <a:cs typeface="Calibri" pitchFamily="34" charset="-120"/>
              </a:rPr>
              <a:t> ms</a:t>
            </a:r>
            <a:endParaRPr lang="en-US" sz="5800" dirty="0"/>
          </a:p>
        </p:txBody>
      </p:sp>
      <p:sp>
        <p:nvSpPr>
          <p:cNvPr id="6" name="Text 4"/>
          <p:cNvSpPr txBox="1"/>
          <p:nvPr/>
        </p:nvSpPr>
        <p:spPr>
          <a:xfrm>
            <a:off x="841248" y="2724912"/>
            <a:ext cx="2889504" cy="292608"/>
          </a:xfrm>
          <a:prstGeom prst="rect">
            <a:avLst/>
          </a:prstGeom>
          <a:noFill/>
          <a:ln/>
        </p:spPr>
        <p:txBody>
          <a:bodyPr wrap="square" lIns="0" tIns="0" rIns="0" bIns="0" rtlCol="0" anchor="ctr"/>
          <a:lstStyle/>
          <a:p>
            <a:pPr indent="0" marL="0">
              <a:buNone/>
            </a:pPr>
            <a:r>
              <a:rPr lang="en-US" sz="1450" b="1" dirty="0">
                <a:solidFill>
                  <a:srgbClr val="0E2E2C"/>
                </a:solidFill>
                <a:latin typeface="Calibri" pitchFamily="34" charset="0"/>
                <a:ea typeface="Calibri" pitchFamily="34" charset="-122"/>
                <a:cs typeface="Calibri" pitchFamily="34" charset="-120"/>
              </a:rPr>
              <a:t>Template route</a:t>
            </a:r>
            <a:endParaRPr lang="en-US" sz="1450" dirty="0"/>
          </a:p>
        </p:txBody>
      </p:sp>
      <p:sp>
        <p:nvSpPr>
          <p:cNvPr id="7" name="Text 5"/>
          <p:cNvSpPr txBox="1"/>
          <p:nvPr/>
        </p:nvSpPr>
        <p:spPr>
          <a:xfrm>
            <a:off x="841248" y="3081528"/>
            <a:ext cx="2889504" cy="914400"/>
          </a:xfrm>
          <a:prstGeom prst="rect">
            <a:avLst/>
          </a:prstGeom>
          <a:noFill/>
          <a:ln/>
        </p:spPr>
        <p:txBody>
          <a:bodyPr wrap="square" lIns="0" tIns="0" rIns="0" bIns="0" rtlCol="0" anchor="t"/>
          <a:lstStyle/>
          <a:p>
            <a:pPr indent="0" marL="0">
              <a:buNone/>
            </a:pPr>
            <a:r>
              <a:rPr lang="en-US" sz="1150" dirty="0">
                <a:solidFill>
                  <a:srgbClr val="4B6B68"/>
                </a:solidFill>
                <a:latin typeface="Calibri" pitchFamily="34" charset="0"/>
                <a:ea typeface="Calibri" pitchFamily="34" charset="-122"/>
                <a:cs typeface="Calibri" pitchFamily="34" charset="-120"/>
              </a:rPr>
              <a:t>The eleven questions the plant actually asks. Exact SQL, reproducible byte for byte, no model involved.</a:t>
            </a:r>
            <a:endParaRPr lang="en-US" sz="1150" dirty="0"/>
          </a:p>
        </p:txBody>
      </p:sp>
      <p:sp>
        <p:nvSpPr>
          <p:cNvPr id="8" name="Shape 6"/>
          <p:cNvSpPr/>
          <p:nvPr/>
        </p:nvSpPr>
        <p:spPr>
          <a:xfrm>
            <a:off x="4361688" y="1600200"/>
            <a:ext cx="3474720" cy="2560320"/>
          </a:xfrm>
          <a:prstGeom prst="roundRect">
            <a:avLst>
              <a:gd name="adj" fmla="val 4286"/>
            </a:avLst>
          </a:prstGeom>
          <a:solidFill>
            <a:srgbClr val="FFFFFF"/>
          </a:solidFill>
          <a:ln w="12700">
            <a:solidFill>
              <a:srgbClr val="C2DED9"/>
            </a:solidFill>
            <a:prstDash val="solid"/>
          </a:ln>
          <a:effectLst>
            <a:outerShdw sx="100000" sy="100000" kx="0" ky="0" algn="bl" rotWithShape="0" blurRad="127000" dist="25400" dir="5400000">
              <a:srgbClr val="0E2E2C">
                <a:alpha val="8000"/>
              </a:srgbClr>
            </a:outerShdw>
          </a:effectLst>
        </p:spPr>
      </p:sp>
      <p:sp>
        <p:nvSpPr>
          <p:cNvPr id="9" name="Text 7"/>
          <p:cNvSpPr txBox="1"/>
          <p:nvPr/>
        </p:nvSpPr>
        <p:spPr>
          <a:xfrm>
            <a:off x="4654296" y="1773936"/>
            <a:ext cx="2889504" cy="868680"/>
          </a:xfrm>
          <a:prstGeom prst="rect">
            <a:avLst/>
          </a:prstGeom>
          <a:noFill/>
          <a:ln/>
        </p:spPr>
        <p:txBody>
          <a:bodyPr wrap="square" lIns="0" tIns="0" rIns="0" bIns="0" rtlCol="0" anchor="ctr"/>
          <a:lstStyle/>
          <a:p>
            <a:pPr indent="0" marL="0">
              <a:buNone/>
            </a:pPr>
            <a:r>
              <a:rPr lang="en-US" sz="5800" b="1" dirty="0">
                <a:solidFill>
                  <a:srgbClr val="028090"/>
                </a:solidFill>
                <a:latin typeface="Cambria" pitchFamily="34" charset="0"/>
                <a:ea typeface="Cambria" pitchFamily="34" charset="-122"/>
                <a:cs typeface="Cambria" pitchFamily="34" charset="-120"/>
              </a:rPr>
              <a:t>11</a:t>
            </a:r>
            <a:pPr indent="0" marL="0">
              <a:buNone/>
            </a:pPr>
            <a:r>
              <a:rPr lang="en-US" sz="2000" b="1" dirty="0">
                <a:solidFill>
                  <a:srgbClr val="028090"/>
                </a:solidFill>
                <a:latin typeface="Calibri" pitchFamily="34" charset="0"/>
                <a:ea typeface="Calibri" pitchFamily="34" charset="-122"/>
                <a:cs typeface="Calibri" pitchFamily="34" charset="-120"/>
              </a:rPr>
              <a:t> s</a:t>
            </a:r>
            <a:endParaRPr lang="en-US" sz="5800" dirty="0"/>
          </a:p>
        </p:txBody>
      </p:sp>
      <p:sp>
        <p:nvSpPr>
          <p:cNvPr id="10" name="Text 8"/>
          <p:cNvSpPr txBox="1"/>
          <p:nvPr/>
        </p:nvSpPr>
        <p:spPr>
          <a:xfrm>
            <a:off x="4654296" y="2724912"/>
            <a:ext cx="2889504" cy="292608"/>
          </a:xfrm>
          <a:prstGeom prst="rect">
            <a:avLst/>
          </a:prstGeom>
          <a:noFill/>
          <a:ln/>
        </p:spPr>
        <p:txBody>
          <a:bodyPr wrap="square" lIns="0" tIns="0" rIns="0" bIns="0" rtlCol="0" anchor="ctr"/>
          <a:lstStyle/>
          <a:p>
            <a:pPr indent="0" marL="0">
              <a:buNone/>
            </a:pPr>
            <a:r>
              <a:rPr lang="en-US" sz="1450" b="1" dirty="0">
                <a:solidFill>
                  <a:srgbClr val="0E2E2C"/>
                </a:solidFill>
                <a:latin typeface="Calibri" pitchFamily="34" charset="0"/>
                <a:ea typeface="Calibri" pitchFamily="34" charset="-122"/>
                <a:cs typeface="Calibri" pitchFamily="34" charset="-120"/>
              </a:rPr>
              <a:t>Model route, warm</a:t>
            </a:r>
            <a:endParaRPr lang="en-US" sz="1450" dirty="0"/>
          </a:p>
        </p:txBody>
      </p:sp>
      <p:sp>
        <p:nvSpPr>
          <p:cNvPr id="11" name="Text 9"/>
          <p:cNvSpPr txBox="1"/>
          <p:nvPr/>
        </p:nvSpPr>
        <p:spPr>
          <a:xfrm>
            <a:off x="4654296" y="3081528"/>
            <a:ext cx="2889504" cy="914400"/>
          </a:xfrm>
          <a:prstGeom prst="rect">
            <a:avLst/>
          </a:prstGeom>
          <a:noFill/>
          <a:ln/>
        </p:spPr>
        <p:txBody>
          <a:bodyPr wrap="square" lIns="0" tIns="0" rIns="0" bIns="0" rtlCol="0" anchor="t"/>
          <a:lstStyle/>
          <a:p>
            <a:pPr indent="0" marL="0">
              <a:buNone/>
            </a:pPr>
            <a:r>
              <a:rPr lang="en-US" sz="1150" dirty="0">
                <a:solidFill>
                  <a:srgbClr val="4B6B68"/>
                </a:solidFill>
                <a:latin typeface="Calibri" pitchFamily="34" charset="0"/>
                <a:ea typeface="Calibri" pitchFamily="34" charset="-122"/>
                <a:cs typeface="Calibri" pitchFamily="34" charset="-120"/>
              </a:rPr>
              <a:t>After the prompt prefix has been warmed at startup. This is what a user experiences on a question no template covers.</a:t>
            </a:r>
            <a:endParaRPr lang="en-US" sz="1150" dirty="0"/>
          </a:p>
        </p:txBody>
      </p:sp>
      <p:sp>
        <p:nvSpPr>
          <p:cNvPr id="12" name="Shape 10"/>
          <p:cNvSpPr/>
          <p:nvPr/>
        </p:nvSpPr>
        <p:spPr>
          <a:xfrm>
            <a:off x="8174736" y="1600200"/>
            <a:ext cx="3474720" cy="2560320"/>
          </a:xfrm>
          <a:prstGeom prst="roundRect">
            <a:avLst>
              <a:gd name="adj" fmla="val 4286"/>
            </a:avLst>
          </a:prstGeom>
          <a:solidFill>
            <a:srgbClr val="FFFFFF"/>
          </a:solidFill>
          <a:ln w="12700">
            <a:solidFill>
              <a:srgbClr val="C2DED9"/>
            </a:solidFill>
            <a:prstDash val="solid"/>
          </a:ln>
          <a:effectLst>
            <a:outerShdw sx="100000" sy="100000" kx="0" ky="0" algn="bl" rotWithShape="0" blurRad="127000" dist="25400" dir="5400000">
              <a:srgbClr val="0E2E2C">
                <a:alpha val="8000"/>
              </a:srgbClr>
            </a:outerShdw>
          </a:effectLst>
        </p:spPr>
      </p:sp>
      <p:sp>
        <p:nvSpPr>
          <p:cNvPr id="13" name="Text 11"/>
          <p:cNvSpPr txBox="1"/>
          <p:nvPr/>
        </p:nvSpPr>
        <p:spPr>
          <a:xfrm>
            <a:off x="8467344" y="1773936"/>
            <a:ext cx="2889504" cy="868680"/>
          </a:xfrm>
          <a:prstGeom prst="rect">
            <a:avLst/>
          </a:prstGeom>
          <a:noFill/>
          <a:ln/>
        </p:spPr>
        <p:txBody>
          <a:bodyPr wrap="square" lIns="0" tIns="0" rIns="0" bIns="0" rtlCol="0" anchor="ctr"/>
          <a:lstStyle/>
          <a:p>
            <a:pPr indent="0" marL="0">
              <a:buNone/>
            </a:pPr>
            <a:r>
              <a:rPr lang="en-US" sz="5800" b="1" dirty="0">
                <a:solidFill>
                  <a:srgbClr val="A63D2F"/>
                </a:solidFill>
                <a:latin typeface="Cambria" pitchFamily="34" charset="0"/>
                <a:ea typeface="Cambria" pitchFamily="34" charset="-122"/>
                <a:cs typeface="Cambria" pitchFamily="34" charset="-120"/>
              </a:rPr>
              <a:t>149</a:t>
            </a:r>
            <a:pPr indent="0" marL="0">
              <a:buNone/>
            </a:pPr>
            <a:r>
              <a:rPr lang="en-US" sz="2000" b="1" dirty="0">
                <a:solidFill>
                  <a:srgbClr val="A63D2F"/>
                </a:solidFill>
                <a:latin typeface="Calibri" pitchFamily="34" charset="0"/>
                <a:ea typeface="Calibri" pitchFamily="34" charset="-122"/>
                <a:cs typeface="Calibri" pitchFamily="34" charset="-120"/>
              </a:rPr>
              <a:t> s</a:t>
            </a:r>
            <a:endParaRPr lang="en-US" sz="5800" dirty="0"/>
          </a:p>
        </p:txBody>
      </p:sp>
      <p:sp>
        <p:nvSpPr>
          <p:cNvPr id="14" name="Text 12"/>
          <p:cNvSpPr txBox="1"/>
          <p:nvPr/>
        </p:nvSpPr>
        <p:spPr>
          <a:xfrm>
            <a:off x="8467344" y="2724912"/>
            <a:ext cx="2889504" cy="292608"/>
          </a:xfrm>
          <a:prstGeom prst="rect">
            <a:avLst/>
          </a:prstGeom>
          <a:noFill/>
          <a:ln/>
        </p:spPr>
        <p:txBody>
          <a:bodyPr wrap="square" lIns="0" tIns="0" rIns="0" bIns="0" rtlCol="0" anchor="ctr"/>
          <a:lstStyle/>
          <a:p>
            <a:pPr indent="0" marL="0">
              <a:buNone/>
            </a:pPr>
            <a:r>
              <a:rPr lang="en-US" sz="1450" b="1" dirty="0">
                <a:solidFill>
                  <a:srgbClr val="0E2E2C"/>
                </a:solidFill>
                <a:latin typeface="Calibri" pitchFamily="34" charset="0"/>
                <a:ea typeface="Calibri" pitchFamily="34" charset="-122"/>
                <a:cs typeface="Calibri" pitchFamily="34" charset="-120"/>
              </a:rPr>
              <a:t>Model route, cold</a:t>
            </a:r>
            <a:endParaRPr lang="en-US" sz="1450" dirty="0"/>
          </a:p>
        </p:txBody>
      </p:sp>
      <p:sp>
        <p:nvSpPr>
          <p:cNvPr id="15" name="Text 13"/>
          <p:cNvSpPr txBox="1"/>
          <p:nvPr/>
        </p:nvSpPr>
        <p:spPr>
          <a:xfrm>
            <a:off x="8467344" y="3081528"/>
            <a:ext cx="2889504" cy="914400"/>
          </a:xfrm>
          <a:prstGeom prst="rect">
            <a:avLst/>
          </a:prstGeom>
          <a:noFill/>
          <a:ln/>
        </p:spPr>
        <p:txBody>
          <a:bodyPr wrap="square" lIns="0" tIns="0" rIns="0" bIns="0" rtlCol="0" anchor="t"/>
          <a:lstStyle/>
          <a:p>
            <a:pPr indent="0" marL="0">
              <a:buNone/>
            </a:pPr>
            <a:r>
              <a:rPr lang="en-US" sz="1150" dirty="0">
                <a:solidFill>
                  <a:srgbClr val="4B6B68"/>
                </a:solidFill>
                <a:latin typeface="Calibri" pitchFamily="34" charset="0"/>
                <a:ea typeface="Calibri" pitchFamily="34" charset="-122"/>
                <a:cs typeface="Calibri" pitchFamily="34" charset="-120"/>
              </a:rPr>
              <a:t>The same question before warming. Never paid by a user — the app returns 503 until the warm-up has completed.</a:t>
            </a:r>
            <a:endParaRPr lang="en-US" sz="1150" dirty="0"/>
          </a:p>
        </p:txBody>
      </p:sp>
      <p:sp>
        <p:nvSpPr>
          <p:cNvPr id="16" name="Shape 14"/>
          <p:cNvSpPr/>
          <p:nvPr/>
        </p:nvSpPr>
        <p:spPr>
          <a:xfrm>
            <a:off x="548640" y="4553712"/>
            <a:ext cx="11137392" cy="1298448"/>
          </a:xfrm>
          <a:prstGeom prst="roundRect">
            <a:avLst>
              <a:gd name="adj" fmla="val 7042"/>
            </a:avLst>
          </a:prstGeom>
          <a:solidFill>
            <a:srgbClr val="EDF6F4"/>
          </a:solidFill>
          <a:ln w="12700">
            <a:solidFill>
              <a:srgbClr val="C2DED9"/>
            </a:solidFill>
            <a:prstDash val="solid"/>
          </a:ln>
          <a:effectLst>
            <a:outerShdw sx="100000" sy="100000" kx="0" ky="0" algn="bl" rotWithShape="0" blurRad="127000" dist="25400" dir="5400000">
              <a:srgbClr val="0E2E2C">
                <a:alpha val="8000"/>
              </a:srgbClr>
            </a:outerShdw>
          </a:effectLst>
        </p:spPr>
      </p:sp>
      <p:sp>
        <p:nvSpPr>
          <p:cNvPr id="17" name="Text 15"/>
          <p:cNvSpPr/>
          <p:nvPr/>
        </p:nvSpPr>
        <p:spPr>
          <a:xfrm>
            <a:off x="859536" y="4901184"/>
            <a:ext cx="457200" cy="457200"/>
          </a:xfrm>
          <a:prstGeom prst="ellipse">
            <a:avLst/>
          </a:prstGeom>
          <a:solidFill>
            <a:srgbClr val="028090"/>
          </a:solidFill>
          <a:ln>
            <a:solidFill>
              <a:srgbClr val="028090"/>
            </a:solid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18" name="Text 16"/>
          <p:cNvSpPr txBox="1"/>
          <p:nvPr/>
        </p:nvSpPr>
        <p:spPr>
          <a:xfrm>
            <a:off x="1517904" y="4718304"/>
            <a:ext cx="9875520" cy="969264"/>
          </a:xfrm>
          <a:prstGeom prst="rect">
            <a:avLst/>
          </a:prstGeom>
          <a:noFill/>
          <a:ln/>
        </p:spPr>
        <p:txBody>
          <a:bodyPr wrap="square" lIns="0" tIns="0" rIns="0" bIns="0" rtlCol="0" anchor="ctr"/>
          <a:lstStyle/>
          <a:p>
            <a:pPr indent="0" marL="0">
              <a:buNone/>
            </a:pPr>
            <a:r>
              <a:rPr lang="en-US" sz="1300" b="1" dirty="0">
                <a:solidFill>
                  <a:srgbClr val="0E2E2C"/>
                </a:solidFill>
                <a:latin typeface="Calibri" pitchFamily="34" charset="0"/>
                <a:ea typeface="Calibri" pitchFamily="34" charset="-122"/>
                <a:cs typeface="Calibri" pitchFamily="34" charset="-120"/>
              </a:rPr>
              <a:t>Warm-up is a startup problem, not a user problem.  </a:t>
            </a:r>
            <a:pPr indent="0" marL="0">
              <a:buNone/>
            </a:pPr>
            <a:r>
              <a:rPr lang="en-US" sz="1300" dirty="0">
                <a:solidFill>
                  <a:srgbClr val="4B6B68"/>
                </a:solidFill>
                <a:latin typeface="Calibri" pitchFamily="34" charset="0"/>
                <a:ea typeface="Calibri" pitchFamily="34" charset="-122"/>
                <a:cs typeface="Calibri" pitchFamily="34" charset="-120"/>
              </a:rPr>
              <a:t>The app answers </a:t>
            </a:r>
            <a:pPr indent="0" marL="0">
              <a:buNone/>
            </a:pPr>
            <a:r>
              <a:rPr lang="en-US" sz="1300" b="1" dirty="0">
                <a:solidFill>
                  <a:srgbClr val="028090"/>
                </a:solidFill>
                <a:latin typeface="Courier New" pitchFamily="34" charset="0"/>
                <a:ea typeface="Courier New" pitchFamily="34" charset="-122"/>
                <a:cs typeface="Courier New" pitchFamily="34" charset="-120"/>
              </a:rPr>
              <a:t>503</a:t>
            </a:r>
            <a:pPr indent="0" marL="0">
              <a:buNone/>
            </a:pPr>
            <a:r>
              <a:rPr lang="en-US" sz="1300" dirty="0">
                <a:solidFill>
                  <a:srgbClr val="4B6B68"/>
                </a:solidFill>
                <a:latin typeface="Calibri" pitchFamily="34" charset="0"/>
                <a:ea typeface="Calibri" pitchFamily="34" charset="-122"/>
                <a:cs typeface="Calibri" pitchFamily="34" charset="-120"/>
              </a:rPr>
              <a:t> — naming the check that is failing — until the database, the model and the warm probe are all green. Nobody ever waits two and a half minutes for an answer, and nobody ever gets a half-warm one.</a:t>
            </a:r>
            <a:endParaRPr lang="en-US" sz="1300" dirty="0"/>
          </a:p>
        </p:txBody>
      </p:sp>
      <p:sp>
        <p:nvSpPr>
          <p:cNvPr id="19" name="Text 17"/>
          <p:cNvSpPr txBox="1"/>
          <p:nvPr/>
        </p:nvSpPr>
        <p:spPr>
          <a:xfrm>
            <a:off x="548640" y="6355080"/>
            <a:ext cx="11064240" cy="292608"/>
          </a:xfrm>
          <a:prstGeom prst="rect">
            <a:avLst/>
          </a:prstGeom>
          <a:noFill/>
          <a:ln/>
        </p:spPr>
        <p:txBody>
          <a:bodyPr wrap="square" lIns="0" tIns="0" rIns="0" bIns="0" rtlCol="0" anchor="ctr"/>
          <a:lstStyle/>
          <a:p>
            <a:pPr indent="0" marL="0">
              <a:buNone/>
            </a:pPr>
            <a:r>
              <a:rPr lang="en-US" sz="1050" i="1" dirty="0">
                <a:solidFill>
                  <a:srgbClr val="4B6B68"/>
                </a:solidFill>
                <a:latin typeface="Calibri" pitchFamily="34" charset="0"/>
                <a:ea typeface="Calibri" pitchFamily="34" charset="-122"/>
                <a:cs typeface="Calibri" pitchFamily="34" charset="-120"/>
              </a:rPr>
              <a:t>Measured on the POC host — CPU inference, no GPU. A GPU on the production host would compress the model route considerably, but the template route is already the common case.</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74320"/>
            <a:ext cx="5486400" cy="219456"/>
          </a:xfrm>
          <a:prstGeom prst="rect">
            <a:avLst/>
          </a:prstGeom>
          <a:noFill/>
          <a:ln/>
        </p:spPr>
        <p:txBody>
          <a:bodyPr wrap="square" lIns="0" tIns="0" rIns="0" bIns="0" rtlCol="0" anchor="ctr"/>
          <a:lstStyle/>
          <a:p>
            <a:pPr indent="0" marL="0">
              <a:buNone/>
            </a:pPr>
            <a:r>
              <a:rPr lang="en-US" sz="1050" b="1" spc="200" kern="0" dirty="0">
                <a:solidFill>
                  <a:srgbClr val="028090"/>
                </a:solidFill>
                <a:latin typeface="Calibri" pitchFamily="34" charset="0"/>
                <a:ea typeface="Calibri" pitchFamily="34" charset="-122"/>
                <a:cs typeface="Calibri" pitchFamily="34" charset="-120"/>
              </a:rPr>
              <a:t>CODE STRUCTURE</a:t>
            </a:r>
            <a:endParaRPr lang="en-US" sz="1050" dirty="0"/>
          </a:p>
        </p:txBody>
      </p:sp>
      <p:sp>
        <p:nvSpPr>
          <p:cNvPr id="3" name="Text 1"/>
          <p:cNvSpPr txBox="1"/>
          <p:nvPr/>
        </p:nvSpPr>
        <p:spPr>
          <a:xfrm>
            <a:off x="548640" y="502920"/>
            <a:ext cx="10515600" cy="402336"/>
          </a:xfrm>
          <a:prstGeom prst="rect">
            <a:avLst/>
          </a:prstGeom>
          <a:noFill/>
          <a:ln/>
        </p:spPr>
        <p:txBody>
          <a:bodyPr wrap="square" lIns="0" tIns="0" rIns="0" bIns="0" rtlCol="0" anchor="ctr"/>
          <a:lstStyle/>
          <a:p>
            <a:pPr indent="0" marL="0">
              <a:buNone/>
            </a:pPr>
            <a:r>
              <a:rPr lang="en-US" sz="2600" b="1" dirty="0">
                <a:solidFill>
                  <a:srgbClr val="0E2E2C"/>
                </a:solidFill>
                <a:latin typeface="Cambria" pitchFamily="34" charset="0"/>
                <a:ea typeface="Cambria" pitchFamily="34" charset="-122"/>
                <a:cs typeface="Cambria" pitchFamily="34" charset="-120"/>
              </a:rPr>
              <a:t>Layering — four responsibilities, one direction of travel</a:t>
            </a:r>
            <a:endParaRPr lang="en-US" sz="2600" dirty="0"/>
          </a:p>
        </p:txBody>
      </p:sp>
      <p:sp>
        <p:nvSpPr>
          <p:cNvPr id="4" name="Shape 2"/>
          <p:cNvSpPr/>
          <p:nvPr/>
        </p:nvSpPr>
        <p:spPr>
          <a:xfrm>
            <a:off x="457200" y="1554480"/>
            <a:ext cx="1600200" cy="3108960"/>
          </a:xfrm>
          <a:prstGeom prst="roundRect">
            <a:avLst>
              <a:gd name="adj" fmla="val 6857"/>
            </a:avLst>
          </a:prstGeom>
          <a:solidFill>
            <a:srgbClr val="F6F8F8"/>
          </a:solidFill>
          <a:ln w="12700">
            <a:solidFill>
              <a:srgbClr val="DCE3E2"/>
            </a:solidFill>
            <a:prstDash val="solid"/>
          </a:ln>
          <a:effectLst>
            <a:outerShdw sx="100000" sy="100000" kx="0" ky="0" algn="bl" rotWithShape="0" blurRad="101600" dist="50800" dir="5400000">
              <a:srgbClr val="FFFFFF">
                <a:alpha val="75000"/>
              </a:srgbClr>
            </a:outerShdw>
          </a:effectLst>
        </p:spPr>
      </p:sp>
      <p:sp>
        <p:nvSpPr>
          <p:cNvPr id="5" name="Text 3"/>
          <p:cNvSpPr txBox="1"/>
          <p:nvPr/>
        </p:nvSpPr>
        <p:spPr>
          <a:xfrm>
            <a:off x="640080" y="1700784"/>
            <a:ext cx="1234440" cy="219456"/>
          </a:xfrm>
          <a:prstGeom prst="rect">
            <a:avLst/>
          </a:prstGeom>
          <a:noFill/>
          <a:ln/>
        </p:spPr>
        <p:txBody>
          <a:bodyPr wrap="square" lIns="0" tIns="0" rIns="0" bIns="0" rtlCol="0" anchor="ctr"/>
          <a:lstStyle/>
          <a:p>
            <a:pPr indent="0" marL="0">
              <a:buNone/>
            </a:pPr>
            <a:r>
              <a:rPr lang="en-US" sz="950" b="1" spc="150" kern="0" dirty="0">
                <a:solidFill>
                  <a:srgbClr val="4B6B68"/>
                </a:solidFill>
                <a:latin typeface="Calibri" pitchFamily="34" charset="0"/>
                <a:ea typeface="Calibri" pitchFamily="34" charset="-122"/>
                <a:cs typeface="Calibri" pitchFamily="34" charset="-120"/>
              </a:rPr>
              <a:t>HTTP</a:t>
            </a:r>
            <a:endParaRPr lang="en-US" sz="950" dirty="0"/>
          </a:p>
        </p:txBody>
      </p:sp>
      <p:sp>
        <p:nvSpPr>
          <p:cNvPr id="6" name="Shape 4"/>
          <p:cNvSpPr/>
          <p:nvPr/>
        </p:nvSpPr>
        <p:spPr>
          <a:xfrm>
            <a:off x="2386584" y="1554480"/>
            <a:ext cx="3840480" cy="3108960"/>
          </a:xfrm>
          <a:prstGeom prst="roundRect">
            <a:avLst>
              <a:gd name="adj" fmla="val 3529"/>
            </a:avLst>
          </a:prstGeom>
          <a:solidFill>
            <a:srgbClr val="F6F8F8"/>
          </a:solidFill>
          <a:ln w="12700">
            <a:solidFill>
              <a:srgbClr val="DCE3E2"/>
            </a:solidFill>
            <a:prstDash val="solid"/>
          </a:ln>
          <a:effectLst>
            <a:outerShdw sx="100000" sy="100000" kx="0" ky="0" algn="bl" rotWithShape="0" blurRad="101600" dist="50800" dir="5400000">
              <a:srgbClr val="FFFFFF">
                <a:alpha val="75000"/>
              </a:srgbClr>
            </a:outerShdw>
          </a:effectLst>
        </p:spPr>
      </p:sp>
      <p:sp>
        <p:nvSpPr>
          <p:cNvPr id="7" name="Text 5"/>
          <p:cNvSpPr txBox="1"/>
          <p:nvPr/>
        </p:nvSpPr>
        <p:spPr>
          <a:xfrm>
            <a:off x="2569464" y="1700784"/>
            <a:ext cx="3474720" cy="219456"/>
          </a:xfrm>
          <a:prstGeom prst="rect">
            <a:avLst/>
          </a:prstGeom>
          <a:noFill/>
          <a:ln/>
        </p:spPr>
        <p:txBody>
          <a:bodyPr wrap="square" lIns="0" tIns="0" rIns="0" bIns="0" rtlCol="0" anchor="ctr"/>
          <a:lstStyle/>
          <a:p>
            <a:pPr indent="0" marL="0">
              <a:buNone/>
            </a:pPr>
            <a:r>
              <a:rPr lang="en-US" sz="950" b="1" spc="150" kern="0" dirty="0">
                <a:solidFill>
                  <a:srgbClr val="4B6B68"/>
                </a:solidFill>
                <a:latin typeface="Calibri" pitchFamily="34" charset="0"/>
                <a:ea typeface="Calibri" pitchFamily="34" charset="-122"/>
                <a:cs typeface="Calibri" pitchFamily="34" charset="-120"/>
              </a:rPr>
              <a:t>QUESTION HANDLING</a:t>
            </a:r>
            <a:endParaRPr lang="en-US" sz="950" dirty="0"/>
          </a:p>
        </p:txBody>
      </p:sp>
      <p:sp>
        <p:nvSpPr>
          <p:cNvPr id="8" name="Shape 6"/>
          <p:cNvSpPr/>
          <p:nvPr/>
        </p:nvSpPr>
        <p:spPr>
          <a:xfrm>
            <a:off x="6556248" y="1554480"/>
            <a:ext cx="2286000" cy="3108960"/>
          </a:xfrm>
          <a:prstGeom prst="roundRect">
            <a:avLst>
              <a:gd name="adj" fmla="val 4800"/>
            </a:avLst>
          </a:prstGeom>
          <a:solidFill>
            <a:srgbClr val="FBF3F1"/>
          </a:solidFill>
          <a:ln w="12700">
            <a:solidFill>
              <a:srgbClr val="E8CFC8"/>
            </a:solidFill>
            <a:prstDash val="solid"/>
          </a:ln>
          <a:effectLst>
            <a:outerShdw sx="100000" sy="100000" kx="0" ky="0" algn="bl" rotWithShape="0" blurRad="101600" dist="50800" dir="5400000">
              <a:srgbClr val="FFFFFF">
                <a:alpha val="75000"/>
              </a:srgbClr>
            </a:outerShdw>
          </a:effectLst>
        </p:spPr>
      </p:sp>
      <p:sp>
        <p:nvSpPr>
          <p:cNvPr id="9" name="Text 7"/>
          <p:cNvSpPr txBox="1"/>
          <p:nvPr/>
        </p:nvSpPr>
        <p:spPr>
          <a:xfrm>
            <a:off x="6739128" y="1700784"/>
            <a:ext cx="1920240" cy="219456"/>
          </a:xfrm>
          <a:prstGeom prst="rect">
            <a:avLst/>
          </a:prstGeom>
          <a:noFill/>
          <a:ln/>
        </p:spPr>
        <p:txBody>
          <a:bodyPr wrap="square" lIns="0" tIns="0" rIns="0" bIns="0" rtlCol="0" anchor="ctr"/>
          <a:lstStyle/>
          <a:p>
            <a:pPr indent="0" marL="0">
              <a:buNone/>
            </a:pPr>
            <a:r>
              <a:rPr lang="en-US" sz="950" b="1" spc="150" kern="0" dirty="0">
                <a:solidFill>
                  <a:srgbClr val="A63D2F"/>
                </a:solidFill>
                <a:latin typeface="Calibri" pitchFamily="34" charset="0"/>
                <a:ea typeface="Calibri" pitchFamily="34" charset="-122"/>
                <a:cs typeface="Calibri" pitchFamily="34" charset="-120"/>
              </a:rPr>
              <a:t>SAFETY</a:t>
            </a:r>
            <a:endParaRPr lang="en-US" sz="950" dirty="0"/>
          </a:p>
        </p:txBody>
      </p:sp>
      <p:sp>
        <p:nvSpPr>
          <p:cNvPr id="10" name="Shape 8"/>
          <p:cNvSpPr/>
          <p:nvPr/>
        </p:nvSpPr>
        <p:spPr>
          <a:xfrm>
            <a:off x="9171432" y="1554480"/>
            <a:ext cx="2560320" cy="3108960"/>
          </a:xfrm>
          <a:prstGeom prst="roundRect">
            <a:avLst>
              <a:gd name="adj" fmla="val 4286"/>
            </a:avLst>
          </a:prstGeom>
          <a:solidFill>
            <a:srgbClr val="E9F4F5"/>
          </a:solidFill>
          <a:ln w="12700">
            <a:solidFill>
              <a:srgbClr val="BEDCE0"/>
            </a:solidFill>
            <a:prstDash val="solid"/>
          </a:ln>
          <a:effectLst>
            <a:outerShdw sx="100000" sy="100000" kx="0" ky="0" algn="bl" rotWithShape="0" blurRad="101600" dist="50800" dir="5400000">
              <a:srgbClr val="FFFFFF">
                <a:alpha val="75000"/>
              </a:srgbClr>
            </a:outerShdw>
          </a:effectLst>
        </p:spPr>
      </p:sp>
      <p:sp>
        <p:nvSpPr>
          <p:cNvPr id="11" name="Text 9"/>
          <p:cNvSpPr txBox="1"/>
          <p:nvPr/>
        </p:nvSpPr>
        <p:spPr>
          <a:xfrm>
            <a:off x="9354312" y="1700784"/>
            <a:ext cx="2194560" cy="219456"/>
          </a:xfrm>
          <a:prstGeom prst="rect">
            <a:avLst/>
          </a:prstGeom>
          <a:noFill/>
          <a:ln/>
        </p:spPr>
        <p:txBody>
          <a:bodyPr wrap="square" lIns="0" tIns="0" rIns="0" bIns="0" rtlCol="0" anchor="ctr"/>
          <a:lstStyle/>
          <a:p>
            <a:pPr indent="0" marL="0">
              <a:buNone/>
            </a:pPr>
            <a:r>
              <a:rPr lang="en-US" sz="950" b="1" spc="150" kern="0" dirty="0">
                <a:solidFill>
                  <a:srgbClr val="028090"/>
                </a:solidFill>
                <a:latin typeface="Calibri" pitchFamily="34" charset="0"/>
                <a:ea typeface="Calibri" pitchFamily="34" charset="-122"/>
                <a:cs typeface="Calibri" pitchFamily="34" charset="-120"/>
              </a:rPr>
              <a:t>VENDOR BOUNDARY</a:t>
            </a:r>
            <a:endParaRPr lang="en-US" sz="950" dirty="0"/>
          </a:p>
        </p:txBody>
      </p:sp>
      <p:sp>
        <p:nvSpPr>
          <p:cNvPr id="12" name="Shape 10"/>
          <p:cNvSpPr/>
          <p:nvPr/>
        </p:nvSpPr>
        <p:spPr>
          <a:xfrm>
            <a:off x="594360" y="1965960"/>
            <a:ext cx="1325880" cy="457200"/>
          </a:xfrm>
          <a:prstGeom prst="roundRect">
            <a:avLst>
              <a:gd name="adj" fmla="val 14000"/>
            </a:avLst>
          </a:prstGeom>
          <a:solidFill>
            <a:srgbClr val="FFFFFF"/>
          </a:solidFill>
          <a:ln w="12700">
            <a:solidFill>
              <a:srgbClr val="C2DED9"/>
            </a:solidFill>
            <a:prstDash val="solid"/>
          </a:ln>
          <a:effectLst>
            <a:outerShdw sx="100000" sy="100000" kx="0" ky="0" algn="bl" rotWithShape="0" blurRad="127000" dist="25400" dir="5400000">
              <a:srgbClr val="0E2E2C">
                <a:alpha val="8000"/>
              </a:srgbClr>
            </a:outerShdw>
          </a:effectLst>
        </p:spPr>
      </p:sp>
      <p:sp>
        <p:nvSpPr>
          <p:cNvPr id="13" name="Text 11"/>
          <p:cNvSpPr txBox="1"/>
          <p:nvPr/>
        </p:nvSpPr>
        <p:spPr>
          <a:xfrm>
            <a:off x="722376" y="1965960"/>
            <a:ext cx="1069848" cy="457200"/>
          </a:xfrm>
          <a:prstGeom prst="rect">
            <a:avLst/>
          </a:prstGeom>
          <a:noFill/>
          <a:ln/>
        </p:spPr>
        <p:txBody>
          <a:bodyPr wrap="square" lIns="0" tIns="0" rIns="0" bIns="0" rtlCol="0" anchor="ctr"/>
          <a:lstStyle/>
          <a:p>
            <a:pPr indent="0" marL="0">
              <a:buNone/>
            </a:pPr>
            <a:r>
              <a:rPr lang="en-US" sz="1050" b="1" dirty="0">
                <a:solidFill>
                  <a:srgbClr val="0E2E2C"/>
                </a:solidFill>
                <a:latin typeface="Courier New" pitchFamily="34" charset="0"/>
                <a:ea typeface="Courier New" pitchFamily="34" charset="-122"/>
                <a:cs typeface="Courier New" pitchFamily="34" charset="-120"/>
              </a:rPr>
              <a:t>main.py</a:t>
            </a:r>
            <a:endParaRPr lang="en-US" sz="1050" dirty="0"/>
          </a:p>
        </p:txBody>
      </p:sp>
      <p:sp>
        <p:nvSpPr>
          <p:cNvPr id="14" name="Text 12"/>
          <p:cNvSpPr txBox="1"/>
          <p:nvPr/>
        </p:nvSpPr>
        <p:spPr>
          <a:xfrm>
            <a:off x="621792" y="2578608"/>
            <a:ext cx="1298448" cy="1188720"/>
          </a:xfrm>
          <a:prstGeom prst="rect">
            <a:avLst/>
          </a:prstGeom>
          <a:noFill/>
          <a:ln/>
        </p:spPr>
        <p:txBody>
          <a:bodyPr wrap="square" lIns="0" tIns="0" rIns="0" bIns="0" rtlCol="0" anchor="t"/>
          <a:lstStyle/>
          <a:p>
            <a:pPr indent="0" marL="0">
              <a:buNone/>
            </a:pPr>
            <a:r>
              <a:rPr lang="en-US" sz="950" dirty="0">
                <a:solidFill>
                  <a:srgbClr val="4B6B68"/>
                </a:solidFill>
                <a:latin typeface="Calibri" pitchFamily="34" charset="0"/>
                <a:ea typeface="Calibri" pitchFamily="34" charset="-122"/>
                <a:cs typeface="Calibri" pitchFamily="34" charset="-120"/>
              </a:rPr>
              <a:t>FastAPI.</a:t>
            </a:r>
            <a:endParaRPr lang="en-US" sz="950" dirty="0"/>
          </a:p>
          <a:p>
            <a:pPr indent="0" marL="0">
              <a:buNone/>
            </a:pPr>
            <a:r>
              <a:rPr lang="en-US" sz="950" dirty="0">
                <a:solidFill>
                  <a:srgbClr val="4B6B68"/>
                </a:solidFill>
                <a:latin typeface="Calibri" pitchFamily="34" charset="0"/>
                <a:ea typeface="Calibri" pitchFamily="34" charset="-122"/>
                <a:cs typeface="Calibri" pitchFamily="34" charset="-120"/>
              </a:rPr>
              <a:t>One route in:</a:t>
            </a:r>
            <a:endParaRPr lang="en-US" sz="950" dirty="0"/>
          </a:p>
          <a:p>
            <a:pPr indent="0" marL="0">
              <a:buNone/>
            </a:pPr>
            <a:r>
              <a:rPr lang="en-US" sz="950" dirty="0">
                <a:solidFill>
                  <a:srgbClr val="4B6B68"/>
                </a:solidFill>
                <a:latin typeface="Calibri" pitchFamily="34" charset="0"/>
                <a:ea typeface="Calibri" pitchFamily="34" charset="-122"/>
                <a:cs typeface="Calibri" pitchFamily="34" charset="-120"/>
              </a:rPr>
              <a:t>POST /ask.</a:t>
            </a:r>
            <a:endParaRPr lang="en-US" sz="950" dirty="0"/>
          </a:p>
          <a:p>
            <a:pPr indent="0" marL="0">
              <a:buNone/>
            </a:pPr>
            <a:r>
              <a:rPr lang="en-US" sz="950" dirty="0">
                <a:solidFill>
                  <a:srgbClr val="4B6B68"/>
                </a:solidFill>
                <a:latin typeface="Calibri" pitchFamily="34" charset="0"/>
                <a:ea typeface="Calibri" pitchFamily="34" charset="-122"/>
                <a:cs typeface="Calibri" pitchFamily="34" charset="-120"/>
              </a:rPr>
              <a:t>No logic of</a:t>
            </a:r>
            <a:endParaRPr lang="en-US" sz="950" dirty="0"/>
          </a:p>
          <a:p>
            <a:pPr indent="0" marL="0">
              <a:buNone/>
            </a:pPr>
            <a:r>
              <a:rPr lang="en-US" sz="950" dirty="0">
                <a:solidFill>
                  <a:srgbClr val="4B6B68"/>
                </a:solidFill>
                <a:latin typeface="Calibri" pitchFamily="34" charset="0"/>
                <a:ea typeface="Calibri" pitchFamily="34" charset="-122"/>
                <a:cs typeface="Calibri" pitchFamily="34" charset="-120"/>
              </a:rPr>
              <a:t>its own.</a:t>
            </a:r>
            <a:endParaRPr lang="en-US" sz="950" dirty="0"/>
          </a:p>
        </p:txBody>
      </p:sp>
      <p:sp>
        <p:nvSpPr>
          <p:cNvPr id="15" name="Shape 13"/>
          <p:cNvSpPr/>
          <p:nvPr/>
        </p:nvSpPr>
        <p:spPr>
          <a:xfrm>
            <a:off x="2560320" y="1965960"/>
            <a:ext cx="3493008" cy="457200"/>
          </a:xfrm>
          <a:prstGeom prst="roundRect">
            <a:avLst>
              <a:gd name="adj" fmla="val 14000"/>
            </a:avLst>
          </a:prstGeom>
          <a:solidFill>
            <a:srgbClr val="028090"/>
          </a:solidFill>
          <a:ln w="12700">
            <a:solidFill>
              <a:srgbClr val="028090"/>
            </a:solidFill>
            <a:prstDash val="solid"/>
          </a:ln>
          <a:effectLst>
            <a:outerShdw sx="100000" sy="100000" kx="0" ky="0" algn="bl" rotWithShape="0" blurRad="127000" dist="25400" dir="5400000">
              <a:srgbClr val="0E2E2C">
                <a:alpha val="8000"/>
              </a:srgbClr>
            </a:outerShdw>
          </a:effectLst>
        </p:spPr>
      </p:sp>
      <p:sp>
        <p:nvSpPr>
          <p:cNvPr id="16" name="Text 14"/>
          <p:cNvSpPr txBox="1"/>
          <p:nvPr/>
        </p:nvSpPr>
        <p:spPr>
          <a:xfrm>
            <a:off x="2688336" y="1965960"/>
            <a:ext cx="3236976" cy="457200"/>
          </a:xfrm>
          <a:prstGeom prst="rect">
            <a:avLst/>
          </a:prstGeom>
          <a:noFill/>
          <a:ln/>
        </p:spPr>
        <p:txBody>
          <a:bodyPr wrap="square" lIns="0" tIns="0" rIns="0" bIns="0" rtlCol="0" anchor="ctr"/>
          <a:lstStyle/>
          <a:p>
            <a:pPr indent="0" marL="0">
              <a:buNone/>
            </a:pPr>
            <a:r>
              <a:rPr lang="en-US" sz="1050" b="1" dirty="0">
                <a:solidFill>
                  <a:srgbClr val="FFFFFF"/>
                </a:solidFill>
                <a:latin typeface="Courier New" pitchFamily="34" charset="0"/>
                <a:ea typeface="Courier New" pitchFamily="34" charset="-122"/>
                <a:cs typeface="Courier New" pitchFamily="34" charset="-120"/>
              </a:rPr>
              <a:t>pipeline.py</a:t>
            </a:r>
            <a:endParaRPr lang="en-US" sz="1050" dirty="0"/>
          </a:p>
        </p:txBody>
      </p:sp>
      <p:sp>
        <p:nvSpPr>
          <p:cNvPr id="17" name="Shape 15"/>
          <p:cNvSpPr/>
          <p:nvPr/>
        </p:nvSpPr>
        <p:spPr>
          <a:xfrm>
            <a:off x="2560320" y="2606040"/>
            <a:ext cx="1645920" cy="457200"/>
          </a:xfrm>
          <a:prstGeom prst="roundRect">
            <a:avLst>
              <a:gd name="adj" fmla="val 14000"/>
            </a:avLst>
          </a:prstGeom>
          <a:solidFill>
            <a:srgbClr val="FFFFFF"/>
          </a:solidFill>
          <a:ln w="12700">
            <a:solidFill>
              <a:srgbClr val="C2DED9"/>
            </a:solidFill>
            <a:prstDash val="solid"/>
          </a:ln>
          <a:effectLst>
            <a:outerShdw sx="100000" sy="100000" kx="0" ky="0" algn="bl" rotWithShape="0" blurRad="127000" dist="25400" dir="5400000">
              <a:srgbClr val="0E2E2C">
                <a:alpha val="8000"/>
              </a:srgbClr>
            </a:outerShdw>
          </a:effectLst>
        </p:spPr>
      </p:sp>
      <p:sp>
        <p:nvSpPr>
          <p:cNvPr id="18" name="Text 16"/>
          <p:cNvSpPr txBox="1"/>
          <p:nvPr/>
        </p:nvSpPr>
        <p:spPr>
          <a:xfrm>
            <a:off x="2688336" y="2606040"/>
            <a:ext cx="1389888" cy="457200"/>
          </a:xfrm>
          <a:prstGeom prst="rect">
            <a:avLst/>
          </a:prstGeom>
          <a:noFill/>
          <a:ln/>
        </p:spPr>
        <p:txBody>
          <a:bodyPr wrap="square" lIns="0" tIns="0" rIns="0" bIns="0" rtlCol="0" anchor="ctr"/>
          <a:lstStyle/>
          <a:p>
            <a:pPr indent="0" marL="0">
              <a:buNone/>
            </a:pPr>
            <a:r>
              <a:rPr lang="en-US" sz="1050" b="1" dirty="0">
                <a:solidFill>
                  <a:srgbClr val="0E2E2C"/>
                </a:solidFill>
                <a:latin typeface="Courier New" pitchFamily="34" charset="0"/>
                <a:ea typeface="Courier New" pitchFamily="34" charset="-122"/>
                <a:cs typeface="Courier New" pitchFamily="34" charset="-120"/>
              </a:rPr>
              <a:t>templates.py</a:t>
            </a:r>
            <a:endParaRPr lang="en-US" sz="1050" dirty="0"/>
          </a:p>
        </p:txBody>
      </p:sp>
      <p:sp>
        <p:nvSpPr>
          <p:cNvPr id="19" name="Shape 17"/>
          <p:cNvSpPr/>
          <p:nvPr/>
        </p:nvSpPr>
        <p:spPr>
          <a:xfrm>
            <a:off x="4407408" y="2606040"/>
            <a:ext cx="1645920" cy="457200"/>
          </a:xfrm>
          <a:prstGeom prst="roundRect">
            <a:avLst>
              <a:gd name="adj" fmla="val 14000"/>
            </a:avLst>
          </a:prstGeom>
          <a:solidFill>
            <a:srgbClr val="FFFFFF"/>
          </a:solidFill>
          <a:ln w="12700">
            <a:solidFill>
              <a:srgbClr val="C2DED9"/>
            </a:solidFill>
            <a:prstDash val="solid"/>
          </a:ln>
          <a:effectLst>
            <a:outerShdw sx="100000" sy="100000" kx="0" ky="0" algn="bl" rotWithShape="0" blurRad="127000" dist="25400" dir="5400000">
              <a:srgbClr val="0E2E2C">
                <a:alpha val="8000"/>
              </a:srgbClr>
            </a:outerShdw>
          </a:effectLst>
        </p:spPr>
      </p:sp>
      <p:sp>
        <p:nvSpPr>
          <p:cNvPr id="20" name="Text 18"/>
          <p:cNvSpPr txBox="1"/>
          <p:nvPr/>
        </p:nvSpPr>
        <p:spPr>
          <a:xfrm>
            <a:off x="4535424" y="2606040"/>
            <a:ext cx="1389888" cy="457200"/>
          </a:xfrm>
          <a:prstGeom prst="rect">
            <a:avLst/>
          </a:prstGeom>
          <a:noFill/>
          <a:ln/>
        </p:spPr>
        <p:txBody>
          <a:bodyPr wrap="square" lIns="0" tIns="0" rIns="0" bIns="0" rtlCol="0" anchor="ctr"/>
          <a:lstStyle/>
          <a:p>
            <a:pPr indent="0" marL="0">
              <a:buNone/>
            </a:pPr>
            <a:r>
              <a:rPr lang="en-US" sz="1050" b="1" dirty="0">
                <a:solidFill>
                  <a:srgbClr val="0E2E2C"/>
                </a:solidFill>
                <a:latin typeface="Courier New" pitchFamily="34" charset="0"/>
                <a:ea typeface="Courier New" pitchFamily="34" charset="-122"/>
                <a:cs typeface="Courier New" pitchFamily="34" charset="-120"/>
              </a:rPr>
              <a:t>entities.py</a:t>
            </a:r>
            <a:endParaRPr lang="en-US" sz="1050" dirty="0"/>
          </a:p>
        </p:txBody>
      </p:sp>
      <p:sp>
        <p:nvSpPr>
          <p:cNvPr id="21" name="Shape 19"/>
          <p:cNvSpPr/>
          <p:nvPr/>
        </p:nvSpPr>
        <p:spPr>
          <a:xfrm>
            <a:off x="2560320" y="3246120"/>
            <a:ext cx="1645920" cy="457200"/>
          </a:xfrm>
          <a:prstGeom prst="roundRect">
            <a:avLst>
              <a:gd name="adj" fmla="val 14000"/>
            </a:avLst>
          </a:prstGeom>
          <a:solidFill>
            <a:srgbClr val="FFFFFF"/>
          </a:solidFill>
          <a:ln w="12700">
            <a:solidFill>
              <a:srgbClr val="C2DED9"/>
            </a:solidFill>
            <a:prstDash val="solid"/>
          </a:ln>
          <a:effectLst>
            <a:outerShdw sx="100000" sy="100000" kx="0" ky="0" algn="bl" rotWithShape="0" blurRad="127000" dist="25400" dir="5400000">
              <a:srgbClr val="0E2E2C">
                <a:alpha val="8000"/>
              </a:srgbClr>
            </a:outerShdw>
          </a:effectLst>
        </p:spPr>
      </p:sp>
      <p:sp>
        <p:nvSpPr>
          <p:cNvPr id="22" name="Text 20"/>
          <p:cNvSpPr txBox="1"/>
          <p:nvPr/>
        </p:nvSpPr>
        <p:spPr>
          <a:xfrm>
            <a:off x="2688336" y="3246120"/>
            <a:ext cx="1389888" cy="457200"/>
          </a:xfrm>
          <a:prstGeom prst="rect">
            <a:avLst/>
          </a:prstGeom>
          <a:noFill/>
          <a:ln/>
        </p:spPr>
        <p:txBody>
          <a:bodyPr wrap="square" lIns="0" tIns="0" rIns="0" bIns="0" rtlCol="0" anchor="ctr"/>
          <a:lstStyle/>
          <a:p>
            <a:pPr indent="0" marL="0">
              <a:buNone/>
            </a:pPr>
            <a:r>
              <a:rPr lang="en-US" sz="1050" b="1" dirty="0">
                <a:solidFill>
                  <a:srgbClr val="0E2E2C"/>
                </a:solidFill>
                <a:latin typeface="Courier New" pitchFamily="34" charset="0"/>
                <a:ea typeface="Courier New" pitchFamily="34" charset="-122"/>
                <a:cs typeface="Courier New" pitchFamily="34" charset="-120"/>
              </a:rPr>
              <a:t>llm_query.py</a:t>
            </a:r>
            <a:endParaRPr lang="en-US" sz="1050" dirty="0"/>
          </a:p>
        </p:txBody>
      </p:sp>
      <p:sp>
        <p:nvSpPr>
          <p:cNvPr id="23" name="Shape 21"/>
          <p:cNvSpPr/>
          <p:nvPr/>
        </p:nvSpPr>
        <p:spPr>
          <a:xfrm>
            <a:off x="4407408" y="3246120"/>
            <a:ext cx="1645920" cy="457200"/>
          </a:xfrm>
          <a:prstGeom prst="roundRect">
            <a:avLst>
              <a:gd name="adj" fmla="val 14000"/>
            </a:avLst>
          </a:prstGeom>
          <a:solidFill>
            <a:srgbClr val="FFFFFF"/>
          </a:solidFill>
          <a:ln w="12700">
            <a:solidFill>
              <a:srgbClr val="C2DED9"/>
            </a:solidFill>
            <a:prstDash val="solid"/>
          </a:ln>
          <a:effectLst>
            <a:outerShdw sx="100000" sy="100000" kx="0" ky="0" algn="bl" rotWithShape="0" blurRad="127000" dist="25400" dir="5400000">
              <a:srgbClr val="0E2E2C">
                <a:alpha val="8000"/>
              </a:srgbClr>
            </a:outerShdw>
          </a:effectLst>
        </p:spPr>
      </p:sp>
      <p:sp>
        <p:nvSpPr>
          <p:cNvPr id="24" name="Text 22"/>
          <p:cNvSpPr txBox="1"/>
          <p:nvPr/>
        </p:nvSpPr>
        <p:spPr>
          <a:xfrm>
            <a:off x="4535424" y="3246120"/>
            <a:ext cx="1389888" cy="457200"/>
          </a:xfrm>
          <a:prstGeom prst="rect">
            <a:avLst/>
          </a:prstGeom>
          <a:noFill/>
          <a:ln/>
        </p:spPr>
        <p:txBody>
          <a:bodyPr wrap="square" lIns="0" tIns="0" rIns="0" bIns="0" rtlCol="0" anchor="ctr"/>
          <a:lstStyle/>
          <a:p>
            <a:pPr indent="0" marL="0">
              <a:buNone/>
            </a:pPr>
            <a:r>
              <a:rPr lang="en-US" sz="1050" b="1" dirty="0">
                <a:solidFill>
                  <a:srgbClr val="0E2E2C"/>
                </a:solidFill>
                <a:latin typeface="Courier New" pitchFamily="34" charset="0"/>
                <a:ea typeface="Courier New" pitchFamily="34" charset="-122"/>
                <a:cs typeface="Courier New" pitchFamily="34" charset="-120"/>
              </a:rPr>
              <a:t>responder.py</a:t>
            </a:r>
            <a:endParaRPr lang="en-US" sz="1050" dirty="0"/>
          </a:p>
        </p:txBody>
      </p:sp>
      <p:sp>
        <p:nvSpPr>
          <p:cNvPr id="25" name="Shape 23"/>
          <p:cNvSpPr/>
          <p:nvPr/>
        </p:nvSpPr>
        <p:spPr>
          <a:xfrm>
            <a:off x="3383280" y="2423160"/>
            <a:ext cx="0" cy="182880"/>
          </a:xfrm>
          <a:prstGeom prst="line">
            <a:avLst/>
          </a:prstGeom>
          <a:noFill/>
          <a:ln w="17780">
            <a:solidFill>
              <a:srgbClr val="028090"/>
            </a:solidFill>
            <a:prstDash val="solid"/>
            <a:tailEnd type="triangle"/>
          </a:ln>
        </p:spPr>
      </p:sp>
      <p:sp>
        <p:nvSpPr>
          <p:cNvPr id="26" name="Shape 24"/>
          <p:cNvSpPr/>
          <p:nvPr/>
        </p:nvSpPr>
        <p:spPr>
          <a:xfrm>
            <a:off x="5230368" y="2423160"/>
            <a:ext cx="0" cy="182880"/>
          </a:xfrm>
          <a:prstGeom prst="line">
            <a:avLst/>
          </a:prstGeom>
          <a:noFill/>
          <a:ln w="17780">
            <a:solidFill>
              <a:srgbClr val="028090"/>
            </a:solidFill>
            <a:prstDash val="solid"/>
            <a:tailEnd type="triangle"/>
          </a:ln>
        </p:spPr>
      </p:sp>
      <p:sp>
        <p:nvSpPr>
          <p:cNvPr id="27" name="Shape 25"/>
          <p:cNvSpPr/>
          <p:nvPr/>
        </p:nvSpPr>
        <p:spPr>
          <a:xfrm>
            <a:off x="4206240" y="2834640"/>
            <a:ext cx="201168" cy="0"/>
          </a:xfrm>
          <a:prstGeom prst="line">
            <a:avLst/>
          </a:prstGeom>
          <a:noFill/>
          <a:ln w="15240">
            <a:solidFill>
              <a:srgbClr val="9FB3B1"/>
            </a:solidFill>
            <a:prstDash val="solid"/>
            <a:tailEnd type="triangle"/>
          </a:ln>
        </p:spPr>
      </p:sp>
      <p:sp>
        <p:nvSpPr>
          <p:cNvPr id="28" name="Text 26"/>
          <p:cNvSpPr txBox="1"/>
          <p:nvPr/>
        </p:nvSpPr>
        <p:spPr>
          <a:xfrm>
            <a:off x="2560320" y="3840480"/>
            <a:ext cx="3493008" cy="603504"/>
          </a:xfrm>
          <a:prstGeom prst="rect">
            <a:avLst/>
          </a:prstGeom>
          <a:noFill/>
          <a:ln/>
        </p:spPr>
        <p:txBody>
          <a:bodyPr wrap="square" lIns="0" tIns="0" rIns="0" bIns="0" rtlCol="0" anchor="t"/>
          <a:lstStyle/>
          <a:p>
            <a:pPr indent="0" marL="0">
              <a:buNone/>
            </a:pPr>
            <a:r>
              <a:rPr lang="en-US" sz="950" dirty="0">
                <a:solidFill>
                  <a:srgbClr val="4B6B68"/>
                </a:solidFill>
                <a:latin typeface="Calibri" pitchFamily="34" charset="0"/>
                <a:ea typeface="Calibri" pitchFamily="34" charset="-122"/>
                <a:cs typeface="Calibri" pitchFamily="34" charset="-120"/>
              </a:rPr>
              <a:t>pipeline.py owns the order. Nothing else decides whether the model is called or the database is touched.</a:t>
            </a:r>
            <a:endParaRPr lang="en-US" sz="950" dirty="0"/>
          </a:p>
        </p:txBody>
      </p:sp>
      <p:sp>
        <p:nvSpPr>
          <p:cNvPr id="29" name="Shape 27"/>
          <p:cNvSpPr/>
          <p:nvPr/>
        </p:nvSpPr>
        <p:spPr>
          <a:xfrm>
            <a:off x="6693408" y="1965960"/>
            <a:ext cx="2011680" cy="457200"/>
          </a:xfrm>
          <a:prstGeom prst="roundRect">
            <a:avLst>
              <a:gd name="adj" fmla="val 14000"/>
            </a:avLst>
          </a:prstGeom>
          <a:solidFill>
            <a:srgbClr val="A63D2F"/>
          </a:solidFill>
          <a:ln w="12700">
            <a:solidFill>
              <a:srgbClr val="A63D2F"/>
            </a:solidFill>
            <a:prstDash val="solid"/>
          </a:ln>
          <a:effectLst>
            <a:outerShdw sx="100000" sy="100000" kx="0" ky="0" algn="bl" rotWithShape="0" blurRad="127000" dist="25400" dir="5400000">
              <a:srgbClr val="0E2E2C">
                <a:alpha val="8000"/>
              </a:srgbClr>
            </a:outerShdw>
          </a:effectLst>
        </p:spPr>
      </p:sp>
      <p:sp>
        <p:nvSpPr>
          <p:cNvPr id="30" name="Text 28"/>
          <p:cNvSpPr txBox="1"/>
          <p:nvPr/>
        </p:nvSpPr>
        <p:spPr>
          <a:xfrm>
            <a:off x="6821424" y="1965960"/>
            <a:ext cx="1755648" cy="457200"/>
          </a:xfrm>
          <a:prstGeom prst="rect">
            <a:avLst/>
          </a:prstGeom>
          <a:noFill/>
          <a:ln/>
        </p:spPr>
        <p:txBody>
          <a:bodyPr wrap="square" lIns="0" tIns="0" rIns="0" bIns="0" rtlCol="0" anchor="ctr"/>
          <a:lstStyle/>
          <a:p>
            <a:pPr indent="0" marL="0">
              <a:buNone/>
            </a:pPr>
            <a:r>
              <a:rPr lang="en-US" sz="1050" b="1" dirty="0">
                <a:solidFill>
                  <a:srgbClr val="FFFFFF"/>
                </a:solidFill>
                <a:latin typeface="Courier New" pitchFamily="34" charset="0"/>
                <a:ea typeface="Courier New" pitchFamily="34" charset="-122"/>
                <a:cs typeface="Courier New" pitchFamily="34" charset="-120"/>
              </a:rPr>
              <a:t>sql_guard.py</a:t>
            </a:r>
            <a:endParaRPr lang="en-US" sz="1050" dirty="0"/>
          </a:p>
        </p:txBody>
      </p:sp>
      <p:sp>
        <p:nvSpPr>
          <p:cNvPr id="31" name="Shape 29"/>
          <p:cNvSpPr/>
          <p:nvPr/>
        </p:nvSpPr>
        <p:spPr>
          <a:xfrm>
            <a:off x="6693408" y="2606040"/>
            <a:ext cx="2011680" cy="566928"/>
          </a:xfrm>
          <a:prstGeom prst="roundRect">
            <a:avLst>
              <a:gd name="adj" fmla="val 11290"/>
            </a:avLst>
          </a:prstGeom>
          <a:solidFill>
            <a:srgbClr val="FFFFFF"/>
          </a:solidFill>
          <a:ln w="12700">
            <a:solidFill>
              <a:srgbClr val="C2DED9"/>
            </a:solidFill>
            <a:prstDash val="solid"/>
          </a:ln>
          <a:effectLst>
            <a:outerShdw sx="100000" sy="100000" kx="0" ky="0" algn="bl" rotWithShape="0" blurRad="127000" dist="25400" dir="5400000">
              <a:srgbClr val="0E2E2C">
                <a:alpha val="8000"/>
              </a:srgbClr>
            </a:outerShdw>
          </a:effectLst>
        </p:spPr>
      </p:sp>
      <p:sp>
        <p:nvSpPr>
          <p:cNvPr id="32" name="Text 30"/>
          <p:cNvSpPr txBox="1"/>
          <p:nvPr/>
        </p:nvSpPr>
        <p:spPr>
          <a:xfrm>
            <a:off x="6821424" y="2660904"/>
            <a:ext cx="1755648" cy="219456"/>
          </a:xfrm>
          <a:prstGeom prst="rect">
            <a:avLst/>
          </a:prstGeom>
          <a:noFill/>
          <a:ln/>
        </p:spPr>
        <p:txBody>
          <a:bodyPr wrap="square" lIns="0" tIns="0" rIns="0" bIns="0" rtlCol="0" anchor="t"/>
          <a:lstStyle/>
          <a:p>
            <a:pPr indent="0" marL="0">
              <a:buNone/>
            </a:pPr>
            <a:r>
              <a:rPr lang="en-US" sz="1050" b="1" dirty="0">
                <a:solidFill>
                  <a:srgbClr val="0E2E2C"/>
                </a:solidFill>
                <a:latin typeface="Courier New" pitchFamily="34" charset="0"/>
                <a:ea typeface="Courier New" pitchFamily="34" charset="-122"/>
                <a:cs typeface="Courier New" pitchFamily="34" charset="-120"/>
              </a:rPr>
              <a:t>semantic.py</a:t>
            </a:r>
            <a:endParaRPr lang="en-US" sz="1050" dirty="0"/>
          </a:p>
        </p:txBody>
      </p:sp>
      <p:sp>
        <p:nvSpPr>
          <p:cNvPr id="33" name="Text 31"/>
          <p:cNvSpPr txBox="1"/>
          <p:nvPr/>
        </p:nvSpPr>
        <p:spPr>
          <a:xfrm>
            <a:off x="6821424" y="2852928"/>
            <a:ext cx="1755648" cy="292608"/>
          </a:xfrm>
          <a:prstGeom prst="rect">
            <a:avLst/>
          </a:prstGeom>
          <a:noFill/>
          <a:ln/>
        </p:spPr>
        <p:txBody>
          <a:bodyPr wrap="square" lIns="0" tIns="0" rIns="0" bIns="0" rtlCol="0" anchor="t"/>
          <a:lstStyle/>
          <a:p>
            <a:pPr indent="0" marL="0">
              <a:buNone/>
            </a:pPr>
            <a:r>
              <a:rPr lang="en-US" sz="850" dirty="0">
                <a:solidFill>
                  <a:srgbClr val="4B6B68"/>
                </a:solidFill>
                <a:latin typeface="Calibri" pitchFamily="34" charset="0"/>
                <a:ea typeface="Calibri" pitchFamily="34" charset="-122"/>
                <a:cs typeface="Calibri" pitchFamily="34" charset="-120"/>
              </a:rPr>
              <a:t>+ schema.yaml</a:t>
            </a:r>
            <a:endParaRPr lang="en-US" sz="850" dirty="0"/>
          </a:p>
        </p:txBody>
      </p:sp>
      <p:sp>
        <p:nvSpPr>
          <p:cNvPr id="34" name="Text 32"/>
          <p:cNvSpPr txBox="1"/>
          <p:nvPr/>
        </p:nvSpPr>
        <p:spPr>
          <a:xfrm>
            <a:off x="6693408" y="3310128"/>
            <a:ext cx="2011680" cy="1133856"/>
          </a:xfrm>
          <a:prstGeom prst="rect">
            <a:avLst/>
          </a:prstGeom>
          <a:noFill/>
          <a:ln/>
        </p:spPr>
        <p:txBody>
          <a:bodyPr wrap="square" lIns="0" tIns="0" rIns="0" bIns="0" rtlCol="0" anchor="t"/>
          <a:lstStyle/>
          <a:p>
            <a:pPr indent="0" marL="0">
              <a:buNone/>
            </a:pPr>
            <a:r>
              <a:rPr lang="en-US" sz="950" dirty="0">
                <a:solidFill>
                  <a:srgbClr val="4B6B68"/>
                </a:solidFill>
                <a:latin typeface="Calibri" pitchFamily="34" charset="0"/>
                <a:ea typeface="Calibri" pitchFamily="34" charset="-122"/>
                <a:cs typeface="Calibri" pitchFamily="34" charset="-120"/>
              </a:rPr>
              <a:t>What a statement is allowed to be, and what the schema actually means — written down once and shared by the guard and the model prompt.</a:t>
            </a:r>
            <a:endParaRPr lang="en-US" sz="950" dirty="0"/>
          </a:p>
        </p:txBody>
      </p:sp>
      <p:sp>
        <p:nvSpPr>
          <p:cNvPr id="35" name="Shape 33"/>
          <p:cNvSpPr/>
          <p:nvPr/>
        </p:nvSpPr>
        <p:spPr>
          <a:xfrm>
            <a:off x="9308592" y="1965960"/>
            <a:ext cx="2286000" cy="457200"/>
          </a:xfrm>
          <a:prstGeom prst="roundRect">
            <a:avLst>
              <a:gd name="adj" fmla="val 14000"/>
            </a:avLst>
          </a:prstGeom>
          <a:solidFill>
            <a:srgbClr val="FFFFFF"/>
          </a:solidFill>
          <a:ln w="12700">
            <a:solidFill>
              <a:srgbClr val="C2DED9"/>
            </a:solidFill>
            <a:prstDash val="solid"/>
          </a:ln>
          <a:effectLst>
            <a:outerShdw sx="100000" sy="100000" kx="0" ky="0" algn="bl" rotWithShape="0" blurRad="127000" dist="25400" dir="5400000">
              <a:srgbClr val="0E2E2C">
                <a:alpha val="8000"/>
              </a:srgbClr>
            </a:outerShdw>
          </a:effectLst>
        </p:spPr>
      </p:sp>
      <p:sp>
        <p:nvSpPr>
          <p:cNvPr id="36" name="Text 34"/>
          <p:cNvSpPr txBox="1"/>
          <p:nvPr/>
        </p:nvSpPr>
        <p:spPr>
          <a:xfrm>
            <a:off x="9436608" y="1965960"/>
            <a:ext cx="2029968" cy="457200"/>
          </a:xfrm>
          <a:prstGeom prst="rect">
            <a:avLst/>
          </a:prstGeom>
          <a:noFill/>
          <a:ln/>
        </p:spPr>
        <p:txBody>
          <a:bodyPr wrap="square" lIns="0" tIns="0" rIns="0" bIns="0" rtlCol="0" anchor="ctr"/>
          <a:lstStyle/>
          <a:p>
            <a:pPr indent="0" marL="0">
              <a:buNone/>
            </a:pPr>
            <a:r>
              <a:rPr lang="en-US" sz="1050" b="1" dirty="0">
                <a:solidFill>
                  <a:srgbClr val="0E2E2C"/>
                </a:solidFill>
                <a:latin typeface="Courier New" pitchFamily="34" charset="0"/>
                <a:ea typeface="Courier New" pitchFamily="34" charset="-122"/>
                <a:cs typeface="Courier New" pitchFamily="34" charset="-120"/>
              </a:rPr>
              <a:t>db/dialect.py</a:t>
            </a:r>
            <a:endParaRPr lang="en-US" sz="1050" dirty="0"/>
          </a:p>
        </p:txBody>
      </p:sp>
      <p:sp>
        <p:nvSpPr>
          <p:cNvPr id="37" name="Shape 35"/>
          <p:cNvSpPr/>
          <p:nvPr/>
        </p:nvSpPr>
        <p:spPr>
          <a:xfrm>
            <a:off x="9308592" y="2606040"/>
            <a:ext cx="2286000" cy="457200"/>
          </a:xfrm>
          <a:prstGeom prst="roundRect">
            <a:avLst>
              <a:gd name="adj" fmla="val 14000"/>
            </a:avLst>
          </a:prstGeom>
          <a:solidFill>
            <a:srgbClr val="FFFFFF"/>
          </a:solidFill>
          <a:ln w="12700">
            <a:solidFill>
              <a:srgbClr val="C2DED9"/>
            </a:solidFill>
            <a:prstDash val="solid"/>
          </a:ln>
          <a:effectLst>
            <a:outerShdw sx="100000" sy="100000" kx="0" ky="0" algn="bl" rotWithShape="0" blurRad="127000" dist="25400" dir="5400000">
              <a:srgbClr val="0E2E2C">
                <a:alpha val="8000"/>
              </a:srgbClr>
            </a:outerShdw>
          </a:effectLst>
        </p:spPr>
      </p:sp>
      <p:sp>
        <p:nvSpPr>
          <p:cNvPr id="38" name="Text 36"/>
          <p:cNvSpPr txBox="1"/>
          <p:nvPr/>
        </p:nvSpPr>
        <p:spPr>
          <a:xfrm>
            <a:off x="9436608" y="2606040"/>
            <a:ext cx="2029968" cy="457200"/>
          </a:xfrm>
          <a:prstGeom prst="rect">
            <a:avLst/>
          </a:prstGeom>
          <a:noFill/>
          <a:ln/>
        </p:spPr>
        <p:txBody>
          <a:bodyPr wrap="square" lIns="0" tIns="0" rIns="0" bIns="0" rtlCol="0" anchor="ctr"/>
          <a:lstStyle/>
          <a:p>
            <a:pPr indent="0" marL="0">
              <a:buNone/>
            </a:pPr>
            <a:r>
              <a:rPr lang="en-US" sz="1050" b="1" dirty="0">
                <a:solidFill>
                  <a:srgbClr val="0E2E2C"/>
                </a:solidFill>
                <a:latin typeface="Courier New" pitchFamily="34" charset="0"/>
                <a:ea typeface="Courier New" pitchFamily="34" charset="-122"/>
                <a:cs typeface="Courier New" pitchFamily="34" charset="-120"/>
              </a:rPr>
              <a:t>db/connection.py</a:t>
            </a:r>
            <a:endParaRPr lang="en-US" sz="1050" dirty="0"/>
          </a:p>
        </p:txBody>
      </p:sp>
      <p:sp>
        <p:nvSpPr>
          <p:cNvPr id="39" name="Text 37"/>
          <p:cNvSpPr txBox="1"/>
          <p:nvPr/>
        </p:nvSpPr>
        <p:spPr>
          <a:xfrm>
            <a:off x="9308592" y="3246120"/>
            <a:ext cx="2286000" cy="914400"/>
          </a:xfrm>
          <a:prstGeom prst="rect">
            <a:avLst/>
          </a:prstGeom>
          <a:noFill/>
          <a:ln/>
        </p:spPr>
        <p:txBody>
          <a:bodyPr wrap="square" lIns="0" tIns="0" rIns="0" bIns="0" rtlCol="0" anchor="t"/>
          <a:lstStyle/>
          <a:p>
            <a:pPr indent="0" marL="0">
              <a:buNone/>
            </a:pPr>
            <a:r>
              <a:rPr lang="en-US" sz="950" dirty="0">
                <a:solidFill>
                  <a:srgbClr val="4B6B68"/>
                </a:solidFill>
                <a:latin typeface="Calibri" pitchFamily="34" charset="0"/>
                <a:ea typeface="Calibri" pitchFamily="34" charset="-122"/>
                <a:cs typeface="Calibri" pitchFamily="34" charset="-120"/>
              </a:rPr>
              <a:t>The only place a driver is imported or vendor-specific SQL is written. Everything above it is dialect-agnostic.</a:t>
            </a:r>
            <a:endParaRPr lang="en-US" sz="950" dirty="0"/>
          </a:p>
        </p:txBody>
      </p:sp>
      <p:sp>
        <p:nvSpPr>
          <p:cNvPr id="40" name="Shape 38"/>
          <p:cNvSpPr/>
          <p:nvPr/>
        </p:nvSpPr>
        <p:spPr>
          <a:xfrm>
            <a:off x="2084832" y="2194560"/>
            <a:ext cx="274320" cy="0"/>
          </a:xfrm>
          <a:prstGeom prst="line">
            <a:avLst/>
          </a:prstGeom>
          <a:noFill/>
          <a:ln w="22225">
            <a:solidFill>
              <a:srgbClr val="028090"/>
            </a:solidFill>
            <a:prstDash val="solid"/>
            <a:tailEnd type="triangle"/>
          </a:ln>
        </p:spPr>
      </p:sp>
      <p:sp>
        <p:nvSpPr>
          <p:cNvPr id="41" name="Shape 39"/>
          <p:cNvSpPr/>
          <p:nvPr/>
        </p:nvSpPr>
        <p:spPr>
          <a:xfrm>
            <a:off x="6254496" y="2194560"/>
            <a:ext cx="274320" cy="0"/>
          </a:xfrm>
          <a:prstGeom prst="line">
            <a:avLst/>
          </a:prstGeom>
          <a:noFill/>
          <a:ln w="22225">
            <a:solidFill>
              <a:srgbClr val="028090"/>
            </a:solidFill>
            <a:prstDash val="solid"/>
            <a:tailEnd type="triangle"/>
          </a:ln>
        </p:spPr>
      </p:sp>
      <p:sp>
        <p:nvSpPr>
          <p:cNvPr id="42" name="Shape 40"/>
          <p:cNvSpPr/>
          <p:nvPr/>
        </p:nvSpPr>
        <p:spPr>
          <a:xfrm>
            <a:off x="8869680" y="2194560"/>
            <a:ext cx="274320" cy="0"/>
          </a:xfrm>
          <a:prstGeom prst="line">
            <a:avLst/>
          </a:prstGeom>
          <a:noFill/>
          <a:ln w="22225">
            <a:solidFill>
              <a:srgbClr val="028090"/>
            </a:solidFill>
            <a:prstDash val="solid"/>
            <a:tailEnd type="triangle"/>
          </a:ln>
        </p:spPr>
      </p:sp>
      <p:sp>
        <p:nvSpPr>
          <p:cNvPr id="43" name="Shape 41"/>
          <p:cNvSpPr/>
          <p:nvPr/>
        </p:nvSpPr>
        <p:spPr>
          <a:xfrm>
            <a:off x="4306824" y="4663440"/>
            <a:ext cx="0" cy="292608"/>
          </a:xfrm>
          <a:prstGeom prst="line">
            <a:avLst/>
          </a:prstGeom>
          <a:noFill/>
          <a:ln w="16510">
            <a:solidFill>
              <a:srgbClr val="9FB3B1"/>
            </a:solidFill>
            <a:prstDash val="dash"/>
          </a:ln>
        </p:spPr>
      </p:sp>
      <p:sp>
        <p:nvSpPr>
          <p:cNvPr id="44" name="Shape 42"/>
          <p:cNvSpPr/>
          <p:nvPr/>
        </p:nvSpPr>
        <p:spPr>
          <a:xfrm>
            <a:off x="4306824" y="4956048"/>
            <a:ext cx="6144768" cy="0"/>
          </a:xfrm>
          <a:prstGeom prst="line">
            <a:avLst/>
          </a:prstGeom>
          <a:noFill/>
          <a:ln w="16510">
            <a:solidFill>
              <a:srgbClr val="9FB3B1"/>
            </a:solidFill>
            <a:prstDash val="dash"/>
          </a:ln>
        </p:spPr>
      </p:sp>
      <p:sp>
        <p:nvSpPr>
          <p:cNvPr id="45" name="Shape 43"/>
          <p:cNvSpPr/>
          <p:nvPr/>
        </p:nvSpPr>
        <p:spPr>
          <a:xfrm>
            <a:off x="10451592" y="4700016"/>
            <a:ext cx="0" cy="256032"/>
          </a:xfrm>
          <a:prstGeom prst="line">
            <a:avLst/>
          </a:prstGeom>
          <a:noFill/>
          <a:ln w="16510">
            <a:solidFill>
              <a:srgbClr val="9FB3B1"/>
            </a:solidFill>
            <a:prstDash val="dash"/>
            <a:headEnd type="triangle"/>
          </a:ln>
        </p:spPr>
      </p:sp>
      <p:sp>
        <p:nvSpPr>
          <p:cNvPr id="46" name="Text 44"/>
          <p:cNvSpPr txBox="1"/>
          <p:nvPr/>
        </p:nvSpPr>
        <p:spPr>
          <a:xfrm>
            <a:off x="3657600" y="4992624"/>
            <a:ext cx="7498080" cy="237744"/>
          </a:xfrm>
          <a:prstGeom prst="rect">
            <a:avLst/>
          </a:prstGeom>
          <a:noFill/>
          <a:ln/>
        </p:spPr>
        <p:txBody>
          <a:bodyPr wrap="square" lIns="0" tIns="0" rIns="0" bIns="0" rtlCol="0" anchor="ctr"/>
          <a:lstStyle/>
          <a:p>
            <a:pPr algn="ctr" indent="0" marL="0">
              <a:buNone/>
            </a:pPr>
            <a:r>
              <a:rPr lang="en-US" sz="950" i="1" dirty="0">
                <a:solidFill>
                  <a:srgbClr val="4B6B68"/>
                </a:solidFill>
                <a:latin typeface="Calibri" pitchFamily="34" charset="0"/>
                <a:ea typeface="Calibri" pitchFamily="34" charset="-122"/>
                <a:cs typeface="Calibri" pitchFamily="34" charset="-120"/>
              </a:rPr>
              <a:t>templates.py and sql_guard.py reach the dialect module directly — they build and check vendor-correct SQL</a:t>
            </a:r>
            <a:endParaRPr lang="en-US" sz="950" dirty="0"/>
          </a:p>
        </p:txBody>
      </p:sp>
      <p:sp>
        <p:nvSpPr>
          <p:cNvPr id="47" name="Shape 45"/>
          <p:cNvSpPr/>
          <p:nvPr/>
        </p:nvSpPr>
        <p:spPr>
          <a:xfrm>
            <a:off x="548640" y="5468112"/>
            <a:ext cx="11137392" cy="914400"/>
          </a:xfrm>
          <a:prstGeom prst="roundRect">
            <a:avLst>
              <a:gd name="adj" fmla="val 10000"/>
            </a:avLst>
          </a:prstGeom>
          <a:solidFill>
            <a:srgbClr val="EDF6F4"/>
          </a:solidFill>
          <a:ln w="12700">
            <a:solidFill>
              <a:srgbClr val="C2DED9"/>
            </a:solidFill>
            <a:prstDash val="solid"/>
          </a:ln>
          <a:effectLst>
            <a:outerShdw sx="100000" sy="100000" kx="0" ky="0" algn="bl" rotWithShape="0" blurRad="127000" dist="25400" dir="5400000">
              <a:srgbClr val="0E2E2C">
                <a:alpha val="8000"/>
              </a:srgbClr>
            </a:outerShdw>
          </a:effectLst>
        </p:spPr>
      </p:sp>
      <p:sp>
        <p:nvSpPr>
          <p:cNvPr id="48" name="Text 46"/>
          <p:cNvSpPr txBox="1"/>
          <p:nvPr/>
        </p:nvSpPr>
        <p:spPr>
          <a:xfrm>
            <a:off x="822960" y="5541264"/>
            <a:ext cx="10607040" cy="768096"/>
          </a:xfrm>
          <a:prstGeom prst="rect">
            <a:avLst/>
          </a:prstGeom>
          <a:noFill/>
          <a:ln/>
        </p:spPr>
        <p:txBody>
          <a:bodyPr wrap="square" lIns="0" tIns="0" rIns="0" bIns="0" rtlCol="0" anchor="ctr"/>
          <a:lstStyle/>
          <a:p>
            <a:pPr indent="0" marL="0">
              <a:buNone/>
            </a:pPr>
            <a:r>
              <a:rPr lang="en-US" sz="1350" dirty="0">
                <a:solidFill>
                  <a:srgbClr val="4B6B68"/>
                </a:solidFill>
                <a:latin typeface="Calibri" pitchFamily="34" charset="0"/>
                <a:ea typeface="Calibri" pitchFamily="34" charset="-122"/>
                <a:cs typeface="Calibri" pitchFamily="34" charset="-120"/>
              </a:rPr>
              <a:t>Only </a:t>
            </a:r>
            <a:pPr indent="0" marL="0">
              <a:buNone/>
            </a:pPr>
            <a:r>
              <a:rPr lang="en-US" sz="1350" b="1" dirty="0">
                <a:solidFill>
                  <a:srgbClr val="028090"/>
                </a:solidFill>
                <a:latin typeface="Courier New" pitchFamily="34" charset="0"/>
                <a:ea typeface="Courier New" pitchFamily="34" charset="-122"/>
                <a:cs typeface="Courier New" pitchFamily="34" charset="-120"/>
              </a:rPr>
              <a:t>db/</a:t>
            </a:r>
            <a:pPr indent="0" marL="0">
              <a:buNone/>
            </a:pPr>
            <a:r>
              <a:rPr lang="en-US" sz="1350" dirty="0">
                <a:solidFill>
                  <a:srgbClr val="4B6B68"/>
                </a:solidFill>
                <a:latin typeface="Calibri" pitchFamily="34" charset="0"/>
                <a:ea typeface="Calibri" pitchFamily="34" charset="-122"/>
                <a:cs typeface="Calibri" pitchFamily="34" charset="-120"/>
              </a:rPr>
              <a:t> imports a driver or writes vendor SQL — which is what turns the SQL Server migration into a one-module change.</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10896"/>
            <a:ext cx="10058400" cy="219456"/>
          </a:xfrm>
          <a:prstGeom prst="rect">
            <a:avLst/>
          </a:prstGeom>
          <a:noFill/>
          <a:ln/>
        </p:spPr>
        <p:txBody>
          <a:bodyPr wrap="square" lIns="0" tIns="0" rIns="0" bIns="0" rtlCol="0" anchor="ctr"/>
          <a:lstStyle/>
          <a:p>
            <a:pPr indent="0" marL="0">
              <a:buNone/>
            </a:pPr>
            <a:r>
              <a:rPr lang="en-US" sz="1050" b="1" spc="200" kern="0" dirty="0">
                <a:solidFill>
                  <a:srgbClr val="028090"/>
                </a:solidFill>
                <a:latin typeface="Calibri" pitchFamily="34" charset="0"/>
                <a:ea typeface="Calibri" pitchFamily="34" charset="-122"/>
                <a:cs typeface="Calibri" pitchFamily="34" charset="-120"/>
              </a:rPr>
              <a:t>PORTABILITY</a:t>
            </a:r>
            <a:endParaRPr lang="en-US" sz="1050" dirty="0"/>
          </a:p>
        </p:txBody>
      </p:sp>
      <p:sp>
        <p:nvSpPr>
          <p:cNvPr id="3" name="Text 1"/>
          <p:cNvSpPr txBox="1"/>
          <p:nvPr/>
        </p:nvSpPr>
        <p:spPr>
          <a:xfrm>
            <a:off x="548640" y="566928"/>
            <a:ext cx="11064240" cy="566928"/>
          </a:xfrm>
          <a:prstGeom prst="rect">
            <a:avLst/>
          </a:prstGeom>
          <a:noFill/>
          <a:ln/>
        </p:spPr>
        <p:txBody>
          <a:bodyPr wrap="square" lIns="0" tIns="0" rIns="0" bIns="0" rtlCol="0" anchor="t"/>
          <a:lstStyle/>
          <a:p>
            <a:pPr indent="0" marL="0">
              <a:buNone/>
            </a:pPr>
            <a:r>
              <a:rPr lang="en-US" sz="3000" b="1" dirty="0">
                <a:solidFill>
                  <a:srgbClr val="0E2E2C"/>
                </a:solidFill>
                <a:latin typeface="Cambria" pitchFamily="34" charset="0"/>
                <a:ea typeface="Cambria" pitchFamily="34" charset="-122"/>
                <a:cs typeface="Cambria" pitchFamily="34" charset="-120"/>
              </a:rPr>
              <a:t>PostgreSQL today, SQL Server in production</a:t>
            </a:r>
            <a:endParaRPr lang="en-US" sz="3000" dirty="0"/>
          </a:p>
        </p:txBody>
      </p:sp>
      <p:sp>
        <p:nvSpPr>
          <p:cNvPr id="4" name="Shape 2"/>
          <p:cNvSpPr/>
          <p:nvPr/>
        </p:nvSpPr>
        <p:spPr>
          <a:xfrm>
            <a:off x="548640" y="1572768"/>
            <a:ext cx="3246120" cy="1371600"/>
          </a:xfrm>
          <a:prstGeom prst="roundRect">
            <a:avLst>
              <a:gd name="adj" fmla="val 6667"/>
            </a:avLst>
          </a:prstGeom>
          <a:solidFill>
            <a:srgbClr val="FFFFFF"/>
          </a:solidFill>
          <a:ln w="12700">
            <a:solidFill>
              <a:srgbClr val="C2DED9"/>
            </a:solidFill>
            <a:prstDash val="solid"/>
          </a:ln>
          <a:effectLst>
            <a:outerShdw sx="100000" sy="100000" kx="0" ky="0" algn="bl" rotWithShape="0" blurRad="127000" dist="25400" dir="5400000">
              <a:srgbClr val="0E2E2C">
                <a:alpha val="8000"/>
              </a:srgbClr>
            </a:outerShdw>
          </a:effectLst>
        </p:spPr>
      </p:sp>
      <p:sp>
        <p:nvSpPr>
          <p:cNvPr id="5" name="Text 3"/>
          <p:cNvSpPr txBox="1"/>
          <p:nvPr/>
        </p:nvSpPr>
        <p:spPr>
          <a:xfrm>
            <a:off x="804672" y="1755648"/>
            <a:ext cx="2743200" cy="219456"/>
          </a:xfrm>
          <a:prstGeom prst="rect">
            <a:avLst/>
          </a:prstGeom>
          <a:noFill/>
          <a:ln/>
        </p:spPr>
        <p:txBody>
          <a:bodyPr wrap="square" lIns="0" tIns="0" rIns="0" bIns="0" rtlCol="0" anchor="ctr"/>
          <a:lstStyle/>
          <a:p>
            <a:pPr indent="0" marL="0">
              <a:buNone/>
            </a:pPr>
            <a:r>
              <a:rPr lang="en-US" sz="1100" dirty="0">
                <a:solidFill>
                  <a:srgbClr val="4B6B68"/>
                </a:solidFill>
                <a:latin typeface="Calibri" pitchFamily="34" charset="0"/>
                <a:ea typeface="Calibri" pitchFamily="34" charset="-122"/>
                <a:cs typeface="Calibri" pitchFamily="34" charset="-120"/>
              </a:rPr>
              <a:t>The POC runs on</a:t>
            </a:r>
            <a:endParaRPr lang="en-US" sz="1100" dirty="0"/>
          </a:p>
        </p:txBody>
      </p:sp>
      <p:sp>
        <p:nvSpPr>
          <p:cNvPr id="6" name="Text 4"/>
          <p:cNvSpPr txBox="1"/>
          <p:nvPr/>
        </p:nvSpPr>
        <p:spPr>
          <a:xfrm>
            <a:off x="804672" y="2011680"/>
            <a:ext cx="2743200" cy="384048"/>
          </a:xfrm>
          <a:prstGeom prst="rect">
            <a:avLst/>
          </a:prstGeom>
          <a:noFill/>
          <a:ln/>
        </p:spPr>
        <p:txBody>
          <a:bodyPr wrap="square" lIns="0" tIns="0" rIns="0" bIns="0" rtlCol="0" anchor="ctr"/>
          <a:lstStyle/>
          <a:p>
            <a:pPr indent="0" marL="0">
              <a:buNone/>
            </a:pPr>
            <a:r>
              <a:rPr lang="en-US" sz="2400" b="1" dirty="0">
                <a:solidFill>
                  <a:srgbClr val="0E2E2C"/>
                </a:solidFill>
                <a:latin typeface="Cambria" pitchFamily="34" charset="0"/>
                <a:ea typeface="Cambria" pitchFamily="34" charset="-122"/>
                <a:cs typeface="Cambria" pitchFamily="34" charset="-120"/>
              </a:rPr>
              <a:t>PostgreSQL</a:t>
            </a:r>
            <a:endParaRPr lang="en-US" sz="2400" dirty="0"/>
          </a:p>
        </p:txBody>
      </p:sp>
      <p:sp>
        <p:nvSpPr>
          <p:cNvPr id="7" name="Text 5"/>
          <p:cNvSpPr txBox="1"/>
          <p:nvPr/>
        </p:nvSpPr>
        <p:spPr>
          <a:xfrm>
            <a:off x="804672" y="2432304"/>
            <a:ext cx="2743200" cy="274320"/>
          </a:xfrm>
          <a:prstGeom prst="rect">
            <a:avLst/>
          </a:prstGeom>
          <a:noFill/>
          <a:ln/>
        </p:spPr>
        <p:txBody>
          <a:bodyPr wrap="square" lIns="0" tIns="0" rIns="0" bIns="0" rtlCol="0" anchor="ctr"/>
          <a:lstStyle/>
          <a:p>
            <a:pPr indent="0" marL="0">
              <a:buNone/>
            </a:pPr>
            <a:r>
              <a:rPr lang="en-US" sz="1050" dirty="0">
                <a:solidFill>
                  <a:srgbClr val="4B6B68"/>
                </a:solidFill>
                <a:latin typeface="Calibri" pitchFamily="34" charset="0"/>
                <a:ea typeface="Calibri" pitchFamily="34" charset="-122"/>
                <a:cs typeface="Calibri" pitchFamily="34" charset="-120"/>
              </a:rPr>
              <a:t>in a container, alongside the app</a:t>
            </a:r>
            <a:endParaRPr lang="en-US" sz="1050" dirty="0"/>
          </a:p>
        </p:txBody>
      </p:sp>
      <p:sp>
        <p:nvSpPr>
          <p:cNvPr id="8" name="Shape 6"/>
          <p:cNvSpPr/>
          <p:nvPr/>
        </p:nvSpPr>
        <p:spPr>
          <a:xfrm>
            <a:off x="3886200" y="2258568"/>
            <a:ext cx="594360" cy="0"/>
          </a:xfrm>
          <a:prstGeom prst="line">
            <a:avLst/>
          </a:prstGeom>
          <a:noFill/>
          <a:ln w="25400">
            <a:solidFill>
              <a:srgbClr val="028090"/>
            </a:solidFill>
            <a:prstDash val="solid"/>
            <a:tailEnd type="triangle"/>
          </a:ln>
        </p:spPr>
      </p:sp>
      <p:sp>
        <p:nvSpPr>
          <p:cNvPr id="9" name="Shape 7"/>
          <p:cNvSpPr/>
          <p:nvPr/>
        </p:nvSpPr>
        <p:spPr>
          <a:xfrm>
            <a:off x="4572000" y="1572768"/>
            <a:ext cx="3246120" cy="1371600"/>
          </a:xfrm>
          <a:prstGeom prst="roundRect">
            <a:avLst>
              <a:gd name="adj" fmla="val 6667"/>
            </a:avLst>
          </a:prstGeom>
          <a:solidFill>
            <a:srgbClr val="028090"/>
          </a:solidFill>
          <a:ln w="12700">
            <a:solidFill>
              <a:srgbClr val="028090"/>
            </a:solidFill>
            <a:prstDash val="solid"/>
          </a:ln>
          <a:effectLst>
            <a:outerShdw sx="100000" sy="100000" kx="0" ky="0" algn="bl" rotWithShape="0" blurRad="127000" dist="25400" dir="5400000">
              <a:srgbClr val="0E2E2C">
                <a:alpha val="8000"/>
              </a:srgbClr>
            </a:outerShdw>
          </a:effectLst>
        </p:spPr>
      </p:sp>
      <p:sp>
        <p:nvSpPr>
          <p:cNvPr id="10" name="Text 8"/>
          <p:cNvSpPr txBox="1"/>
          <p:nvPr/>
        </p:nvSpPr>
        <p:spPr>
          <a:xfrm>
            <a:off x="4828032" y="1755648"/>
            <a:ext cx="2743200" cy="219456"/>
          </a:xfrm>
          <a:prstGeom prst="rect">
            <a:avLst/>
          </a:prstGeom>
          <a:noFill/>
          <a:ln/>
        </p:spPr>
        <p:txBody>
          <a:bodyPr wrap="square" lIns="0" tIns="0" rIns="0" bIns="0" rtlCol="0" anchor="ctr"/>
          <a:lstStyle/>
          <a:p>
            <a:pPr indent="0" marL="0">
              <a:buNone/>
            </a:pPr>
            <a:r>
              <a:rPr lang="en-US" sz="1100" dirty="0">
                <a:solidFill>
                  <a:srgbClr val="CFEBE6"/>
                </a:solidFill>
                <a:latin typeface="Calibri" pitchFamily="34" charset="0"/>
                <a:ea typeface="Calibri" pitchFamily="34" charset="-122"/>
                <a:cs typeface="Calibri" pitchFamily="34" charset="-120"/>
              </a:rPr>
              <a:t>The client runs</a:t>
            </a:r>
            <a:endParaRPr lang="en-US" sz="1100" dirty="0"/>
          </a:p>
        </p:txBody>
      </p:sp>
      <p:sp>
        <p:nvSpPr>
          <p:cNvPr id="11" name="Text 9"/>
          <p:cNvSpPr txBox="1"/>
          <p:nvPr/>
        </p:nvSpPr>
        <p:spPr>
          <a:xfrm>
            <a:off x="4828032" y="2011680"/>
            <a:ext cx="2743200" cy="384048"/>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SQL Server</a:t>
            </a:r>
            <a:endParaRPr lang="en-US" sz="2400" dirty="0"/>
          </a:p>
        </p:txBody>
      </p:sp>
      <p:sp>
        <p:nvSpPr>
          <p:cNvPr id="12" name="Text 10"/>
          <p:cNvSpPr txBox="1"/>
          <p:nvPr/>
        </p:nvSpPr>
        <p:spPr>
          <a:xfrm>
            <a:off x="4828032" y="2432304"/>
            <a:ext cx="2743200" cy="274320"/>
          </a:xfrm>
          <a:prstGeom prst="rect">
            <a:avLst/>
          </a:prstGeom>
          <a:noFill/>
          <a:ln/>
        </p:spPr>
        <p:txBody>
          <a:bodyPr wrap="square" lIns="0" tIns="0" rIns="0" bIns="0" rtlCol="0" anchor="ctr"/>
          <a:lstStyle/>
          <a:p>
            <a:pPr indent="0" marL="0">
              <a:buNone/>
            </a:pPr>
            <a:r>
              <a:rPr lang="en-US" sz="1050" dirty="0">
                <a:solidFill>
                  <a:srgbClr val="CFEBE6"/>
                </a:solidFill>
                <a:latin typeface="Calibri" pitchFamily="34" charset="0"/>
                <a:ea typeface="Calibri" pitchFamily="34" charset="-122"/>
                <a:cs typeface="Calibri" pitchFamily="34" charset="-120"/>
              </a:rPr>
              <a:t>the production target</a:t>
            </a:r>
            <a:endParaRPr lang="en-US" sz="1050" dirty="0"/>
          </a:p>
        </p:txBody>
      </p:sp>
      <p:sp>
        <p:nvSpPr>
          <p:cNvPr id="13" name="Shape 11"/>
          <p:cNvSpPr/>
          <p:nvPr/>
        </p:nvSpPr>
        <p:spPr>
          <a:xfrm>
            <a:off x="8275320" y="1572768"/>
            <a:ext cx="3410712" cy="1371600"/>
          </a:xfrm>
          <a:prstGeom prst="roundRect">
            <a:avLst>
              <a:gd name="adj" fmla="val 6667"/>
            </a:avLst>
          </a:prstGeom>
          <a:solidFill>
            <a:srgbClr val="DCEEEA"/>
          </a:solidFill>
          <a:ln w="12700">
            <a:solidFill>
              <a:srgbClr val="00A896"/>
            </a:solidFill>
            <a:prstDash val="solid"/>
          </a:ln>
          <a:effectLst>
            <a:outerShdw sx="100000" sy="100000" kx="0" ky="0" algn="bl" rotWithShape="0" blurRad="127000" dist="25400" dir="5400000">
              <a:srgbClr val="0E2E2C">
                <a:alpha val="8000"/>
              </a:srgbClr>
            </a:outerShdw>
          </a:effectLst>
        </p:spPr>
      </p:sp>
      <p:sp>
        <p:nvSpPr>
          <p:cNvPr id="14" name="Text 12"/>
          <p:cNvSpPr txBox="1"/>
          <p:nvPr/>
        </p:nvSpPr>
        <p:spPr>
          <a:xfrm>
            <a:off x="8531352" y="1737360"/>
            <a:ext cx="2926080" cy="640080"/>
          </a:xfrm>
          <a:prstGeom prst="rect">
            <a:avLst/>
          </a:prstGeom>
          <a:noFill/>
          <a:ln/>
        </p:spPr>
        <p:txBody>
          <a:bodyPr wrap="square" lIns="0" tIns="0" rIns="0" bIns="0" rtlCol="0" anchor="ctr"/>
          <a:lstStyle/>
          <a:p>
            <a:pPr indent="0" marL="0">
              <a:buNone/>
            </a:pPr>
            <a:r>
              <a:rPr lang="en-US" sz="4000" b="1" dirty="0">
                <a:solidFill>
                  <a:srgbClr val="028090"/>
                </a:solidFill>
                <a:latin typeface="Cambria" pitchFamily="34" charset="0"/>
                <a:ea typeface="Cambria" pitchFamily="34" charset="-122"/>
                <a:cs typeface="Cambria" pitchFamily="34" charset="-120"/>
              </a:rPr>
              <a:t>1</a:t>
            </a:r>
            <a:pPr indent="0" marL="0">
              <a:buNone/>
            </a:pPr>
            <a:r>
              <a:rPr lang="en-US" sz="1400" b="1" dirty="0">
                <a:solidFill>
                  <a:srgbClr val="028090"/>
                </a:solidFill>
                <a:latin typeface="Calibri" pitchFamily="34" charset="0"/>
                <a:ea typeface="Calibri" pitchFamily="34" charset="-122"/>
                <a:cs typeface="Calibri" pitchFamily="34" charset="-120"/>
              </a:rPr>
              <a:t>  module to change</a:t>
            </a:r>
            <a:endParaRPr lang="en-US" sz="4000" dirty="0"/>
          </a:p>
        </p:txBody>
      </p:sp>
      <p:sp>
        <p:nvSpPr>
          <p:cNvPr id="15" name="Text 13"/>
          <p:cNvSpPr txBox="1"/>
          <p:nvPr/>
        </p:nvSpPr>
        <p:spPr>
          <a:xfrm>
            <a:off x="8531352" y="2395728"/>
            <a:ext cx="2926080" cy="402336"/>
          </a:xfrm>
          <a:prstGeom prst="rect">
            <a:avLst/>
          </a:prstGeom>
          <a:noFill/>
          <a:ln/>
        </p:spPr>
        <p:txBody>
          <a:bodyPr wrap="square" lIns="0" tIns="0" rIns="0" bIns="0" rtlCol="0" anchor="ctr"/>
          <a:lstStyle/>
          <a:p>
            <a:pPr indent="0" marL="0">
              <a:buNone/>
            </a:pPr>
            <a:r>
              <a:rPr lang="en-US" sz="1050" dirty="0">
                <a:solidFill>
                  <a:srgbClr val="4B6B68"/>
                </a:solidFill>
                <a:latin typeface="Calibri" pitchFamily="34" charset="0"/>
                <a:ea typeface="Calibri" pitchFamily="34" charset="-122"/>
                <a:cs typeface="Calibri" pitchFamily="34" charset="-120"/>
              </a:rPr>
              <a:t>Every vendor-specific concern already sits behind db/.</a:t>
            </a:r>
            <a:endParaRPr lang="en-US" sz="1050" dirty="0"/>
          </a:p>
        </p:txBody>
      </p:sp>
      <p:sp>
        <p:nvSpPr>
          <p:cNvPr id="16" name="Shape 14"/>
          <p:cNvSpPr/>
          <p:nvPr/>
        </p:nvSpPr>
        <p:spPr>
          <a:xfrm>
            <a:off x="548640" y="3200400"/>
            <a:ext cx="5486400" cy="2395728"/>
          </a:xfrm>
          <a:prstGeom prst="roundRect">
            <a:avLst>
              <a:gd name="adj" fmla="val 3817"/>
            </a:avLst>
          </a:prstGeom>
          <a:solidFill>
            <a:srgbClr val="FFFFFF"/>
          </a:solidFill>
          <a:ln w="12700">
            <a:solidFill>
              <a:srgbClr val="C2DED9"/>
            </a:solidFill>
            <a:prstDash val="solid"/>
          </a:ln>
          <a:effectLst>
            <a:outerShdw sx="100000" sy="100000" kx="0" ky="0" algn="bl" rotWithShape="0" blurRad="127000" dist="25400" dir="5400000">
              <a:srgbClr val="0E2E2C">
                <a:alpha val="8000"/>
              </a:srgbClr>
            </a:outerShdw>
          </a:effectLst>
        </p:spPr>
      </p:sp>
      <p:sp>
        <p:nvSpPr>
          <p:cNvPr id="17" name="Text 15"/>
          <p:cNvSpPr/>
          <p:nvPr/>
        </p:nvSpPr>
        <p:spPr>
          <a:xfrm>
            <a:off x="841248" y="3419856"/>
            <a:ext cx="402336" cy="402336"/>
          </a:xfrm>
          <a:prstGeom prst="ellipse">
            <a:avLst/>
          </a:prstGeom>
          <a:solidFill>
            <a:srgbClr val="028090"/>
          </a:solidFill>
          <a:ln>
            <a:solidFill>
              <a:srgbClr val="028090"/>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8" name="Text 16"/>
          <p:cNvSpPr txBox="1"/>
          <p:nvPr/>
        </p:nvSpPr>
        <p:spPr>
          <a:xfrm>
            <a:off x="1371600" y="3438144"/>
            <a:ext cx="4389120" cy="310896"/>
          </a:xfrm>
          <a:prstGeom prst="rect">
            <a:avLst/>
          </a:prstGeom>
          <a:noFill/>
          <a:ln/>
        </p:spPr>
        <p:txBody>
          <a:bodyPr wrap="square" lIns="0" tIns="0" rIns="0" bIns="0" rtlCol="0" anchor="ctr"/>
          <a:lstStyle/>
          <a:p>
            <a:pPr indent="0" marL="0">
              <a:buNone/>
            </a:pPr>
            <a:r>
              <a:rPr lang="en-US" sz="1700" b="1" dirty="0">
                <a:solidFill>
                  <a:srgbClr val="0E2E2C"/>
                </a:solidFill>
                <a:latin typeface="Cambria" pitchFamily="34" charset="0"/>
                <a:ea typeface="Cambria" pitchFamily="34" charset="-122"/>
                <a:cs typeface="Cambria" pitchFamily="34" charset="-120"/>
              </a:rPr>
              <a:t>What changes</a:t>
            </a:r>
            <a:endParaRPr lang="en-US" sz="1700" dirty="0"/>
          </a:p>
        </p:txBody>
      </p:sp>
      <p:sp>
        <p:nvSpPr>
          <p:cNvPr id="19" name="Text 17"/>
          <p:cNvSpPr txBox="1"/>
          <p:nvPr/>
        </p:nvSpPr>
        <p:spPr>
          <a:xfrm>
            <a:off x="969264" y="3858768"/>
            <a:ext cx="4754880" cy="160020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4B6B68"/>
                </a:solidFill>
                <a:latin typeface="Calibri" pitchFamily="34" charset="0"/>
                <a:ea typeface="Calibri" pitchFamily="34" charset="-122"/>
                <a:cs typeface="Calibri" pitchFamily="34" charset="-120"/>
              </a:rPr>
              <a:t>the parameter marker — %s becomes ?</a:t>
            </a:r>
            <a:endParaRPr lang="en-US" sz="1200" dirty="0"/>
          </a:p>
          <a:p>
            <a:pPr marL="177800" indent="-177800">
              <a:spcAft>
                <a:spcPts val="600"/>
              </a:spcAft>
              <a:buSzPct val="100000"/>
              <a:buChar char="•"/>
            </a:pPr>
            <a:r>
              <a:rPr lang="en-US" sz="1200" dirty="0">
                <a:solidFill>
                  <a:srgbClr val="4B6B68"/>
                </a:solidFill>
                <a:latin typeface="Calibri" pitchFamily="34" charset="0"/>
                <a:ea typeface="Calibri" pitchFamily="34" charset="-122"/>
                <a:cs typeface="Calibri" pitchFamily="34" charset="-120"/>
              </a:rPr>
              <a:t>identifier quoting and date handling</a:t>
            </a:r>
            <a:endParaRPr lang="en-US" sz="1200" dirty="0"/>
          </a:p>
          <a:p>
            <a:pPr marL="177800" indent="-177800">
              <a:spcAft>
                <a:spcPts val="600"/>
              </a:spcAft>
              <a:buSzPct val="100000"/>
              <a:buChar char="•"/>
            </a:pPr>
            <a:r>
              <a:rPr lang="en-US" sz="1200" dirty="0">
                <a:solidFill>
                  <a:srgbClr val="4B6B68"/>
                </a:solidFill>
                <a:latin typeface="Calibri" pitchFamily="34" charset="0"/>
                <a:ea typeface="Calibri" pitchFamily="34" charset="-122"/>
                <a:cs typeface="Calibri" pitchFamily="34" charset="-120"/>
              </a:rPr>
              <a:t>row limiting — LIMIT becomes TOP</a:t>
            </a:r>
            <a:endParaRPr lang="en-US" sz="1200" dirty="0"/>
          </a:p>
          <a:p>
            <a:pPr marL="177800" indent="-177800">
              <a:spcAft>
                <a:spcPts val="600"/>
              </a:spcAft>
              <a:buSzPct val="100000"/>
              <a:buChar char="•"/>
            </a:pPr>
            <a:r>
              <a:rPr lang="en-US" sz="1200" dirty="0">
                <a:solidFill>
                  <a:srgbClr val="4B6B68"/>
                </a:solidFill>
                <a:latin typeface="Calibri" pitchFamily="34" charset="0"/>
                <a:ea typeface="Calibri" pitchFamily="34" charset="-122"/>
                <a:cs typeface="Calibri" pitchFamily="34" charset="-120"/>
              </a:rPr>
              <a:t>the statement-timeout mechanism</a:t>
            </a:r>
            <a:endParaRPr lang="en-US" sz="1200" dirty="0"/>
          </a:p>
          <a:p>
            <a:pPr marL="177800" indent="-177800">
              <a:spcAft>
                <a:spcPts val="600"/>
              </a:spcAft>
              <a:buSzPct val="100000"/>
              <a:buChar char="•"/>
            </a:pPr>
            <a:r>
              <a:rPr lang="en-US" sz="1200" dirty="0">
                <a:solidFill>
                  <a:srgbClr val="4B6B68"/>
                </a:solidFill>
                <a:latin typeface="Calibri" pitchFamily="34" charset="0"/>
                <a:ea typeface="Calibri" pitchFamily="34" charset="-122"/>
                <a:cs typeface="Calibri" pitchFamily="34" charset="-120"/>
              </a:rPr>
              <a:t>the driver import and connection string</a:t>
            </a:r>
            <a:endParaRPr lang="en-US" sz="1200" dirty="0"/>
          </a:p>
        </p:txBody>
      </p:sp>
      <p:sp>
        <p:nvSpPr>
          <p:cNvPr id="20" name="Shape 18"/>
          <p:cNvSpPr/>
          <p:nvPr/>
        </p:nvSpPr>
        <p:spPr>
          <a:xfrm>
            <a:off x="6199632" y="3200400"/>
            <a:ext cx="5486400" cy="2395728"/>
          </a:xfrm>
          <a:prstGeom prst="roundRect">
            <a:avLst>
              <a:gd name="adj" fmla="val 3817"/>
            </a:avLst>
          </a:prstGeom>
          <a:solidFill>
            <a:srgbClr val="EDF6F4"/>
          </a:solidFill>
          <a:ln w="12700">
            <a:solidFill>
              <a:srgbClr val="C2DED9"/>
            </a:solidFill>
            <a:prstDash val="solid"/>
          </a:ln>
          <a:effectLst>
            <a:outerShdw sx="100000" sy="100000" kx="0" ky="0" algn="bl" rotWithShape="0" blurRad="127000" dist="25400" dir="5400000">
              <a:srgbClr val="0E2E2C">
                <a:alpha val="8000"/>
              </a:srgbClr>
            </a:outerShdw>
          </a:effectLst>
        </p:spPr>
      </p:sp>
      <p:sp>
        <p:nvSpPr>
          <p:cNvPr id="21" name="Text 19"/>
          <p:cNvSpPr/>
          <p:nvPr/>
        </p:nvSpPr>
        <p:spPr>
          <a:xfrm>
            <a:off x="6492240" y="3419856"/>
            <a:ext cx="402336" cy="402336"/>
          </a:xfrm>
          <a:prstGeom prst="ellipse">
            <a:avLst/>
          </a:prstGeom>
          <a:solidFill>
            <a:srgbClr val="00A896"/>
          </a:solidFill>
          <a:ln>
            <a:solidFill>
              <a:srgbClr val="00A89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22" name="Text 20"/>
          <p:cNvSpPr txBox="1"/>
          <p:nvPr/>
        </p:nvSpPr>
        <p:spPr>
          <a:xfrm>
            <a:off x="7022592" y="3438144"/>
            <a:ext cx="4389120" cy="310896"/>
          </a:xfrm>
          <a:prstGeom prst="rect">
            <a:avLst/>
          </a:prstGeom>
          <a:noFill/>
          <a:ln/>
        </p:spPr>
        <p:txBody>
          <a:bodyPr wrap="square" lIns="0" tIns="0" rIns="0" bIns="0" rtlCol="0" anchor="ctr"/>
          <a:lstStyle/>
          <a:p>
            <a:pPr indent="0" marL="0">
              <a:buNone/>
            </a:pPr>
            <a:r>
              <a:rPr lang="en-US" sz="1700" b="1" dirty="0">
                <a:solidFill>
                  <a:srgbClr val="0E2E2C"/>
                </a:solidFill>
                <a:latin typeface="Cambria" pitchFamily="34" charset="0"/>
                <a:ea typeface="Cambria" pitchFamily="34" charset="-122"/>
                <a:cs typeface="Cambria" pitchFamily="34" charset="-120"/>
              </a:rPr>
              <a:t>What does not</a:t>
            </a:r>
            <a:endParaRPr lang="en-US" sz="1700" dirty="0"/>
          </a:p>
        </p:txBody>
      </p:sp>
      <p:sp>
        <p:nvSpPr>
          <p:cNvPr id="23" name="Text 21"/>
          <p:cNvSpPr txBox="1"/>
          <p:nvPr/>
        </p:nvSpPr>
        <p:spPr>
          <a:xfrm>
            <a:off x="6620256" y="3858768"/>
            <a:ext cx="4754880" cy="160020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4B6B68"/>
                </a:solidFill>
                <a:latin typeface="Calibri" pitchFamily="34" charset="0"/>
                <a:ea typeface="Calibri" pitchFamily="34" charset="-122"/>
                <a:cs typeface="Calibri" pitchFamily="34" charset="-120"/>
              </a:rPr>
              <a:t>pipeline.py — the order of operations</a:t>
            </a:r>
            <a:endParaRPr lang="en-US" sz="1200" dirty="0"/>
          </a:p>
          <a:p>
            <a:pPr marL="177800" indent="-177800">
              <a:spcAft>
                <a:spcPts val="600"/>
              </a:spcAft>
              <a:buSzPct val="100000"/>
              <a:buChar char="•"/>
            </a:pPr>
            <a:r>
              <a:rPr lang="en-US" sz="1200" dirty="0">
                <a:solidFill>
                  <a:srgbClr val="4B6B68"/>
                </a:solidFill>
                <a:latin typeface="Calibri" pitchFamily="34" charset="0"/>
                <a:ea typeface="Calibri" pitchFamily="34" charset="-122"/>
                <a:cs typeface="Calibri" pitchFamily="34" charset="-120"/>
              </a:rPr>
              <a:t>templates.py — all eleven templates</a:t>
            </a:r>
            <a:endParaRPr lang="en-US" sz="1200" dirty="0"/>
          </a:p>
          <a:p>
            <a:pPr marL="177800" indent="-177800">
              <a:spcAft>
                <a:spcPts val="600"/>
              </a:spcAft>
              <a:buSzPct val="100000"/>
              <a:buChar char="•"/>
            </a:pPr>
            <a:r>
              <a:rPr lang="en-US" sz="1200" dirty="0">
                <a:solidFill>
                  <a:srgbClr val="4B6B68"/>
                </a:solidFill>
                <a:latin typeface="Calibri" pitchFamily="34" charset="0"/>
                <a:ea typeface="Calibri" pitchFamily="34" charset="-122"/>
                <a:cs typeface="Calibri" pitchFamily="34" charset="-120"/>
              </a:rPr>
              <a:t>sql_guard.py — the validation rules</a:t>
            </a:r>
            <a:endParaRPr lang="en-US" sz="1200" dirty="0"/>
          </a:p>
          <a:p>
            <a:pPr marL="177800" indent="-177800">
              <a:spcAft>
                <a:spcPts val="600"/>
              </a:spcAft>
              <a:buSzPct val="100000"/>
              <a:buChar char="•"/>
            </a:pPr>
            <a:r>
              <a:rPr lang="en-US" sz="1200" dirty="0">
                <a:solidFill>
                  <a:srgbClr val="4B6B68"/>
                </a:solidFill>
                <a:latin typeface="Calibri" pitchFamily="34" charset="0"/>
                <a:ea typeface="Calibri" pitchFamily="34" charset="-122"/>
                <a:cs typeface="Calibri" pitchFamily="34" charset="-120"/>
              </a:rPr>
              <a:t>semantic.py and schema.yaml</a:t>
            </a:r>
            <a:endParaRPr lang="en-US" sz="1200" dirty="0"/>
          </a:p>
          <a:p>
            <a:pPr marL="177800" indent="-177800">
              <a:spcAft>
                <a:spcPts val="600"/>
              </a:spcAft>
              <a:buSzPct val="100000"/>
              <a:buChar char="•"/>
            </a:pPr>
            <a:r>
              <a:rPr lang="en-US" sz="1200" dirty="0">
                <a:solidFill>
                  <a:srgbClr val="4B6B68"/>
                </a:solidFill>
                <a:latin typeface="Calibri" pitchFamily="34" charset="0"/>
                <a:ea typeface="Calibri" pitchFamily="34" charset="-122"/>
                <a:cs typeface="Calibri" pitchFamily="34" charset="-120"/>
              </a:rPr>
              <a:t>responder.py and the API contract</a:t>
            </a:r>
            <a:endParaRPr lang="en-US" sz="1200" dirty="0"/>
          </a:p>
        </p:txBody>
      </p:sp>
      <p:sp>
        <p:nvSpPr>
          <p:cNvPr id="24" name="Text 22"/>
          <p:cNvSpPr txBox="1"/>
          <p:nvPr/>
        </p:nvSpPr>
        <p:spPr>
          <a:xfrm>
            <a:off x="548640" y="6355080"/>
            <a:ext cx="11064240" cy="292608"/>
          </a:xfrm>
          <a:prstGeom prst="rect">
            <a:avLst/>
          </a:prstGeom>
          <a:noFill/>
          <a:ln/>
        </p:spPr>
        <p:txBody>
          <a:bodyPr wrap="square" lIns="0" tIns="0" rIns="0" bIns="0" rtlCol="0" anchor="ctr"/>
          <a:lstStyle/>
          <a:p>
            <a:pPr indent="0" marL="0">
              <a:buNone/>
            </a:pPr>
            <a:r>
              <a:rPr lang="en-US" sz="1050" i="1" dirty="0">
                <a:solidFill>
                  <a:srgbClr val="4B6B68"/>
                </a:solidFill>
                <a:latin typeface="Calibri" pitchFamily="34" charset="0"/>
                <a:ea typeface="Calibri" pitchFamily="34" charset="-122"/>
                <a:cs typeface="Calibri" pitchFamily="34" charset="-120"/>
              </a:rPr>
              <a:t>The templates are written once against the semantic layer and rendered through the dialect module — so porting them is a translation job, not a rewrite.</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62F35"/>
        </a:solidFill>
      </p:bgPr>
    </p:bg>
    <p:spTree>
      <p:nvGrpSpPr>
        <p:cNvPr id="1" name=""/>
        <p:cNvGrpSpPr/>
        <p:nvPr/>
      </p:nvGrpSpPr>
      <p:grpSpPr>
        <a:xfrm>
          <a:off x="0" y="0"/>
          <a:ext cx="0" cy="0"/>
          <a:chOff x="0" y="0"/>
          <a:chExt cx="0" cy="0"/>
        </a:xfrm>
      </p:grpSpPr>
      <p:sp>
        <p:nvSpPr>
          <p:cNvPr id="2" name="Shape 0"/>
          <p:cNvSpPr/>
          <p:nvPr/>
        </p:nvSpPr>
        <p:spPr>
          <a:xfrm>
            <a:off x="8732520" y="2880360"/>
            <a:ext cx="5120640" cy="5120640"/>
          </a:xfrm>
          <a:prstGeom prst="ellipse">
            <a:avLst/>
          </a:prstGeom>
          <a:ln w="19050">
            <a:solidFill>
              <a:srgbClr val="0B4750"/>
            </a:solidFill>
            <a:prstDash val="solid"/>
          </a:ln>
        </p:spPr>
      </p:sp>
      <p:sp>
        <p:nvSpPr>
          <p:cNvPr id="3" name="Shape 1"/>
          <p:cNvSpPr/>
          <p:nvPr/>
        </p:nvSpPr>
        <p:spPr>
          <a:xfrm>
            <a:off x="9829800" y="3977640"/>
            <a:ext cx="2926080" cy="2926080"/>
          </a:xfrm>
          <a:prstGeom prst="ellipse">
            <a:avLst/>
          </a:prstGeom>
          <a:ln w="19050">
            <a:solidFill>
              <a:srgbClr val="0E5A63"/>
            </a:solidFill>
            <a:prstDash val="solid"/>
          </a:ln>
        </p:spPr>
      </p:sp>
      <p:sp>
        <p:nvSpPr>
          <p:cNvPr id="4" name="Shape 2"/>
          <p:cNvSpPr/>
          <p:nvPr/>
        </p:nvSpPr>
        <p:spPr>
          <a:xfrm>
            <a:off x="10744200" y="4892040"/>
            <a:ext cx="1097280" cy="1097280"/>
          </a:xfrm>
          <a:prstGeom prst="ellipse">
            <a:avLst/>
          </a:prstGeom>
          <a:solidFill>
            <a:srgbClr val="0B4750"/>
          </a:solidFill>
          <a:ln w="12700">
            <a:solidFill>
              <a:srgbClr val="0B4750"/>
            </a:solidFill>
            <a:prstDash val="solid"/>
          </a:ln>
        </p:spPr>
      </p:sp>
      <p:sp>
        <p:nvSpPr>
          <p:cNvPr id="5" name="Text 3"/>
          <p:cNvSpPr txBox="1"/>
          <p:nvPr/>
        </p:nvSpPr>
        <p:spPr>
          <a:xfrm>
            <a:off x="685800" y="822960"/>
            <a:ext cx="7315200" cy="256032"/>
          </a:xfrm>
          <a:prstGeom prst="rect">
            <a:avLst/>
          </a:prstGeom>
          <a:noFill/>
          <a:ln/>
        </p:spPr>
        <p:txBody>
          <a:bodyPr wrap="square" lIns="0" tIns="0" rIns="0" bIns="0" rtlCol="0" anchor="ctr"/>
          <a:lstStyle/>
          <a:p>
            <a:pPr indent="0" marL="0">
              <a:buNone/>
            </a:pPr>
            <a:r>
              <a:rPr lang="en-US" sz="1100" b="1" spc="250" kern="0" dirty="0">
                <a:solidFill>
                  <a:srgbClr val="02C39A"/>
                </a:solidFill>
                <a:latin typeface="Calibri" pitchFamily="34" charset="0"/>
                <a:ea typeface="Calibri" pitchFamily="34" charset="-122"/>
                <a:cs typeface="Calibri" pitchFamily="34" charset="-120"/>
              </a:rPr>
              <a:t>WHERE THIS LEAVES US</a:t>
            </a:r>
            <a:endParaRPr lang="en-US" sz="1100" dirty="0"/>
          </a:p>
        </p:txBody>
      </p:sp>
      <p:sp>
        <p:nvSpPr>
          <p:cNvPr id="6" name="Text 4"/>
          <p:cNvSpPr txBox="1"/>
          <p:nvPr/>
        </p:nvSpPr>
        <p:spPr>
          <a:xfrm>
            <a:off x="658368" y="1188720"/>
            <a:ext cx="9601200" cy="566928"/>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Three guarantees, and what comes next</a:t>
            </a:r>
            <a:endParaRPr lang="en-US" sz="3200" dirty="0"/>
          </a:p>
        </p:txBody>
      </p:sp>
      <p:sp>
        <p:nvSpPr>
          <p:cNvPr id="7" name="Shape 5"/>
          <p:cNvSpPr/>
          <p:nvPr/>
        </p:nvSpPr>
        <p:spPr>
          <a:xfrm>
            <a:off x="685800" y="2029968"/>
            <a:ext cx="3529584" cy="1572768"/>
          </a:xfrm>
          <a:prstGeom prst="roundRect">
            <a:avLst>
              <a:gd name="adj" fmla="val 5814"/>
            </a:avLst>
          </a:prstGeom>
          <a:solidFill>
            <a:srgbClr val="0A3C43"/>
          </a:solidFill>
          <a:ln w="12700">
            <a:solidFill>
              <a:srgbClr val="13606A"/>
            </a:solidFill>
            <a:prstDash val="solid"/>
          </a:ln>
          <a:effectLst>
            <a:outerShdw sx="100000" sy="100000" kx="0" ky="0" algn="bl" rotWithShape="0" blurRad="101600" dist="50800" dir="5400000">
              <a:srgbClr val="FFFFFF">
                <a:alpha val="75000"/>
              </a:srgbClr>
            </a:outerShdw>
          </a:effectLst>
        </p:spPr>
      </p:sp>
      <p:sp>
        <p:nvSpPr>
          <p:cNvPr id="8" name="Text 6"/>
          <p:cNvSpPr/>
          <p:nvPr/>
        </p:nvSpPr>
        <p:spPr>
          <a:xfrm>
            <a:off x="923544" y="2249424"/>
            <a:ext cx="384048" cy="384048"/>
          </a:xfrm>
          <a:prstGeom prst="ellipse">
            <a:avLst/>
          </a:prstGeom>
          <a:solidFill>
            <a:srgbClr val="02C39A"/>
          </a:solidFill>
          <a:ln>
            <a:solidFill>
              <a:srgbClr val="02C39A"/>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923544" y="2743200"/>
            <a:ext cx="3054096"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It runs with the network off</a:t>
            </a:r>
            <a:endParaRPr lang="en-US" sz="1400" dirty="0"/>
          </a:p>
        </p:txBody>
      </p:sp>
      <p:sp>
        <p:nvSpPr>
          <p:cNvPr id="10" name="Text 8"/>
          <p:cNvSpPr txBox="1"/>
          <p:nvPr/>
        </p:nvSpPr>
        <p:spPr>
          <a:xfrm>
            <a:off x="923544" y="3035808"/>
            <a:ext cx="3054096" cy="475488"/>
          </a:xfrm>
          <a:prstGeom prst="rect">
            <a:avLst/>
          </a:prstGeom>
          <a:noFill/>
          <a:ln/>
        </p:spPr>
        <p:txBody>
          <a:bodyPr wrap="square" lIns="0" tIns="0" rIns="0" bIns="0" rtlCol="0" anchor="t"/>
          <a:lstStyle/>
          <a:p>
            <a:pPr indent="0" marL="0">
              <a:buNone/>
            </a:pPr>
            <a:r>
              <a:rPr lang="en-US" sz="1050" dirty="0">
                <a:solidFill>
                  <a:srgbClr val="A9CFCB"/>
                </a:solidFill>
                <a:latin typeface="Calibri" pitchFamily="34" charset="0"/>
                <a:ea typeface="Calibri" pitchFamily="34" charset="-122"/>
                <a:cs typeface="Calibri" pitchFamily="34" charset="-120"/>
              </a:rPr>
              <a:t>An open-weight model on the same host. Nothing about the plant leaves the plant.</a:t>
            </a:r>
            <a:endParaRPr lang="en-US" sz="1050" dirty="0"/>
          </a:p>
        </p:txBody>
      </p:sp>
      <p:sp>
        <p:nvSpPr>
          <p:cNvPr id="11" name="Shape 9"/>
          <p:cNvSpPr/>
          <p:nvPr/>
        </p:nvSpPr>
        <p:spPr>
          <a:xfrm>
            <a:off x="4489704" y="2029968"/>
            <a:ext cx="3529584" cy="1572768"/>
          </a:xfrm>
          <a:prstGeom prst="roundRect">
            <a:avLst>
              <a:gd name="adj" fmla="val 5814"/>
            </a:avLst>
          </a:prstGeom>
          <a:solidFill>
            <a:srgbClr val="0A3C43"/>
          </a:solidFill>
          <a:ln w="12700">
            <a:solidFill>
              <a:srgbClr val="13606A"/>
            </a:solidFill>
            <a:prstDash val="solid"/>
          </a:ln>
          <a:effectLst>
            <a:outerShdw sx="100000" sy="100000" kx="0" ky="0" algn="bl" rotWithShape="0" blurRad="101600" dist="50800" dir="5400000">
              <a:srgbClr val="FFFFFF">
                <a:alpha val="75000"/>
              </a:srgbClr>
            </a:outerShdw>
          </a:effectLst>
        </p:spPr>
      </p:sp>
      <p:sp>
        <p:nvSpPr>
          <p:cNvPr id="12" name="Text 10"/>
          <p:cNvSpPr/>
          <p:nvPr/>
        </p:nvSpPr>
        <p:spPr>
          <a:xfrm>
            <a:off x="4727448" y="2249424"/>
            <a:ext cx="384048" cy="384048"/>
          </a:xfrm>
          <a:prstGeom prst="ellipse">
            <a:avLst/>
          </a:prstGeom>
          <a:solidFill>
            <a:srgbClr val="02C39A"/>
          </a:solidFill>
          <a:ln>
            <a:solidFill>
              <a:srgbClr val="02C39A"/>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4727448" y="2743200"/>
            <a:ext cx="3054096"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It cannot write</a:t>
            </a:r>
            <a:endParaRPr lang="en-US" sz="1400" dirty="0"/>
          </a:p>
        </p:txBody>
      </p:sp>
      <p:sp>
        <p:nvSpPr>
          <p:cNvPr id="14" name="Text 12"/>
          <p:cNvSpPr txBox="1"/>
          <p:nvPr/>
        </p:nvSpPr>
        <p:spPr>
          <a:xfrm>
            <a:off x="4727448" y="3035808"/>
            <a:ext cx="3054096" cy="475488"/>
          </a:xfrm>
          <a:prstGeom prst="rect">
            <a:avLst/>
          </a:prstGeom>
          <a:noFill/>
          <a:ln/>
        </p:spPr>
        <p:txBody>
          <a:bodyPr wrap="square" lIns="0" tIns="0" rIns="0" bIns="0" rtlCol="0" anchor="t"/>
          <a:lstStyle/>
          <a:p>
            <a:pPr indent="0" marL="0">
              <a:buNone/>
            </a:pPr>
            <a:r>
              <a:rPr lang="en-US" sz="1050" dirty="0">
                <a:solidFill>
                  <a:srgbClr val="A9CFCB"/>
                </a:solidFill>
                <a:latin typeface="Calibri" pitchFamily="34" charset="0"/>
                <a:ea typeface="Calibri" pitchFamily="34" charset="-122"/>
                <a:cs typeface="Calibri" pitchFamily="34" charset="-120"/>
              </a:rPr>
              <a:t>Validated by sqlglot, executed by a role that holds SELECT and nothing else.</a:t>
            </a:r>
            <a:endParaRPr lang="en-US" sz="1050" dirty="0"/>
          </a:p>
        </p:txBody>
      </p:sp>
      <p:sp>
        <p:nvSpPr>
          <p:cNvPr id="15" name="Shape 13"/>
          <p:cNvSpPr/>
          <p:nvPr/>
        </p:nvSpPr>
        <p:spPr>
          <a:xfrm>
            <a:off x="8293608" y="2029968"/>
            <a:ext cx="3529584" cy="1572768"/>
          </a:xfrm>
          <a:prstGeom prst="roundRect">
            <a:avLst>
              <a:gd name="adj" fmla="val 5814"/>
            </a:avLst>
          </a:prstGeom>
          <a:solidFill>
            <a:srgbClr val="0A3C43"/>
          </a:solidFill>
          <a:ln w="12700">
            <a:solidFill>
              <a:srgbClr val="13606A"/>
            </a:solidFill>
            <a:prstDash val="solid"/>
          </a:ln>
          <a:effectLst>
            <a:outerShdw sx="100000" sy="100000" kx="0" ky="0" algn="bl" rotWithShape="0" blurRad="101600" dist="50800" dir="5400000">
              <a:srgbClr val="FFFFFF">
                <a:alpha val="75000"/>
              </a:srgbClr>
            </a:outerShdw>
          </a:effectLst>
        </p:spPr>
      </p:sp>
      <p:sp>
        <p:nvSpPr>
          <p:cNvPr id="16" name="Text 14"/>
          <p:cNvSpPr/>
          <p:nvPr/>
        </p:nvSpPr>
        <p:spPr>
          <a:xfrm>
            <a:off x="8531352" y="2249424"/>
            <a:ext cx="384048" cy="384048"/>
          </a:xfrm>
          <a:prstGeom prst="ellipse">
            <a:avLst/>
          </a:prstGeom>
          <a:solidFill>
            <a:srgbClr val="02C39A"/>
          </a:solidFill>
          <a:ln>
            <a:solidFill>
              <a:srgbClr val="02C39A"/>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8531352" y="2743200"/>
            <a:ext cx="3054096"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It will not guess quietly</a:t>
            </a:r>
            <a:endParaRPr lang="en-US" sz="1400" dirty="0"/>
          </a:p>
        </p:txBody>
      </p:sp>
      <p:sp>
        <p:nvSpPr>
          <p:cNvPr id="18" name="Text 16"/>
          <p:cNvSpPr txBox="1"/>
          <p:nvPr/>
        </p:nvSpPr>
        <p:spPr>
          <a:xfrm>
            <a:off x="8531352" y="3035808"/>
            <a:ext cx="3054096" cy="475488"/>
          </a:xfrm>
          <a:prstGeom prst="rect">
            <a:avLst/>
          </a:prstGeom>
          <a:noFill/>
          <a:ln/>
        </p:spPr>
        <p:txBody>
          <a:bodyPr wrap="square" lIns="0" tIns="0" rIns="0" bIns="0" rtlCol="0" anchor="t"/>
          <a:lstStyle/>
          <a:p>
            <a:pPr indent="0" marL="0">
              <a:buNone/>
            </a:pPr>
            <a:r>
              <a:rPr lang="en-US" sz="1050" dirty="0">
                <a:solidFill>
                  <a:srgbClr val="A9CFCB"/>
                </a:solidFill>
                <a:latin typeface="Calibri" pitchFamily="34" charset="0"/>
                <a:ea typeface="Calibri" pitchFamily="34" charset="-122"/>
                <a:cs typeface="Calibri" pitchFamily="34" charset="-120"/>
              </a:rPr>
              <a:t>Templates decline rather than near-miss. Rejected queries are reported, never repaired.</a:t>
            </a:r>
            <a:endParaRPr lang="en-US" sz="1050" dirty="0"/>
          </a:p>
        </p:txBody>
      </p:sp>
      <p:sp>
        <p:nvSpPr>
          <p:cNvPr id="19" name="Text 17"/>
          <p:cNvSpPr txBox="1"/>
          <p:nvPr/>
        </p:nvSpPr>
        <p:spPr>
          <a:xfrm>
            <a:off x="685800" y="3968496"/>
            <a:ext cx="7315200" cy="237744"/>
          </a:xfrm>
          <a:prstGeom prst="rect">
            <a:avLst/>
          </a:prstGeom>
          <a:noFill/>
          <a:ln/>
        </p:spPr>
        <p:txBody>
          <a:bodyPr wrap="square" lIns="0" tIns="0" rIns="0" bIns="0" rtlCol="0" anchor="ctr"/>
          <a:lstStyle/>
          <a:p>
            <a:pPr indent="0" marL="0">
              <a:buNone/>
            </a:pPr>
            <a:r>
              <a:rPr lang="en-US" sz="1000" b="1" spc="200" kern="0" dirty="0">
                <a:solidFill>
                  <a:srgbClr val="02C39A"/>
                </a:solidFill>
                <a:latin typeface="Calibri" pitchFamily="34" charset="0"/>
                <a:ea typeface="Calibri" pitchFamily="34" charset="-122"/>
                <a:cs typeface="Calibri" pitchFamily="34" charset="-120"/>
              </a:rPr>
              <a:t>PROPOSED NEXT STEPS</a:t>
            </a:r>
            <a:endParaRPr lang="en-US" sz="1000" dirty="0"/>
          </a:p>
        </p:txBody>
      </p:sp>
      <p:sp>
        <p:nvSpPr>
          <p:cNvPr id="20" name="Text 18"/>
          <p:cNvSpPr/>
          <p:nvPr/>
        </p:nvSpPr>
        <p:spPr>
          <a:xfrm>
            <a:off x="713232" y="4297680"/>
            <a:ext cx="310896" cy="310896"/>
          </a:xfrm>
          <a:prstGeom prst="ellipse">
            <a:avLst/>
          </a:prstGeom>
          <a:solidFill>
            <a:srgbClr val="0B4750"/>
          </a:solidFill>
          <a:ln>
            <a:solidFill>
              <a:srgbClr val="0B4750"/>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1" name="Text 19"/>
          <p:cNvSpPr txBox="1"/>
          <p:nvPr/>
        </p:nvSpPr>
        <p:spPr>
          <a:xfrm>
            <a:off x="1170432" y="4279392"/>
            <a:ext cx="4480560"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Port and verify db/ against SQL Server</a:t>
            </a:r>
            <a:endParaRPr lang="en-US" sz="1300" dirty="0"/>
          </a:p>
        </p:txBody>
      </p:sp>
      <p:sp>
        <p:nvSpPr>
          <p:cNvPr id="22" name="Text 20"/>
          <p:cNvSpPr txBox="1"/>
          <p:nvPr/>
        </p:nvSpPr>
        <p:spPr>
          <a:xfrm>
            <a:off x="5669280" y="4288536"/>
            <a:ext cx="4937760" cy="256032"/>
          </a:xfrm>
          <a:prstGeom prst="rect">
            <a:avLst/>
          </a:prstGeom>
          <a:noFill/>
          <a:ln/>
        </p:spPr>
        <p:txBody>
          <a:bodyPr wrap="square" lIns="0" tIns="0" rIns="0" bIns="0" rtlCol="0" anchor="ctr"/>
          <a:lstStyle/>
          <a:p>
            <a:pPr indent="0" marL="0">
              <a:buNone/>
            </a:pPr>
            <a:r>
              <a:rPr lang="en-US" sz="1100" dirty="0">
                <a:solidFill>
                  <a:srgbClr val="8FBFBC"/>
                </a:solidFill>
                <a:latin typeface="Calibri" pitchFamily="34" charset="0"/>
                <a:ea typeface="Calibri" pitchFamily="34" charset="-122"/>
                <a:cs typeface="Calibri" pitchFamily="34" charset="-120"/>
              </a:rPr>
              <a:t>re-run all eleven templates on the client dialect</a:t>
            </a:r>
            <a:endParaRPr lang="en-US" sz="1100" dirty="0"/>
          </a:p>
        </p:txBody>
      </p:sp>
      <p:sp>
        <p:nvSpPr>
          <p:cNvPr id="23" name="Text 21"/>
          <p:cNvSpPr/>
          <p:nvPr/>
        </p:nvSpPr>
        <p:spPr>
          <a:xfrm>
            <a:off x="713232" y="4754880"/>
            <a:ext cx="310896" cy="310896"/>
          </a:xfrm>
          <a:prstGeom prst="ellipse">
            <a:avLst/>
          </a:prstGeom>
          <a:solidFill>
            <a:srgbClr val="0B4750"/>
          </a:solidFill>
          <a:ln>
            <a:solidFill>
              <a:srgbClr val="0B4750"/>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4" name="Text 22"/>
          <p:cNvSpPr txBox="1"/>
          <p:nvPr/>
        </p:nvSpPr>
        <p:spPr>
          <a:xfrm>
            <a:off x="1170432" y="4736592"/>
            <a:ext cx="4480560"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Grow the template set from real questions</a:t>
            </a:r>
            <a:endParaRPr lang="en-US" sz="1300" dirty="0"/>
          </a:p>
        </p:txBody>
      </p:sp>
      <p:sp>
        <p:nvSpPr>
          <p:cNvPr id="25" name="Text 23"/>
          <p:cNvSpPr txBox="1"/>
          <p:nvPr/>
        </p:nvSpPr>
        <p:spPr>
          <a:xfrm>
            <a:off x="5669280" y="4745736"/>
            <a:ext cx="4937760" cy="256032"/>
          </a:xfrm>
          <a:prstGeom prst="rect">
            <a:avLst/>
          </a:prstGeom>
          <a:noFill/>
          <a:ln/>
        </p:spPr>
        <p:txBody>
          <a:bodyPr wrap="square" lIns="0" tIns="0" rIns="0" bIns="0" rtlCol="0" anchor="ctr"/>
          <a:lstStyle/>
          <a:p>
            <a:pPr indent="0" marL="0">
              <a:buNone/>
            </a:pPr>
            <a:r>
              <a:rPr lang="en-US" sz="1100" dirty="0">
                <a:solidFill>
                  <a:srgbClr val="8FBFBC"/>
                </a:solidFill>
                <a:latin typeface="Calibri" pitchFamily="34" charset="0"/>
                <a:ea typeface="Calibri" pitchFamily="34" charset="-122"/>
                <a:cs typeface="Calibri" pitchFamily="34" charset="-120"/>
              </a:rPr>
              <a:t>every model-route question is a candidate template</a:t>
            </a:r>
            <a:endParaRPr lang="en-US" sz="1100" dirty="0"/>
          </a:p>
        </p:txBody>
      </p:sp>
      <p:sp>
        <p:nvSpPr>
          <p:cNvPr id="26" name="Text 24"/>
          <p:cNvSpPr/>
          <p:nvPr/>
        </p:nvSpPr>
        <p:spPr>
          <a:xfrm>
            <a:off x="713232" y="5212080"/>
            <a:ext cx="310896" cy="310896"/>
          </a:xfrm>
          <a:prstGeom prst="ellipse">
            <a:avLst/>
          </a:prstGeom>
          <a:solidFill>
            <a:srgbClr val="0B4750"/>
          </a:solidFill>
          <a:ln>
            <a:solidFill>
              <a:srgbClr val="0B4750"/>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7" name="Text 25"/>
          <p:cNvSpPr txBox="1"/>
          <p:nvPr/>
        </p:nvSpPr>
        <p:spPr>
          <a:xfrm>
            <a:off x="1170432" y="5193792"/>
            <a:ext cx="4480560"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Agree the host spec for the model container</a:t>
            </a:r>
            <a:endParaRPr lang="en-US" sz="1300" dirty="0"/>
          </a:p>
        </p:txBody>
      </p:sp>
      <p:sp>
        <p:nvSpPr>
          <p:cNvPr id="28" name="Text 26"/>
          <p:cNvSpPr txBox="1"/>
          <p:nvPr/>
        </p:nvSpPr>
        <p:spPr>
          <a:xfrm>
            <a:off x="5669280" y="5202936"/>
            <a:ext cx="4937760" cy="256032"/>
          </a:xfrm>
          <a:prstGeom prst="rect">
            <a:avLst/>
          </a:prstGeom>
          <a:noFill/>
          <a:ln/>
        </p:spPr>
        <p:txBody>
          <a:bodyPr wrap="square" lIns="0" tIns="0" rIns="0" bIns="0" rtlCol="0" anchor="ctr"/>
          <a:lstStyle/>
          <a:p>
            <a:pPr indent="0" marL="0">
              <a:buNone/>
            </a:pPr>
            <a:r>
              <a:rPr lang="en-US" sz="1100" dirty="0">
                <a:solidFill>
                  <a:srgbClr val="8FBFBC"/>
                </a:solidFill>
                <a:latin typeface="Calibri" pitchFamily="34" charset="0"/>
                <a:ea typeface="Calibri" pitchFamily="34" charset="-122"/>
                <a:cs typeface="Calibri" pitchFamily="34" charset="-120"/>
              </a:rPr>
              <a:t>CPU inference sets the fallback latency</a:t>
            </a:r>
            <a:endParaRPr lang="en-US" sz="1100" dirty="0"/>
          </a:p>
        </p:txBody>
      </p:sp>
      <p:sp>
        <p:nvSpPr>
          <p:cNvPr id="29" name="Text 27"/>
          <p:cNvSpPr txBox="1"/>
          <p:nvPr/>
        </p:nvSpPr>
        <p:spPr>
          <a:xfrm>
            <a:off x="685800" y="5870448"/>
            <a:ext cx="9509760" cy="548640"/>
          </a:xfrm>
          <a:prstGeom prst="rect">
            <a:avLst/>
          </a:prstGeom>
          <a:noFill/>
          <a:ln/>
        </p:spPr>
        <p:txBody>
          <a:bodyPr wrap="square" lIns="0" tIns="0" rIns="0" bIns="0" rtlCol="0" anchor="ctr"/>
          <a:lstStyle/>
          <a:p>
            <a:pPr indent="0" marL="0">
              <a:buNone/>
            </a:pPr>
            <a:r>
              <a:rPr lang="en-US" sz="1100" i="1" dirty="0">
                <a:solidFill>
                  <a:srgbClr val="7FA9A8"/>
                </a:solidFill>
                <a:latin typeface="Calibri" pitchFamily="34" charset="0"/>
                <a:ea typeface="Calibri" pitchFamily="34" charset="-122"/>
                <a:cs typeface="Calibri" pitchFamily="34" charset="-120"/>
              </a:rPr>
              <a:t>The diagrams behind these slides live in the repository as Mermaid — GitHub renders them natively, so they need no tooling to read, and they diff line by line when the code they describe changes.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Natural-language querying over the production database</dc:title>
  <dc:subject>PptxGenJS Presentation</dc:subject>
  <dc:creator>Engineering</dc:creator>
  <cp:lastModifiedBy>Engineering</cp:lastModifiedBy>
  <cp:revision>1</cp:revision>
  <dcterms:created xsi:type="dcterms:W3CDTF">2026-08-28T08:21:29Z</dcterms:created>
  <dcterms:modified xsi:type="dcterms:W3CDTF">2026-08-28T08:21:29Z</dcterms:modified>
</cp:coreProperties>
</file>